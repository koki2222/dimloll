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Zabbix</c:v>
                </c:pt>
              </c:strCache>
            </c:strRef>
          </c:tx>
          <c:spPr>
            <a:solidFill>
              <a:srgbClr val="E94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Лицензия</c:v>
                  </c:pt>
                  <c:pt idx="1">
                    <c:v>Удобство</c:v>
                  </c:pt>
                  <c:pt idx="2">
                    <c:v>Гибкость</c:v>
                  </c:pt>
                  <c:pt idx="3">
                    <c:v>Сообщество</c:v>
                  </c:pt>
                  <c:pt idx="4">
                    <c:v>Импорто-замещение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Prometheus</c:v>
                </c:pt>
              </c:strCache>
            </c:strRef>
          </c:tx>
          <c:spPr>
            <a:solidFill>
              <a:srgbClr val="0E7C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Лицензия</c:v>
                  </c:pt>
                  <c:pt idx="1">
                    <c:v>Удобство</c:v>
                  </c:pt>
                  <c:pt idx="2">
                    <c:v>Гибкость</c:v>
                  </c:pt>
                  <c:pt idx="3">
                    <c:v>Сообщество</c:v>
                  </c:pt>
                  <c:pt idx="4">
                    <c:v>Импорто-замещение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PRTG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Лицензия</c:v>
                  </c:pt>
                  <c:pt idx="1">
                    <c:v>Удобство</c:v>
                  </c:pt>
                  <c:pt idx="2">
                    <c:v>Гибкость</c:v>
                  </c:pt>
                  <c:pt idx="3">
                    <c:v>Сообщество</c:v>
                  </c:pt>
                  <c:pt idx="4">
                    <c:v>Импорто-замещение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5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5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"/>
            <a:ext cx="164592" cy="164592"/>
          </a:xfrm>
          <a:prstGeom prst="ellipse">
            <a:avLst/>
          </a:prstGeom>
          <a:solidFill>
            <a:srgbClr val="E94B35">
              <a:alpha val="7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274320"/>
            <a:ext cx="164592" cy="164592"/>
          </a:xfrm>
          <a:prstGeom prst="ellipse">
            <a:avLst/>
          </a:prstGeom>
          <a:solidFill>
            <a:srgbClr val="E94B35">
              <a:alpha val="6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74320"/>
            <a:ext cx="164592" cy="164592"/>
          </a:xfrm>
          <a:prstGeom prst="ellipse">
            <a:avLst/>
          </a:prstGeom>
          <a:solidFill>
            <a:srgbClr val="E94B35">
              <a:alpha val="5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914400"/>
            <a:ext cx="164592" cy="164592"/>
          </a:xfrm>
          <a:prstGeom prst="ellipse">
            <a:avLst/>
          </a:prstGeom>
          <a:solidFill>
            <a:srgbClr val="E94B35">
              <a:alpha val="4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914400"/>
            <a:ext cx="164592" cy="164592"/>
          </a:xfrm>
          <a:prstGeom prst="ellipse">
            <a:avLst/>
          </a:prstGeom>
          <a:solidFill>
            <a:srgbClr val="E94B35">
              <a:alpha val="3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914400"/>
            <a:ext cx="164592" cy="164592"/>
          </a:xfrm>
          <a:prstGeom prst="ellipse">
            <a:avLst/>
          </a:prstGeom>
          <a:solidFill>
            <a:srgbClr val="E94B35">
              <a:alpha val="2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7496" y="356616"/>
            <a:ext cx="640080" cy="640080"/>
          </a:xfrm>
          <a:prstGeom prst="line">
            <a:avLst/>
          </a:prstGeom>
          <a:noFill/>
          <a:ln w="12700">
            <a:solidFill>
              <a:srgbClr val="E94B35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37576" y="356616"/>
            <a:ext cx="640080" cy="640080"/>
          </a:xfrm>
          <a:prstGeom prst="line">
            <a:avLst/>
          </a:prstGeom>
          <a:noFill/>
          <a:ln w="12700">
            <a:solidFill>
              <a:srgbClr val="E94B35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00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ГБПОУ НСО «Новосибирский политехнический колледж»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E94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ДИПЛОМНЫЙ ПРОЕКТ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Мониторинг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локально-вычислительной сети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502920" y="3337560"/>
            <a:ext cx="731520" cy="36576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 студент группы 222СА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
</a:t>
            </a:r>
            <a:pPr indent="0" marL="0">
              <a:buNone/>
            </a:pPr>
            <a:r>
              <a:rPr lang="en-US" sz="1100" i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Специальность 09.02.06 «Сетевое и системное администрирование»
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pPr indent="0" marL="0">
              <a:buNone/>
            </a:pPr>
            <a:r>
              <a:rPr lang="en-US" sz="12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Егорова А. А.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Новосибирск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Актуальность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мониторинг ЛВС критически важен сегодня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402336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481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Рост сложности сетей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серверов, сотни рабочих мест, гибридные среды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280160"/>
            <a:ext cx="4023360" cy="54864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6687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481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Цена простоя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9204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сбой ЛВС останавливает бизнес-процессы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920" y="3063240"/>
            <a:ext cx="4023360" cy="54864"/>
          </a:xfrm>
          <a:prstGeom prst="rect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291840"/>
            <a:ext cx="640080" cy="64008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4518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Импортозамещение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3152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на отечественные ОС из реестра Минцифры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66344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3063240"/>
            <a:ext cx="402336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92040" y="329184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45186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Превентивный контроль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89204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Обнаружение проблем до их влияния на пользователей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Цель и задачи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предстояло сделать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8138160" cy="9144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02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ЦЕЛЬ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1645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анализ систем мониторинга и практическое внедрение Zabbix на отечественной ОС Альт Сервер 10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94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ЗАДАЧИ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78892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теоретические основы организации и мониторинга ЛВС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278892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30352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существующие системы мониторинга по 10 критериям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356616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4300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Обосновать выбор оптимальной системы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3440" y="356616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30352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Развернуть и настроить систему на тестовом стенде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434340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43000" y="4297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Выполнить экономическое обоснование проекта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такое ЛВС и её мониторинг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понятия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840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145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ЛВС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23317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компьютеров и периферийного оборудования, объединённых в пределах ограниченной территории и использующих общие коммуникационные ресурсы.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3520440"/>
            <a:ext cx="3291840" cy="0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382905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703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— непрерывное наблюдение за состоянием узлов, сервисов и каналов с автоматическим оповещением о проблемах.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1280160"/>
            <a:ext cx="4023360" cy="3474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66344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Объекты мониторинга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63640" y="2240280"/>
            <a:ext cx="822960" cy="82296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4231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4360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Zabbix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675120" y="2743200"/>
            <a:ext cx="-1463040" cy="960120"/>
          </a:xfrm>
          <a:prstGeom prst="line">
            <a:avLst/>
          </a:prstGeom>
          <a:noFill/>
          <a:ln w="12700">
            <a:solidFill>
              <a:srgbClr val="F39C12">
                <a:alpha val="6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937760" y="33832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4930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572000" y="3977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675120" y="2743200"/>
            <a:ext cx="-548640" cy="1417320"/>
          </a:xfrm>
          <a:prstGeom prst="line">
            <a:avLst/>
          </a:prstGeom>
          <a:noFill/>
          <a:ln w="12700">
            <a:solidFill>
              <a:srgbClr val="F39C12">
                <a:alpha val="6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852160" y="38404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395020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6675120" y="2743200"/>
            <a:ext cx="548640" cy="1417320"/>
          </a:xfrm>
          <a:prstGeom prst="line">
            <a:avLst/>
          </a:prstGeom>
          <a:noFill/>
          <a:ln w="12700">
            <a:solidFill>
              <a:srgbClr val="F39C12">
                <a:alpha val="6000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949440" y="38404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168" y="3950208"/>
            <a:ext cx="329184" cy="32918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58368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Роутер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6675120" y="2743200"/>
            <a:ext cx="1463040" cy="960120"/>
          </a:xfrm>
          <a:prstGeom prst="line">
            <a:avLst/>
          </a:prstGeom>
          <a:noFill/>
          <a:ln w="12700">
            <a:solidFill>
              <a:srgbClr val="F39C12">
                <a:alpha val="60000"/>
              </a:srgbClr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863840" y="33832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68" y="3493008"/>
            <a:ext cx="329184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498080" y="3977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Коммутатор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Обзор систем мониторинга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решения рассматривались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874520" cy="1554480"/>
          </a:xfrm>
          <a:prstGeom prst="rect">
            <a:avLst/>
          </a:prstGeom>
          <a:solidFill>
            <a:srgbClr val="0F2A47"/>
          </a:solidFill>
          <a:ln w="25400">
            <a:solidFill>
              <a:srgbClr val="E94B3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20140" y="1417320"/>
            <a:ext cx="640080" cy="64008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773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Zabbix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42032" y="123444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9252" y="141732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5773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33472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Nagios / Icinga 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633472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81144" y="123444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198364" y="1417320"/>
            <a:ext cx="640080" cy="64008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5773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72584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672584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620256" y="123444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237476" y="141732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15773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11696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LibreNMS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711696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02920" y="29718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120140" y="315468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31470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4360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PRTG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94360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Проприет.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2542032" y="29718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159252" y="315468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31470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633472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SolarWinds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2633472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Проприет.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581144" y="29718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198364" y="315468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8384" y="331470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672584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Checkmk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4672584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Проприет.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620256" y="29718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7237476" y="3154680"/>
            <a:ext cx="640080" cy="64008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7496" y="3314700"/>
            <a:ext cx="320040" cy="32004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711696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Datadog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6711696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Облачная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Подробное сравнение по 10 критериям приведено в дипломной работе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Сравнительный анализ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систем по ключевым критериям (5 — отлично)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85039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46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94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Победитель — Zabbix: максимум по лицензии, гибкости и поддержке отечественных платформ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Почему Zabbix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Аргументы в пользу выбора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40233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481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Свободная лицензия GPL v2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владения — 0 ₽, нет ограничений на количество узлов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280160"/>
            <a:ext cx="402336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6687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481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Гибкая настройка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9204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Шаблоны, триггеры, скрипты — поддержка любых сценариев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920" y="3063240"/>
            <a:ext cx="4023360" cy="54864"/>
          </a:xfrm>
          <a:prstGeom prst="rect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291840"/>
            <a:ext cx="640080" cy="64008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4518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Все протоколы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3152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Агент, SNMP, IPMI, JMX, ICMP — единая платформа для всего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66344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3063240"/>
            <a:ext cx="4023360" cy="54864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92040" y="3291840"/>
            <a:ext cx="640080" cy="64008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45186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Поддержка Альт Сервер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89204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Пакеты в официальном репозитории p10, не нужны сторонние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Технологический стек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Программные компоненты решения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77724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46304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Zabbix Server 6.x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мониторинга + веб-интерфейс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527048"/>
            <a:ext cx="192024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15270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GPL v2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286000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Apache HTTP Server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4592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Веб-сервер (служба httpd2)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2350008"/>
            <a:ext cx="192024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09360" y="23500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08960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2999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4592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СУБД для хранения метрик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309360" y="3172968"/>
            <a:ext cx="192024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09360" y="3172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License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31520" y="3749040"/>
            <a:ext cx="7680960" cy="7772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931920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45920" y="3822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Альт Сервер 10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64592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 от ООО «Базальт СПО», реестр Минцифры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309360" y="3995928"/>
            <a:ext cx="192024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309360" y="39959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GPL / свободное ПО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Весь стек — свободное и бесплатное ПО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Архитектура тестового стенда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Подсеть 192.168.10.0/24, 5 узлов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2926080"/>
            <a:ext cx="7406640" cy="4572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9260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sw-core-01  ·  Коммутатор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· 192.168.10.1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306324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0100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gw-router-01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.10.2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74370" y="1188720"/>
            <a:ext cx="16916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94B3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245870" y="1325880"/>
            <a:ext cx="548640" cy="54864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030" y="14630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009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srv-zabbix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20090" y="21488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Zabbix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20090" y="23774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 Сервер 10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1520190" y="2651760"/>
            <a:ext cx="0" cy="274320"/>
          </a:xfrm>
          <a:prstGeom prst="line">
            <a:avLst/>
          </a:prstGeom>
          <a:noFill/>
          <a:ln w="25400">
            <a:solidFill>
              <a:srgbClr val="E94B3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08910" y="1188720"/>
            <a:ext cx="16916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80410" y="13258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570" y="14630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75463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cli-win-01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2754630" y="21488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Рабочая станция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2754630" y="23774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Pro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3554730" y="2651760"/>
            <a:ext cx="0" cy="274320"/>
          </a:xfrm>
          <a:prstGeom prst="line">
            <a:avLst/>
          </a:prstGeom>
          <a:noFill/>
          <a:ln w="25400">
            <a:solidFill>
              <a:srgbClr val="1B4F7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743450" y="1188720"/>
            <a:ext cx="16916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314950" y="1325880"/>
            <a:ext cx="548640" cy="54864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110" y="146304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78917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srv-file-01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789170" y="21488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Файловый сервер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4789170" y="23774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 Сервер 10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5589270" y="2651760"/>
            <a:ext cx="0" cy="274320"/>
          </a:xfrm>
          <a:prstGeom prst="line">
            <a:avLst/>
          </a:prstGeom>
          <a:noFill/>
          <a:ln w="25400">
            <a:solidFill>
              <a:srgbClr val="0E7C8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777990" y="1188720"/>
            <a:ext cx="16916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349490" y="13258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6650" y="146304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82371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Internet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6823710" y="21488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канал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6823710" y="23774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gw-router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7623810" y="2651760"/>
            <a:ext cx="0" cy="274320"/>
          </a:xfrm>
          <a:prstGeom prst="line">
            <a:avLst/>
          </a:prstGeom>
          <a:noFill/>
          <a:ln w="25400">
            <a:solidFill>
              <a:srgbClr val="1B4F72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Виртуализация: VMware Workstation / Proxmox VE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Проверка работоспособности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сценариев тестирования — все пройдены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3332" y="139903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922" y="1547622"/>
            <a:ext cx="297180" cy="297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103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 данных с агентов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423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Подключены Linux- и Windows-узлы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73552" y="123444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83964" y="139903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554" y="1547622"/>
            <a:ext cx="297180" cy="2971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64992" y="2103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Имитация отказа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64992" y="2423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 сработал, уведомление доставлено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44184" y="123444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54596" y="139903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186" y="1547622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35624" y="2103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Стресс-тест CPU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35624" y="2423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 зафиксированы пики нагрузки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1737360" y="297180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7772" y="313639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6362" y="3284982"/>
            <a:ext cx="297180" cy="2971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28800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SNMP-мониторинг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828800" y="4160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Сетевое оборудование под контролем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07992" y="297180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518404" y="313639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6994" y="3284982"/>
            <a:ext cx="297180" cy="2971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99432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Дашборд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99432" y="4160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ключевые метрики на одном экране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Система функционирует в соответствии с проектными требованиями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Экономическое обоснование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Затраты на внедрение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23360" cy="32918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145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Программное обеспечение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5448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 Сервер · PostgreSQL · Apache · Zabbix — всё свободное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26060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₽</a:t>
            </a:r>
            <a:endParaRPr lang="en-US" sz="9000" dirty="0"/>
          </a:p>
        </p:txBody>
      </p:sp>
      <p:sp>
        <p:nvSpPr>
          <p:cNvPr id="11" name="Text 8"/>
          <p:cNvSpPr/>
          <p:nvPr/>
        </p:nvSpPr>
        <p:spPr>
          <a:xfrm>
            <a:off x="50292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Лицензионных отчислений нет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280160"/>
            <a:ext cx="3931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83480" y="1554480"/>
            <a:ext cx="640080" cy="64008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7145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Работы специалиста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76072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человеко-часов × 400 ₽/час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09160" y="26060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E94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8 000 ₽</a:t>
            </a:r>
            <a:endParaRPr lang="en-US" sz="7000" dirty="0"/>
          </a:p>
        </p:txBody>
      </p:sp>
      <p:sp>
        <p:nvSpPr>
          <p:cNvPr id="18" name="Text 14"/>
          <p:cNvSpPr/>
          <p:nvPr/>
        </p:nvSpPr>
        <p:spPr>
          <a:xfrm>
            <a:off x="4709160" y="4023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Единоразовые затраты на внедрение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серверной аппаратной платформы по условиям проекта не учитывается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задачи дипломного проекта выполнены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508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242" y="16344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371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Изучены теоретические основы организации и мониторинга ЛВС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28032" y="1508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762" y="16344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371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Проведён сравнительный анализ 11 систем по 10 критериям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2423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67512" y="2651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2" y="27774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Обоснованно выбрана система Zabbix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63440" y="2423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28032" y="2651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762" y="277749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Развёрнута и настроена на отечественной ОС Альт Сервер 10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02920" y="3566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7512" y="3794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42" y="392049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3657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 работоспособность на 5 сценариях тестирования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663440" y="3566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828032" y="3794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762" y="3920490"/>
            <a:ext cx="251460" cy="2514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86400" y="3657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Выполнено экономическое обоснование внедрения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137160"/>
          </a:xfrm>
          <a:prstGeom prst="ellipse">
            <a:avLst/>
          </a:prstGeom>
          <a:solidFill>
            <a:srgbClr val="E94B35">
              <a:alpha val="8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365760"/>
            <a:ext cx="137160" cy="137160"/>
          </a:xfrm>
          <a:prstGeom prst="ellipse">
            <a:avLst/>
          </a:prstGeom>
          <a:solidFill>
            <a:srgbClr val="E94B35">
              <a:alpha val="65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365760"/>
            <a:ext cx="137160" cy="137160"/>
          </a:xfrm>
          <a:prstGeom prst="ellipse">
            <a:avLst/>
          </a:prstGeom>
          <a:solidFill>
            <a:srgbClr val="E94B35">
              <a:alpha val="5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365760"/>
            <a:ext cx="137160" cy="137160"/>
          </a:xfrm>
          <a:prstGeom prst="ellipse">
            <a:avLst/>
          </a:prstGeom>
          <a:solidFill>
            <a:srgbClr val="E94B35">
              <a:alpha val="35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365760"/>
            <a:ext cx="137160" cy="137160"/>
          </a:xfrm>
          <a:prstGeom prst="ellipse">
            <a:avLst/>
          </a:prstGeom>
          <a:solidFill>
            <a:srgbClr val="E94B35">
              <a:alpha val="2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023360" y="2880360"/>
            <a:ext cx="1097280" cy="54864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вопросы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06240" y="3840480"/>
            <a:ext cx="731520" cy="73152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40233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Мониторинг ЛВС</dc:title>
  <dc:subject>PptxGenJS Presentation</dc:subject>
  <dc:creator>Диплом 222СА</dc:creator>
  <cp:lastModifiedBy>Диплом 222СА</cp:lastModifiedBy>
  <cp:revision>1</cp:revision>
  <dcterms:created xsi:type="dcterms:W3CDTF">2026-05-15T06:17:00Z</dcterms:created>
  <dcterms:modified xsi:type="dcterms:W3CDTF">2026-05-15T06:17:00Z</dcterms:modified>
</cp:coreProperties>
</file>