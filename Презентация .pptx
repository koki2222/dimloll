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Zabbix</c:v>
                </c:pt>
              </c:strCache>
            </c:strRef>
          </c:tx>
          <c:spPr bwMode="auto">
            <a:prstGeom prst="rect">
              <a:avLst/>
            </a:prstGeom>
            <a:solidFill>
              <a:srgbClr val="E94B35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Prometheus</c:v>
                </c:pt>
              </c:strCache>
            </c:strRef>
          </c:tx>
          <c:spPr bwMode="auto">
            <a:prstGeom prst="rect">
              <a:avLst/>
            </a:prstGeom>
            <a:solidFill>
              <a:srgbClr val="0E7C8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PRTG</c:v>
                </c:pt>
              </c:strCache>
            </c:strRef>
          </c:tx>
          <c:spPr bwMode="auto">
            <a:prstGeom prst="rect">
              <a:avLst/>
            </a:prstGeom>
            <a:solidFill>
              <a:srgbClr val="F39C1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5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1A253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 bwMode="auto">
    <a:xfrm rot="0">
      <a:off x="548640" y="1234440"/>
      <a:ext cx="8503920" cy="3566160"/>
    </a:xfrm>
    <a:prstGeom prst="rect">
      <a:avLst/>
    </a:prstGeom>
    <a:solidFill>
      <a:srgbClr val="FFFFFF"/>
    </a:solidFill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343306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732188" name="Дата 2"/>
          <p:cNvSpPr>
            <a:spLocks noGrp="1"/>
          </p:cNvSpPr>
          <p:nvPr>
            <p:ph type="dt" idx="1"/>
          </p:nvPr>
        </p:nvSpPr>
        <p:spPr bwMode="auto"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90D5EA2-B6E3-424F-B097-50F1946A4700}" type="datetimeFigureOut">
              <a:rPr/>
              <a:t>27.05.2026</a:t>
            </a:fld>
            <a:endParaRPr lang="ru-RU"/>
          </a:p>
        </p:txBody>
      </p:sp>
      <p:sp>
        <p:nvSpPr>
          <p:cNvPr id="105570813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375477049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1504736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688390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D3C244E2-96F5-4FF2-9B4A-585178DCEEBE}" type="slidenum">
              <a:r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0972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0699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0790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3514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79911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8432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8172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9383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6401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2642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836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77021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8896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33895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6166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8702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19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8277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6544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7668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684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1379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188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9546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5479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49832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19754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8720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4100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3350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B1D814-EABB-6C07-5422-418AF363B8C6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329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6278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4824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1649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59765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851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3574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5419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58969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1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F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121853" name="Shape 0"/>
          <p:cNvSpPr/>
          <p:nvPr/>
        </p:nvSpPr>
        <p:spPr bwMode="auto">
          <a:xfrm>
            <a:off x="7315200" y="274320"/>
            <a:ext cx="164592" cy="164592"/>
          </a:xfrm>
          <a:prstGeom prst="ellipse">
            <a:avLst/>
          </a:prstGeom>
          <a:solidFill>
            <a:srgbClr val="E94B35">
              <a:alpha val="7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18366832" name="Shape 1"/>
          <p:cNvSpPr/>
          <p:nvPr/>
        </p:nvSpPr>
        <p:spPr bwMode="auto">
          <a:xfrm>
            <a:off x="7955280" y="274320"/>
            <a:ext cx="164592" cy="164592"/>
          </a:xfrm>
          <a:prstGeom prst="ellipse">
            <a:avLst/>
          </a:prstGeom>
          <a:solidFill>
            <a:srgbClr val="E94B35">
              <a:alpha val="6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707642038" name="Shape 2"/>
          <p:cNvSpPr/>
          <p:nvPr/>
        </p:nvSpPr>
        <p:spPr bwMode="auto">
          <a:xfrm>
            <a:off x="8595360" y="274320"/>
            <a:ext cx="164592" cy="164592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118390868" name="Shape 3"/>
          <p:cNvSpPr/>
          <p:nvPr/>
        </p:nvSpPr>
        <p:spPr bwMode="auto">
          <a:xfrm>
            <a:off x="7315200" y="914400"/>
            <a:ext cx="164592" cy="164592"/>
          </a:xfrm>
          <a:prstGeom prst="ellipse">
            <a:avLst/>
          </a:prstGeom>
          <a:solidFill>
            <a:srgbClr val="E94B35">
              <a:alpha val="4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826242766" name="Shape 4"/>
          <p:cNvSpPr/>
          <p:nvPr/>
        </p:nvSpPr>
        <p:spPr bwMode="auto">
          <a:xfrm>
            <a:off x="7955280" y="914400"/>
            <a:ext cx="164592" cy="164592"/>
          </a:xfrm>
          <a:prstGeom prst="ellipse">
            <a:avLst/>
          </a:prstGeom>
          <a:solidFill>
            <a:srgbClr val="E94B35">
              <a:alpha val="3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831411558" name="Shape 5"/>
          <p:cNvSpPr/>
          <p:nvPr/>
        </p:nvSpPr>
        <p:spPr bwMode="auto">
          <a:xfrm>
            <a:off x="8595360" y="914400"/>
            <a:ext cx="164592" cy="164592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615589068" name="Shape 6"/>
          <p:cNvSpPr/>
          <p:nvPr/>
        </p:nvSpPr>
        <p:spPr bwMode="auto">
          <a:xfrm>
            <a:off x="7397496" y="356616"/>
            <a:ext cx="640080" cy="640080"/>
          </a:xfrm>
          <a:prstGeom prst="line">
            <a:avLst/>
          </a:prstGeom>
          <a:noFill/>
          <a:ln w="12700">
            <a:solidFill>
              <a:srgbClr val="E94B35">
                <a:alpha val="50000"/>
              </a:srgbClr>
            </a:solidFill>
            <a:prstDash val="solid"/>
          </a:ln>
        </p:spPr>
      </p:sp>
      <p:sp>
        <p:nvSpPr>
          <p:cNvPr id="211503985" name="Shape 7"/>
          <p:cNvSpPr/>
          <p:nvPr/>
        </p:nvSpPr>
        <p:spPr bwMode="auto">
          <a:xfrm>
            <a:off x="8037576" y="356616"/>
            <a:ext cx="640080" cy="640080"/>
          </a:xfrm>
          <a:prstGeom prst="line">
            <a:avLst/>
          </a:prstGeom>
          <a:noFill/>
          <a:ln w="12700">
            <a:solidFill>
              <a:srgbClr val="E94B35">
                <a:alpha val="50000"/>
              </a:srgbClr>
            </a:solidFill>
            <a:prstDash val="solid"/>
          </a:ln>
        </p:spPr>
      </p:sp>
      <p:sp>
        <p:nvSpPr>
          <p:cNvPr id="991843873" name="Text 8"/>
          <p:cNvSpPr/>
          <p:nvPr/>
        </p:nvSpPr>
        <p:spPr bwMode="auto">
          <a:xfrm>
            <a:off x="502920" y="3200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ГБПОУ НСО «Новосибирский политехнический колледж»</a:t>
            </a:r>
            <a:endParaRPr lang="en-US" sz="1100"/>
          </a:p>
        </p:txBody>
      </p:sp>
      <p:sp>
        <p:nvSpPr>
          <p:cNvPr id="1309144285" name="Text 9"/>
          <p:cNvSpPr/>
          <p:nvPr/>
        </p:nvSpPr>
        <p:spPr bwMode="auto"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800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ДИПЛОМНЫЙ ПРОЕКТ</a:t>
            </a:r>
            <a:endParaRPr lang="en-US" sz="1200"/>
          </a:p>
        </p:txBody>
      </p:sp>
      <p:sp>
        <p:nvSpPr>
          <p:cNvPr id="1492773267" name="Text 10"/>
          <p:cNvSpPr/>
          <p:nvPr/>
        </p:nvSpPr>
        <p:spPr bwMode="auto">
          <a:xfrm>
            <a:off x="50292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0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Мониторинг</a:t>
            </a:r>
            <a:endParaRPr lang="en-US" sz="5000"/>
          </a:p>
        </p:txBody>
      </p:sp>
      <p:sp>
        <p:nvSpPr>
          <p:cNvPr id="837309727" name="Text 11"/>
          <p:cNvSpPr/>
          <p:nvPr/>
        </p:nvSpPr>
        <p:spPr bwMode="auto">
          <a:xfrm>
            <a:off x="50292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локально-вычислительной сети</a:t>
            </a:r>
            <a:endParaRPr lang="en-US" sz="3200"/>
          </a:p>
        </p:txBody>
      </p:sp>
      <p:sp>
        <p:nvSpPr>
          <p:cNvPr id="1528447096" name="Shape 12"/>
          <p:cNvSpPr/>
          <p:nvPr/>
        </p:nvSpPr>
        <p:spPr bwMode="auto">
          <a:xfrm>
            <a:off x="502920" y="3337560"/>
            <a:ext cx="731520" cy="36576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018946230" name="Text 13"/>
          <p:cNvSpPr/>
          <p:nvPr/>
        </p:nvSpPr>
        <p:spPr bwMode="auto">
          <a:xfrm>
            <a:off x="50292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Выполнил студент группы 222СА</a:t>
            </a:r>
            <a:br>
              <a:rPr lang="en-US" sz="1300">
                <a:solidFill>
                  <a:srgbClr val="C9D4E0"/>
                </a:solidFill>
                <a:latin typeface="Calibri"/>
                <a:ea typeface="Calibri"/>
                <a:cs typeface="Calibri"/>
              </a:rPr>
            </a:b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_________________________</a:t>
            </a:r>
            <a:b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11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Специальность 09.02.06 «Сетевое и системное администрирование»</a:t>
            </a:r>
            <a:br>
              <a:rPr lang="en-US" sz="11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</a:br>
            <a:r>
              <a:rPr lang="en-US"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br>
              <a:rPr lang="en-US"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</a:br>
            <a:r>
              <a:rPr lang="en-US" sz="12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Руководитель: Егорова А. А.</a:t>
            </a:r>
            <a:endParaRPr lang="en-US" sz="1300"/>
          </a:p>
        </p:txBody>
      </p:sp>
      <p:sp>
        <p:nvSpPr>
          <p:cNvPr id="1165210451" name="Text 14"/>
          <p:cNvSpPr/>
          <p:nvPr/>
        </p:nvSpPr>
        <p:spPr bwMode="auto">
          <a:xfrm>
            <a:off x="5029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Новосибирск 2026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41945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001777923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Актуальность</a:t>
            </a:r>
            <a:endParaRPr lang="en-US" sz="2800"/>
          </a:p>
        </p:txBody>
      </p:sp>
      <p:sp>
        <p:nvSpPr>
          <p:cNvPr id="720476468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Почему мониторинг ЛВС критически важен сегодня</a:t>
            </a:r>
            <a:endParaRPr lang="en-US" sz="1300"/>
          </a:p>
        </p:txBody>
      </p:sp>
      <p:sp>
        <p:nvSpPr>
          <p:cNvPr id="1505836075" name="Shape 3"/>
          <p:cNvSpPr/>
          <p:nvPr/>
        </p:nvSpPr>
        <p:spPr bwMode="auto">
          <a:xfrm>
            <a:off x="50292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86218639" name="Shape 4"/>
          <p:cNvSpPr/>
          <p:nvPr/>
        </p:nvSpPr>
        <p:spPr bwMode="auto">
          <a:xfrm>
            <a:off x="502920" y="1280160"/>
            <a:ext cx="4023360" cy="5486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751798827" name="Shape 5"/>
          <p:cNvSpPr/>
          <p:nvPr/>
        </p:nvSpPr>
        <p:spPr bwMode="auto">
          <a:xfrm>
            <a:off x="731520" y="1508759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868298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350501496" name="Text 6"/>
          <p:cNvSpPr/>
          <p:nvPr/>
        </p:nvSpPr>
        <p:spPr bwMode="auto">
          <a:xfrm>
            <a:off x="146304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Рост сложности сетей</a:t>
            </a:r>
            <a:endParaRPr lang="en-US" sz="1400"/>
          </a:p>
        </p:txBody>
      </p:sp>
      <p:sp>
        <p:nvSpPr>
          <p:cNvPr id="6901842" name="Text 7"/>
          <p:cNvSpPr/>
          <p:nvPr/>
        </p:nvSpPr>
        <p:spPr bwMode="auto">
          <a:xfrm>
            <a:off x="73152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Десятки серверов, сотни рабочих мест, гибридные среды</a:t>
            </a:r>
            <a:endParaRPr lang="en-US" sz="1200"/>
          </a:p>
        </p:txBody>
      </p:sp>
      <p:sp>
        <p:nvSpPr>
          <p:cNvPr id="1709536553" name="Shape 8"/>
          <p:cNvSpPr/>
          <p:nvPr/>
        </p:nvSpPr>
        <p:spPr bwMode="auto">
          <a:xfrm>
            <a:off x="466344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12110611" name="Shape 9"/>
          <p:cNvSpPr/>
          <p:nvPr/>
        </p:nvSpPr>
        <p:spPr bwMode="auto">
          <a:xfrm>
            <a:off x="4663440" y="1280160"/>
            <a:ext cx="402336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022576433" name="Shape 10"/>
          <p:cNvSpPr/>
          <p:nvPr/>
        </p:nvSpPr>
        <p:spPr bwMode="auto">
          <a:xfrm>
            <a:off x="4892039" y="1508759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935888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52060" y="1668780"/>
            <a:ext cx="320040" cy="320040"/>
          </a:xfrm>
          <a:prstGeom prst="rect">
            <a:avLst/>
          </a:prstGeom>
        </p:spPr>
      </p:pic>
      <p:sp>
        <p:nvSpPr>
          <p:cNvPr id="386290676" name="Text 11"/>
          <p:cNvSpPr/>
          <p:nvPr/>
        </p:nvSpPr>
        <p:spPr bwMode="auto">
          <a:xfrm>
            <a:off x="562356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Цена простоя</a:t>
            </a:r>
            <a:endParaRPr lang="en-US" sz="1400"/>
          </a:p>
        </p:txBody>
      </p:sp>
      <p:sp>
        <p:nvSpPr>
          <p:cNvPr id="1624989774" name="Text 12"/>
          <p:cNvSpPr/>
          <p:nvPr/>
        </p:nvSpPr>
        <p:spPr bwMode="auto">
          <a:xfrm>
            <a:off x="4892039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Любой сбой ЛВС останавливает бизнес-процессы</a:t>
            </a:r>
            <a:endParaRPr lang="en-US" sz="1200"/>
          </a:p>
        </p:txBody>
      </p:sp>
      <p:sp>
        <p:nvSpPr>
          <p:cNvPr id="293889952" name="Shape 13"/>
          <p:cNvSpPr/>
          <p:nvPr/>
        </p:nvSpPr>
        <p:spPr bwMode="auto">
          <a:xfrm>
            <a:off x="50292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39622085" name="Shape 14"/>
          <p:cNvSpPr/>
          <p:nvPr/>
        </p:nvSpPr>
        <p:spPr bwMode="auto">
          <a:xfrm>
            <a:off x="502920" y="3063240"/>
            <a:ext cx="4023360" cy="54864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137506151" name="Shape 15"/>
          <p:cNvSpPr/>
          <p:nvPr/>
        </p:nvSpPr>
        <p:spPr bwMode="auto">
          <a:xfrm>
            <a:off x="731520" y="329184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21442312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1540" y="3451860"/>
            <a:ext cx="320040" cy="320040"/>
          </a:xfrm>
          <a:prstGeom prst="rect">
            <a:avLst/>
          </a:prstGeom>
        </p:spPr>
      </p:pic>
      <p:sp>
        <p:nvSpPr>
          <p:cNvPr id="1473625277" name="Text 16"/>
          <p:cNvSpPr/>
          <p:nvPr/>
        </p:nvSpPr>
        <p:spPr bwMode="auto">
          <a:xfrm>
            <a:off x="146304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</a:rPr>
              <a:t>Локальные</a:t>
            </a:r>
            <a:r>
              <a:rPr lang="en-US" sz="1400" b="1">
                <a:solidFill>
                  <a:srgbClr val="0F2A47"/>
                </a:solidFill>
                <a:latin typeface="Arial Black"/>
              </a:rPr>
              <a:t> </a:t>
            </a:r>
            <a:r>
              <a:rPr lang="en-US" sz="1400" b="1">
                <a:solidFill>
                  <a:srgbClr val="0F2A47"/>
                </a:solidFill>
                <a:latin typeface="Arial Black"/>
              </a:rPr>
              <a:t>решения</a:t>
            </a:r>
            <a:endParaRPr/>
          </a:p>
        </p:txBody>
      </p:sp>
      <p:sp>
        <p:nvSpPr>
          <p:cNvPr id="1874911913" name="Text 17"/>
          <p:cNvSpPr/>
          <p:nvPr/>
        </p:nvSpPr>
        <p:spPr bwMode="auto">
          <a:xfrm>
            <a:off x="73152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Переход на отечественные ОС из реестра Минцифры</a:t>
            </a:r>
            <a:endParaRPr lang="en-US" sz="1200"/>
          </a:p>
        </p:txBody>
      </p:sp>
      <p:sp>
        <p:nvSpPr>
          <p:cNvPr id="221148470" name="Shape 18"/>
          <p:cNvSpPr/>
          <p:nvPr/>
        </p:nvSpPr>
        <p:spPr bwMode="auto">
          <a:xfrm>
            <a:off x="466344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25321871" name="Shape 19"/>
          <p:cNvSpPr/>
          <p:nvPr/>
        </p:nvSpPr>
        <p:spPr bwMode="auto">
          <a:xfrm>
            <a:off x="4663440" y="3063240"/>
            <a:ext cx="402336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4108670" name="Shape 20"/>
          <p:cNvSpPr/>
          <p:nvPr/>
        </p:nvSpPr>
        <p:spPr bwMode="auto">
          <a:xfrm>
            <a:off x="4892039" y="329184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32931211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52060" y="3451860"/>
            <a:ext cx="320040" cy="320040"/>
          </a:xfrm>
          <a:prstGeom prst="rect">
            <a:avLst/>
          </a:prstGeom>
        </p:spPr>
      </p:pic>
      <p:sp>
        <p:nvSpPr>
          <p:cNvPr id="1468482971" name="Text 21"/>
          <p:cNvSpPr/>
          <p:nvPr/>
        </p:nvSpPr>
        <p:spPr bwMode="auto">
          <a:xfrm>
            <a:off x="562356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Превентивный контроль</a:t>
            </a:r>
            <a:endParaRPr lang="en-US" sz="1400"/>
          </a:p>
        </p:txBody>
      </p:sp>
      <p:sp>
        <p:nvSpPr>
          <p:cNvPr id="1542404835" name="Text 22"/>
          <p:cNvSpPr/>
          <p:nvPr/>
        </p:nvSpPr>
        <p:spPr bwMode="auto">
          <a:xfrm>
            <a:off x="4892039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Обнаружение проблем до их влияния на пользователей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874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841784139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Цель и задачи</a:t>
            </a:r>
            <a:endParaRPr lang="en-US" sz="2800"/>
          </a:p>
        </p:txBody>
      </p:sp>
      <p:sp>
        <p:nvSpPr>
          <p:cNvPr id="1920258270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Что предстояло сделать</a:t>
            </a:r>
            <a:endParaRPr lang="en-US" sz="1300"/>
          </a:p>
        </p:txBody>
      </p:sp>
      <p:sp>
        <p:nvSpPr>
          <p:cNvPr id="2083287906" name="Shape 3"/>
          <p:cNvSpPr/>
          <p:nvPr/>
        </p:nvSpPr>
        <p:spPr bwMode="auto">
          <a:xfrm>
            <a:off x="502920" y="1280160"/>
            <a:ext cx="8138160" cy="91440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809654" name="Shape 4"/>
          <p:cNvSpPr/>
          <p:nvPr/>
        </p:nvSpPr>
        <p:spPr bwMode="auto">
          <a:xfrm>
            <a:off x="731520" y="1463040"/>
            <a:ext cx="548640" cy="54864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579951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600200"/>
            <a:ext cx="274320" cy="274320"/>
          </a:xfrm>
          <a:prstGeom prst="rect">
            <a:avLst/>
          </a:prstGeom>
        </p:spPr>
      </p:pic>
      <p:sp>
        <p:nvSpPr>
          <p:cNvPr id="716493340" name="Text 5"/>
          <p:cNvSpPr/>
          <p:nvPr/>
        </p:nvSpPr>
        <p:spPr bwMode="auto">
          <a:xfrm>
            <a:off x="146304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600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ЦЕЛЬ</a:t>
            </a:r>
            <a:endParaRPr lang="en-US" sz="1100"/>
          </a:p>
        </p:txBody>
      </p:sp>
      <p:sp>
        <p:nvSpPr>
          <p:cNvPr id="1759781622" name="Text 6"/>
          <p:cNvSpPr/>
          <p:nvPr/>
        </p:nvSpPr>
        <p:spPr bwMode="auto">
          <a:xfrm>
            <a:off x="1463040" y="1645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Сравнительный анализ систем мониторинга и практическое внедрение Zabbix на отечественной ОС Альт Сервер 10</a:t>
            </a:r>
            <a:endParaRPr lang="en-US" sz="1300"/>
          </a:p>
        </p:txBody>
      </p:sp>
      <p:sp>
        <p:nvSpPr>
          <p:cNvPr id="200742188" name="Text 7"/>
          <p:cNvSpPr/>
          <p:nvPr/>
        </p:nvSpPr>
        <p:spPr bwMode="auto">
          <a:xfrm>
            <a:off x="50292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600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ЗАДАЧИ</a:t>
            </a:r>
            <a:endParaRPr lang="en-US" sz="1200"/>
          </a:p>
        </p:txBody>
      </p:sp>
      <p:sp>
        <p:nvSpPr>
          <p:cNvPr id="1949846274" name="Shape 8"/>
          <p:cNvSpPr/>
          <p:nvPr/>
        </p:nvSpPr>
        <p:spPr bwMode="auto">
          <a:xfrm>
            <a:off x="502920" y="278892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370053967" name="Text 9"/>
          <p:cNvSpPr/>
          <p:nvPr/>
        </p:nvSpPr>
        <p:spPr bwMode="auto">
          <a:xfrm>
            <a:off x="5029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1</a:t>
            </a:r>
            <a:endParaRPr lang="en-US" sz="1800"/>
          </a:p>
        </p:txBody>
      </p:sp>
      <p:sp>
        <p:nvSpPr>
          <p:cNvPr id="96077420" name="Text 10"/>
          <p:cNvSpPr/>
          <p:nvPr/>
        </p:nvSpPr>
        <p:spPr bwMode="auto">
          <a:xfrm>
            <a:off x="114300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Изучить теоретические основы организации и мониторинга ЛВС</a:t>
            </a:r>
            <a:endParaRPr lang="en-US" sz="1200"/>
          </a:p>
        </p:txBody>
      </p:sp>
      <p:sp>
        <p:nvSpPr>
          <p:cNvPr id="2066512314" name="Shape 11"/>
          <p:cNvSpPr/>
          <p:nvPr/>
        </p:nvSpPr>
        <p:spPr bwMode="auto">
          <a:xfrm>
            <a:off x="4663440" y="278892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554585337" name="Text 12"/>
          <p:cNvSpPr/>
          <p:nvPr/>
        </p:nvSpPr>
        <p:spPr bwMode="auto">
          <a:xfrm>
            <a:off x="46634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2</a:t>
            </a:r>
            <a:endParaRPr lang="en-US" sz="1800"/>
          </a:p>
        </p:txBody>
      </p:sp>
      <p:sp>
        <p:nvSpPr>
          <p:cNvPr id="1486866523" name="Text 13"/>
          <p:cNvSpPr/>
          <p:nvPr/>
        </p:nvSpPr>
        <p:spPr bwMode="auto">
          <a:xfrm>
            <a:off x="530352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Сравнить существующие системы мониторинга по 10 критериям</a:t>
            </a:r>
            <a:endParaRPr lang="en-US" sz="1200"/>
          </a:p>
        </p:txBody>
      </p:sp>
      <p:sp>
        <p:nvSpPr>
          <p:cNvPr id="2081813224" name="Shape 14"/>
          <p:cNvSpPr/>
          <p:nvPr/>
        </p:nvSpPr>
        <p:spPr bwMode="auto">
          <a:xfrm>
            <a:off x="502920" y="356616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961868831" name="Text 15"/>
          <p:cNvSpPr/>
          <p:nvPr/>
        </p:nvSpPr>
        <p:spPr bwMode="auto">
          <a:xfrm>
            <a:off x="5029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3</a:t>
            </a:r>
            <a:endParaRPr lang="en-US" sz="1800"/>
          </a:p>
        </p:txBody>
      </p:sp>
      <p:sp>
        <p:nvSpPr>
          <p:cNvPr id="1396242514" name="Text 16"/>
          <p:cNvSpPr/>
          <p:nvPr/>
        </p:nvSpPr>
        <p:spPr bwMode="auto">
          <a:xfrm>
            <a:off x="114300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Обосновать выбор оптимальной системы</a:t>
            </a:r>
            <a:endParaRPr lang="en-US" sz="1200"/>
          </a:p>
        </p:txBody>
      </p:sp>
      <p:sp>
        <p:nvSpPr>
          <p:cNvPr id="919285378" name="Shape 17"/>
          <p:cNvSpPr/>
          <p:nvPr/>
        </p:nvSpPr>
        <p:spPr bwMode="auto">
          <a:xfrm>
            <a:off x="4663440" y="356616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776617547" name="Text 18"/>
          <p:cNvSpPr/>
          <p:nvPr/>
        </p:nvSpPr>
        <p:spPr bwMode="auto">
          <a:xfrm>
            <a:off x="46634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4</a:t>
            </a:r>
            <a:endParaRPr lang="en-US" sz="1800"/>
          </a:p>
        </p:txBody>
      </p:sp>
      <p:sp>
        <p:nvSpPr>
          <p:cNvPr id="1123305782" name="Text 19"/>
          <p:cNvSpPr/>
          <p:nvPr/>
        </p:nvSpPr>
        <p:spPr bwMode="auto">
          <a:xfrm>
            <a:off x="530352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Развернуть и настроить систему на тестовом стенде</a:t>
            </a:r>
            <a:endParaRPr lang="en-US" sz="1200"/>
          </a:p>
        </p:txBody>
      </p:sp>
      <p:sp>
        <p:nvSpPr>
          <p:cNvPr id="22592910" name="Shape 20"/>
          <p:cNvSpPr/>
          <p:nvPr/>
        </p:nvSpPr>
        <p:spPr bwMode="auto">
          <a:xfrm>
            <a:off x="502920" y="434340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013197058" name="Text 21"/>
          <p:cNvSpPr/>
          <p:nvPr/>
        </p:nvSpPr>
        <p:spPr bwMode="auto">
          <a:xfrm>
            <a:off x="5029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5</a:t>
            </a:r>
            <a:endParaRPr lang="en-US" sz="1800"/>
          </a:p>
        </p:txBody>
      </p:sp>
      <p:sp>
        <p:nvSpPr>
          <p:cNvPr id="1789888856" name="Text 22"/>
          <p:cNvSpPr/>
          <p:nvPr/>
        </p:nvSpPr>
        <p:spPr bwMode="auto">
          <a:xfrm>
            <a:off x="1143000" y="4297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Выполнить экономическое обоснование проекта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606071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87199587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Что такое ЛВС и её мониторинг</a:t>
            </a:r>
            <a:endParaRPr lang="en-US" sz="2800"/>
          </a:p>
        </p:txBody>
      </p:sp>
      <p:sp>
        <p:nvSpPr>
          <p:cNvPr id="1357745029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Ключевые понятия</a:t>
            </a:r>
            <a:endParaRPr lang="en-US" sz="1300"/>
          </a:p>
        </p:txBody>
      </p:sp>
      <p:sp>
        <p:nvSpPr>
          <p:cNvPr id="2075645802" name="Shape 3"/>
          <p:cNvSpPr/>
          <p:nvPr/>
        </p:nvSpPr>
        <p:spPr bwMode="auto">
          <a:xfrm>
            <a:off x="502920" y="128016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54853298" name="Shape 4"/>
          <p:cNvSpPr/>
          <p:nvPr/>
        </p:nvSpPr>
        <p:spPr bwMode="auto">
          <a:xfrm>
            <a:off x="777240" y="155448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3458386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37260" y="1714500"/>
            <a:ext cx="320040" cy="320040"/>
          </a:xfrm>
          <a:prstGeom prst="rect">
            <a:avLst/>
          </a:prstGeom>
        </p:spPr>
      </p:pic>
      <p:sp>
        <p:nvSpPr>
          <p:cNvPr id="346076543" name="Text 5"/>
          <p:cNvSpPr/>
          <p:nvPr/>
        </p:nvSpPr>
        <p:spPr bwMode="auto">
          <a:xfrm>
            <a:off x="155448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ЛВС</a:t>
            </a:r>
            <a:endParaRPr lang="en-US" sz="1800"/>
          </a:p>
        </p:txBody>
      </p:sp>
      <p:sp>
        <p:nvSpPr>
          <p:cNvPr id="1031984340" name="Text 6"/>
          <p:cNvSpPr/>
          <p:nvPr/>
        </p:nvSpPr>
        <p:spPr bwMode="auto">
          <a:xfrm>
            <a:off x="777240" y="23317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Группа компьютеров и периферийного оборудования, объединённых в пределах ограниченной территории и использующих общие коммуникационные ресурсы.</a:t>
            </a:r>
            <a:endParaRPr lang="en-US" sz="1200"/>
          </a:p>
        </p:txBody>
      </p:sp>
      <p:sp>
        <p:nvSpPr>
          <p:cNvPr id="1563193561" name="Shape 7"/>
          <p:cNvSpPr/>
          <p:nvPr/>
        </p:nvSpPr>
        <p:spPr bwMode="auto">
          <a:xfrm>
            <a:off x="777240" y="3520440"/>
            <a:ext cx="3291840" cy="0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114592637" name="Shape 8"/>
          <p:cNvSpPr/>
          <p:nvPr/>
        </p:nvSpPr>
        <p:spPr bwMode="auto">
          <a:xfrm>
            <a:off x="777240" y="3703320"/>
            <a:ext cx="502920" cy="5029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0553365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02970" y="3829050"/>
            <a:ext cx="251460" cy="251460"/>
          </a:xfrm>
          <a:prstGeom prst="rect">
            <a:avLst/>
          </a:prstGeom>
        </p:spPr>
      </p:pic>
      <p:sp>
        <p:nvSpPr>
          <p:cNvPr id="557364136" name="Text 9"/>
          <p:cNvSpPr/>
          <p:nvPr/>
        </p:nvSpPr>
        <p:spPr bwMode="auto">
          <a:xfrm>
            <a:off x="1417320" y="37033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Мониторинг — непрерывное наблюдение за состоянием узлов, сервисов и каналов с автоматическим оповещением о проблемах.</a:t>
            </a:r>
            <a:endParaRPr lang="en-US" sz="1100"/>
          </a:p>
        </p:txBody>
      </p:sp>
      <p:sp>
        <p:nvSpPr>
          <p:cNvPr id="105480357" name="Shape 10"/>
          <p:cNvSpPr/>
          <p:nvPr/>
        </p:nvSpPr>
        <p:spPr bwMode="auto">
          <a:xfrm>
            <a:off x="4663440" y="1280160"/>
            <a:ext cx="4023360" cy="347472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84105673" name="Text 11"/>
          <p:cNvSpPr/>
          <p:nvPr/>
        </p:nvSpPr>
        <p:spPr bwMode="auto">
          <a:xfrm>
            <a:off x="4663440" y="1417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Объекты мониторинга</a:t>
            </a:r>
            <a:endParaRPr lang="en-US" sz="1200"/>
          </a:p>
        </p:txBody>
      </p:sp>
      <p:sp>
        <p:nvSpPr>
          <p:cNvPr id="170112149" name="Shape 12"/>
          <p:cNvSpPr/>
          <p:nvPr/>
        </p:nvSpPr>
        <p:spPr bwMode="auto">
          <a:xfrm>
            <a:off x="6263640" y="2240280"/>
            <a:ext cx="822960" cy="8229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pic>
        <p:nvPicPr>
          <p:cNvPr id="624891177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446520" y="2423160"/>
            <a:ext cx="457200" cy="457200"/>
          </a:xfrm>
          <a:prstGeom prst="rect">
            <a:avLst/>
          </a:prstGeom>
        </p:spPr>
      </p:pic>
      <p:sp>
        <p:nvSpPr>
          <p:cNvPr id="1875864463" name="Text 13"/>
          <p:cNvSpPr/>
          <p:nvPr/>
        </p:nvSpPr>
        <p:spPr bwMode="auto">
          <a:xfrm>
            <a:off x="594360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</a:t>
            </a:r>
            <a:endParaRPr lang="en-US" sz="1100"/>
          </a:p>
        </p:txBody>
      </p:sp>
      <p:sp>
        <p:nvSpPr>
          <p:cNvPr id="438673643" name="Shape 15"/>
          <p:cNvSpPr/>
          <p:nvPr/>
        </p:nvSpPr>
        <p:spPr bwMode="auto">
          <a:xfrm>
            <a:off x="4937760" y="33832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34621584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047488" y="3493008"/>
            <a:ext cx="329184" cy="329184"/>
          </a:xfrm>
          <a:prstGeom prst="rect">
            <a:avLst/>
          </a:prstGeom>
        </p:spPr>
      </p:pic>
      <p:sp>
        <p:nvSpPr>
          <p:cNvPr id="949872932" name="Text 16"/>
          <p:cNvSpPr/>
          <p:nvPr/>
        </p:nvSpPr>
        <p:spPr bwMode="auto">
          <a:xfrm>
            <a:off x="4572000" y="39776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Сервер</a:t>
            </a:r>
            <a:endParaRPr lang="en-US" sz="900"/>
          </a:p>
        </p:txBody>
      </p:sp>
      <p:sp>
        <p:nvSpPr>
          <p:cNvPr id="1797657603" name="Shape 18"/>
          <p:cNvSpPr/>
          <p:nvPr/>
        </p:nvSpPr>
        <p:spPr bwMode="auto">
          <a:xfrm>
            <a:off x="5852160" y="38404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1963051682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961888" y="3950208"/>
            <a:ext cx="329184" cy="329184"/>
          </a:xfrm>
          <a:prstGeom prst="rect">
            <a:avLst/>
          </a:prstGeom>
        </p:spPr>
      </p:pic>
      <p:sp>
        <p:nvSpPr>
          <p:cNvPr id="1997413185" name="Text 19"/>
          <p:cNvSpPr/>
          <p:nvPr/>
        </p:nvSpPr>
        <p:spPr bwMode="auto">
          <a:xfrm>
            <a:off x="5486400" y="4434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ПК</a:t>
            </a:r>
            <a:endParaRPr lang="en-US" sz="900"/>
          </a:p>
        </p:txBody>
      </p:sp>
      <p:sp>
        <p:nvSpPr>
          <p:cNvPr id="1088942813" name="Shape 21"/>
          <p:cNvSpPr/>
          <p:nvPr/>
        </p:nvSpPr>
        <p:spPr bwMode="auto">
          <a:xfrm>
            <a:off x="6949440" y="38404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1913752744" name="Image 5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059168" y="3950208"/>
            <a:ext cx="329184" cy="329184"/>
          </a:xfrm>
          <a:prstGeom prst="rect">
            <a:avLst/>
          </a:prstGeom>
        </p:spPr>
      </p:pic>
      <p:sp>
        <p:nvSpPr>
          <p:cNvPr id="2038835693" name="Text 22"/>
          <p:cNvSpPr/>
          <p:nvPr/>
        </p:nvSpPr>
        <p:spPr bwMode="auto">
          <a:xfrm>
            <a:off x="6583680" y="4434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Роутер</a:t>
            </a:r>
            <a:endParaRPr lang="en-US" sz="900"/>
          </a:p>
        </p:txBody>
      </p:sp>
      <p:sp>
        <p:nvSpPr>
          <p:cNvPr id="1041255233" name="Shape 24"/>
          <p:cNvSpPr/>
          <p:nvPr/>
        </p:nvSpPr>
        <p:spPr bwMode="auto">
          <a:xfrm>
            <a:off x="7863840" y="33832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650832778" name="Image 6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973568" y="3493008"/>
            <a:ext cx="329184" cy="329184"/>
          </a:xfrm>
          <a:prstGeom prst="rect">
            <a:avLst/>
          </a:prstGeom>
        </p:spPr>
      </p:pic>
      <p:sp>
        <p:nvSpPr>
          <p:cNvPr id="1845852900" name="Text 25"/>
          <p:cNvSpPr/>
          <p:nvPr/>
        </p:nvSpPr>
        <p:spPr bwMode="auto">
          <a:xfrm>
            <a:off x="7498080" y="39776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Коммутатор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35061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046809915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Обзор систем мониторинга</a:t>
            </a:r>
            <a:endParaRPr lang="en-US" sz="2800"/>
          </a:p>
        </p:txBody>
      </p:sp>
      <p:sp>
        <p:nvSpPr>
          <p:cNvPr id="373659431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Какие решения рассматривались</a:t>
            </a:r>
            <a:endParaRPr lang="en-US" sz="1300"/>
          </a:p>
        </p:txBody>
      </p:sp>
      <p:sp>
        <p:nvSpPr>
          <p:cNvPr id="1342598547" name="Shape 3"/>
          <p:cNvSpPr/>
          <p:nvPr/>
        </p:nvSpPr>
        <p:spPr bwMode="auto">
          <a:xfrm>
            <a:off x="502920" y="1234440"/>
            <a:ext cx="1874520" cy="1554480"/>
          </a:xfrm>
          <a:prstGeom prst="rect">
            <a:avLst/>
          </a:prstGeom>
          <a:solidFill>
            <a:srgbClr val="0F2A47"/>
          </a:solidFill>
          <a:ln w="254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07450988" name="Shape 4"/>
          <p:cNvSpPr/>
          <p:nvPr/>
        </p:nvSpPr>
        <p:spPr bwMode="auto">
          <a:xfrm>
            <a:off x="1120140" y="1417320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5415028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0160" y="1577340"/>
            <a:ext cx="320040" cy="320040"/>
          </a:xfrm>
          <a:prstGeom prst="rect">
            <a:avLst/>
          </a:prstGeom>
        </p:spPr>
      </p:pic>
      <p:sp>
        <p:nvSpPr>
          <p:cNvPr id="1819118019" name="Text 5"/>
          <p:cNvSpPr/>
          <p:nvPr/>
        </p:nvSpPr>
        <p:spPr bwMode="auto">
          <a:xfrm>
            <a:off x="59436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</a:t>
            </a:r>
            <a:endParaRPr lang="en-US" sz="1300"/>
          </a:p>
        </p:txBody>
      </p:sp>
      <p:sp>
        <p:nvSpPr>
          <p:cNvPr id="61449660" name="Text 6"/>
          <p:cNvSpPr/>
          <p:nvPr/>
        </p:nvSpPr>
        <p:spPr bwMode="auto">
          <a:xfrm>
            <a:off x="594360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F39C12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813982457" name="Shape 7"/>
          <p:cNvSpPr/>
          <p:nvPr/>
        </p:nvSpPr>
        <p:spPr bwMode="auto">
          <a:xfrm>
            <a:off x="2542032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79639067" name="Shape 8"/>
          <p:cNvSpPr/>
          <p:nvPr/>
        </p:nvSpPr>
        <p:spPr bwMode="auto">
          <a:xfrm>
            <a:off x="3159252" y="141732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2333786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319272" y="1577340"/>
            <a:ext cx="320040" cy="320040"/>
          </a:xfrm>
          <a:prstGeom prst="rect">
            <a:avLst/>
          </a:prstGeom>
        </p:spPr>
      </p:pic>
      <p:sp>
        <p:nvSpPr>
          <p:cNvPr id="1790583989" name="Text 9"/>
          <p:cNvSpPr/>
          <p:nvPr/>
        </p:nvSpPr>
        <p:spPr bwMode="auto">
          <a:xfrm>
            <a:off x="2633472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Nagios / Icinga 2</a:t>
            </a:r>
            <a:endParaRPr lang="en-US" sz="1300"/>
          </a:p>
        </p:txBody>
      </p:sp>
      <p:sp>
        <p:nvSpPr>
          <p:cNvPr id="895047781" name="Text 10"/>
          <p:cNvSpPr/>
          <p:nvPr/>
        </p:nvSpPr>
        <p:spPr bwMode="auto">
          <a:xfrm>
            <a:off x="2633472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208667359" name="Shape 11"/>
          <p:cNvSpPr/>
          <p:nvPr/>
        </p:nvSpPr>
        <p:spPr bwMode="auto">
          <a:xfrm>
            <a:off x="4581144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5472595" name="Shape 12"/>
          <p:cNvSpPr/>
          <p:nvPr/>
        </p:nvSpPr>
        <p:spPr bwMode="auto">
          <a:xfrm>
            <a:off x="5198364" y="141732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8671095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58384" y="1577340"/>
            <a:ext cx="320040" cy="320040"/>
          </a:xfrm>
          <a:prstGeom prst="rect">
            <a:avLst/>
          </a:prstGeom>
        </p:spPr>
      </p:pic>
      <p:sp>
        <p:nvSpPr>
          <p:cNvPr id="1029291384" name="Text 13"/>
          <p:cNvSpPr/>
          <p:nvPr/>
        </p:nvSpPr>
        <p:spPr bwMode="auto">
          <a:xfrm>
            <a:off x="4672584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Prometheus</a:t>
            </a:r>
            <a:endParaRPr lang="en-US" sz="1300"/>
          </a:p>
        </p:txBody>
      </p:sp>
      <p:sp>
        <p:nvSpPr>
          <p:cNvPr id="865568296" name="Text 14"/>
          <p:cNvSpPr/>
          <p:nvPr/>
        </p:nvSpPr>
        <p:spPr bwMode="auto">
          <a:xfrm>
            <a:off x="4672584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18098999" name="Shape 15"/>
          <p:cNvSpPr/>
          <p:nvPr/>
        </p:nvSpPr>
        <p:spPr bwMode="auto">
          <a:xfrm>
            <a:off x="6620255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38095575" name="Shape 16"/>
          <p:cNvSpPr/>
          <p:nvPr/>
        </p:nvSpPr>
        <p:spPr bwMode="auto">
          <a:xfrm>
            <a:off x="7237476" y="141732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16100770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397496" y="1577340"/>
            <a:ext cx="320040" cy="320040"/>
          </a:xfrm>
          <a:prstGeom prst="rect">
            <a:avLst/>
          </a:prstGeom>
        </p:spPr>
      </p:pic>
      <p:sp>
        <p:nvSpPr>
          <p:cNvPr id="833168143" name="Text 17"/>
          <p:cNvSpPr/>
          <p:nvPr/>
        </p:nvSpPr>
        <p:spPr bwMode="auto">
          <a:xfrm>
            <a:off x="6711696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LibreNMS</a:t>
            </a:r>
            <a:endParaRPr lang="en-US" sz="1300"/>
          </a:p>
        </p:txBody>
      </p:sp>
      <p:sp>
        <p:nvSpPr>
          <p:cNvPr id="1447454764" name="Text 18"/>
          <p:cNvSpPr/>
          <p:nvPr/>
        </p:nvSpPr>
        <p:spPr bwMode="auto">
          <a:xfrm>
            <a:off x="6711696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963023417" name="Shape 19"/>
          <p:cNvSpPr/>
          <p:nvPr/>
        </p:nvSpPr>
        <p:spPr bwMode="auto">
          <a:xfrm>
            <a:off x="502920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21948843" name="Shape 20"/>
          <p:cNvSpPr/>
          <p:nvPr/>
        </p:nvSpPr>
        <p:spPr bwMode="auto">
          <a:xfrm>
            <a:off x="1120140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61990824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280160" y="3314700"/>
            <a:ext cx="320040" cy="320040"/>
          </a:xfrm>
          <a:prstGeom prst="rect">
            <a:avLst/>
          </a:prstGeom>
        </p:spPr>
      </p:pic>
      <p:sp>
        <p:nvSpPr>
          <p:cNvPr id="758183034" name="Text 21"/>
          <p:cNvSpPr/>
          <p:nvPr/>
        </p:nvSpPr>
        <p:spPr bwMode="auto">
          <a:xfrm>
            <a:off x="594360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PRTG</a:t>
            </a:r>
            <a:endParaRPr lang="en-US" sz="1300"/>
          </a:p>
        </p:txBody>
      </p:sp>
      <p:sp>
        <p:nvSpPr>
          <p:cNvPr id="965799699" name="Text 22"/>
          <p:cNvSpPr/>
          <p:nvPr/>
        </p:nvSpPr>
        <p:spPr bwMode="auto">
          <a:xfrm>
            <a:off x="594360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1154854069" name="Shape 23"/>
          <p:cNvSpPr/>
          <p:nvPr/>
        </p:nvSpPr>
        <p:spPr bwMode="auto">
          <a:xfrm>
            <a:off x="2542032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52638001" name="Shape 24"/>
          <p:cNvSpPr/>
          <p:nvPr/>
        </p:nvSpPr>
        <p:spPr bwMode="auto">
          <a:xfrm>
            <a:off x="3159252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514613822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319272" y="3314700"/>
            <a:ext cx="320040" cy="320040"/>
          </a:xfrm>
          <a:prstGeom prst="rect">
            <a:avLst/>
          </a:prstGeom>
        </p:spPr>
      </p:pic>
      <p:sp>
        <p:nvSpPr>
          <p:cNvPr id="103802037" name="Text 25"/>
          <p:cNvSpPr/>
          <p:nvPr/>
        </p:nvSpPr>
        <p:spPr bwMode="auto">
          <a:xfrm>
            <a:off x="2633472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SolarWinds</a:t>
            </a:r>
            <a:endParaRPr lang="en-US" sz="1300"/>
          </a:p>
        </p:txBody>
      </p:sp>
      <p:sp>
        <p:nvSpPr>
          <p:cNvPr id="1169203306" name="Text 26"/>
          <p:cNvSpPr/>
          <p:nvPr/>
        </p:nvSpPr>
        <p:spPr bwMode="auto">
          <a:xfrm>
            <a:off x="2633472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1093091263" name="Shape 27"/>
          <p:cNvSpPr/>
          <p:nvPr/>
        </p:nvSpPr>
        <p:spPr bwMode="auto">
          <a:xfrm>
            <a:off x="4581144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1875063" name="Shape 28"/>
          <p:cNvSpPr/>
          <p:nvPr/>
        </p:nvSpPr>
        <p:spPr bwMode="auto">
          <a:xfrm>
            <a:off x="5198364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23971902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58384" y="3314700"/>
            <a:ext cx="320040" cy="320040"/>
          </a:xfrm>
          <a:prstGeom prst="rect">
            <a:avLst/>
          </a:prstGeom>
        </p:spPr>
      </p:pic>
      <p:sp>
        <p:nvSpPr>
          <p:cNvPr id="132688729" name="Text 29"/>
          <p:cNvSpPr/>
          <p:nvPr/>
        </p:nvSpPr>
        <p:spPr bwMode="auto">
          <a:xfrm>
            <a:off x="4672584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Checkmk</a:t>
            </a:r>
            <a:endParaRPr lang="en-US" sz="1300"/>
          </a:p>
        </p:txBody>
      </p:sp>
      <p:sp>
        <p:nvSpPr>
          <p:cNvPr id="939847538" name="Text 30"/>
          <p:cNvSpPr/>
          <p:nvPr/>
        </p:nvSpPr>
        <p:spPr bwMode="auto">
          <a:xfrm>
            <a:off x="4672584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534196743" name="Shape 31"/>
          <p:cNvSpPr/>
          <p:nvPr/>
        </p:nvSpPr>
        <p:spPr bwMode="auto">
          <a:xfrm>
            <a:off x="6620255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49556867" name="Shape 32"/>
          <p:cNvSpPr/>
          <p:nvPr/>
        </p:nvSpPr>
        <p:spPr bwMode="auto">
          <a:xfrm>
            <a:off x="7237476" y="315468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59122984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397496" y="3314700"/>
            <a:ext cx="320040" cy="320040"/>
          </a:xfrm>
          <a:prstGeom prst="rect">
            <a:avLst/>
          </a:prstGeom>
        </p:spPr>
      </p:pic>
      <p:sp>
        <p:nvSpPr>
          <p:cNvPr id="966720769" name="Text 33"/>
          <p:cNvSpPr/>
          <p:nvPr/>
        </p:nvSpPr>
        <p:spPr bwMode="auto">
          <a:xfrm>
            <a:off x="6711696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Datadog</a:t>
            </a:r>
            <a:endParaRPr lang="en-US" sz="1300"/>
          </a:p>
        </p:txBody>
      </p:sp>
      <p:sp>
        <p:nvSpPr>
          <p:cNvPr id="758501066" name="Text 34"/>
          <p:cNvSpPr/>
          <p:nvPr/>
        </p:nvSpPr>
        <p:spPr bwMode="auto">
          <a:xfrm>
            <a:off x="6711696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Облачная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49584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921282384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Сравнительный анализ</a:t>
            </a:r>
            <a:endParaRPr lang="en-US" sz="2800"/>
          </a:p>
        </p:txBody>
      </p:sp>
      <p:sp>
        <p:nvSpPr>
          <p:cNvPr id="1770077668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Оценка систем по ключевым критериям (5 — отлично)</a:t>
            </a:r>
            <a:endParaRPr lang="en-US" sz="1300"/>
          </a:p>
        </p:txBody>
      </p:sp>
      <p:graphicFrame>
        <p:nvGraphicFramePr>
          <p:cNvPr id="608968546" name="Chart 0"/>
          <p:cNvGraphicFramePr>
            <a:graphicFrameLocks xmlns:a="http://schemas.openxmlformats.org/drawingml/2006/main"/>
          </p:cNvGraphicFramePr>
          <p:nvPr/>
        </p:nvGraphicFramePr>
        <p:xfrm rot="0">
          <a:off x="548640" y="1234440"/>
          <a:ext cx="85039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93088669" name="Text 3"/>
          <p:cNvSpPr/>
          <p:nvPr/>
        </p:nvSpPr>
        <p:spPr bwMode="auto">
          <a:xfrm>
            <a:off x="502920" y="4846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i="1">
                <a:solidFill>
                  <a:srgbClr val="E94B35"/>
                </a:solidFill>
                <a:latin typeface="Calibri"/>
                <a:ea typeface="Calibri"/>
                <a:cs typeface="Calibri"/>
              </a:rPr>
              <a:t>Победитель — Zabbix: максимум по лицензии, гибкости и поддержке отечественных платформ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9069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170533820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Почему Zabbix</a:t>
            </a:r>
            <a:endParaRPr lang="en-US" sz="2800"/>
          </a:p>
        </p:txBody>
      </p:sp>
      <p:sp>
        <p:nvSpPr>
          <p:cNvPr id="262824177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Аргументы в пользу выбора</a:t>
            </a:r>
            <a:endParaRPr lang="en-US" sz="1300"/>
          </a:p>
        </p:txBody>
      </p:sp>
      <p:sp>
        <p:nvSpPr>
          <p:cNvPr id="1615004947" name="Shape 3"/>
          <p:cNvSpPr/>
          <p:nvPr/>
        </p:nvSpPr>
        <p:spPr bwMode="auto">
          <a:xfrm>
            <a:off x="50292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29136915" name="Shape 4"/>
          <p:cNvSpPr/>
          <p:nvPr/>
        </p:nvSpPr>
        <p:spPr bwMode="auto">
          <a:xfrm>
            <a:off x="502920" y="1280160"/>
            <a:ext cx="40233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41857189" name="Shape 5"/>
          <p:cNvSpPr/>
          <p:nvPr/>
        </p:nvSpPr>
        <p:spPr bwMode="auto">
          <a:xfrm>
            <a:off x="731520" y="1508759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0064565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1447042520" name="Text 6"/>
          <p:cNvSpPr/>
          <p:nvPr/>
        </p:nvSpPr>
        <p:spPr bwMode="auto">
          <a:xfrm>
            <a:off x="146304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Свободная лицензия GPL v2</a:t>
            </a:r>
            <a:endParaRPr lang="en-US" sz="1400"/>
          </a:p>
        </p:txBody>
      </p:sp>
      <p:sp>
        <p:nvSpPr>
          <p:cNvPr id="1976198474" name="Text 7"/>
          <p:cNvSpPr/>
          <p:nvPr/>
        </p:nvSpPr>
        <p:spPr bwMode="auto">
          <a:xfrm>
            <a:off x="73152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Стоимость владения — 0 ₽, нет ограничений на количество узлов</a:t>
            </a:r>
            <a:endParaRPr lang="en-US" sz="1200"/>
          </a:p>
        </p:txBody>
      </p:sp>
      <p:sp>
        <p:nvSpPr>
          <p:cNvPr id="1418825100" name="Shape 8"/>
          <p:cNvSpPr/>
          <p:nvPr/>
        </p:nvSpPr>
        <p:spPr bwMode="auto">
          <a:xfrm>
            <a:off x="466344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85126043" name="Shape 9"/>
          <p:cNvSpPr/>
          <p:nvPr/>
        </p:nvSpPr>
        <p:spPr bwMode="auto">
          <a:xfrm>
            <a:off x="4663440" y="1280160"/>
            <a:ext cx="4023360" cy="5486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595306676" name="Shape 10"/>
          <p:cNvSpPr/>
          <p:nvPr/>
        </p:nvSpPr>
        <p:spPr bwMode="auto">
          <a:xfrm>
            <a:off x="4892039" y="1508759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744753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52060" y="1668780"/>
            <a:ext cx="320040" cy="320040"/>
          </a:xfrm>
          <a:prstGeom prst="rect">
            <a:avLst/>
          </a:prstGeom>
        </p:spPr>
      </p:pic>
      <p:sp>
        <p:nvSpPr>
          <p:cNvPr id="1329390847" name="Text 11"/>
          <p:cNvSpPr/>
          <p:nvPr/>
        </p:nvSpPr>
        <p:spPr bwMode="auto">
          <a:xfrm>
            <a:off x="562356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Гибкая настройка</a:t>
            </a:r>
            <a:endParaRPr lang="en-US" sz="1400"/>
          </a:p>
        </p:txBody>
      </p:sp>
      <p:sp>
        <p:nvSpPr>
          <p:cNvPr id="1392347833" name="Text 12"/>
          <p:cNvSpPr/>
          <p:nvPr/>
        </p:nvSpPr>
        <p:spPr bwMode="auto">
          <a:xfrm>
            <a:off x="4892039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Шаблоны, триггеры, скрипты — поддержка любых сценариев</a:t>
            </a:r>
            <a:endParaRPr lang="en-US" sz="1200"/>
          </a:p>
        </p:txBody>
      </p:sp>
      <p:sp>
        <p:nvSpPr>
          <p:cNvPr id="197345563" name="Shape 13"/>
          <p:cNvSpPr/>
          <p:nvPr/>
        </p:nvSpPr>
        <p:spPr bwMode="auto">
          <a:xfrm>
            <a:off x="50292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19604040" name="Shape 14"/>
          <p:cNvSpPr/>
          <p:nvPr/>
        </p:nvSpPr>
        <p:spPr bwMode="auto">
          <a:xfrm>
            <a:off x="502920" y="3063240"/>
            <a:ext cx="4023360" cy="54864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855565151" name="Shape 15"/>
          <p:cNvSpPr/>
          <p:nvPr/>
        </p:nvSpPr>
        <p:spPr bwMode="auto">
          <a:xfrm>
            <a:off x="731520" y="329184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3061554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1540" y="3451860"/>
            <a:ext cx="320040" cy="320040"/>
          </a:xfrm>
          <a:prstGeom prst="rect">
            <a:avLst/>
          </a:prstGeom>
        </p:spPr>
      </p:pic>
      <p:sp>
        <p:nvSpPr>
          <p:cNvPr id="369981292" name="Text 16"/>
          <p:cNvSpPr/>
          <p:nvPr/>
        </p:nvSpPr>
        <p:spPr bwMode="auto">
          <a:xfrm>
            <a:off x="146304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Все протоколы</a:t>
            </a:r>
            <a:endParaRPr lang="en-US" sz="1400"/>
          </a:p>
        </p:txBody>
      </p:sp>
      <p:sp>
        <p:nvSpPr>
          <p:cNvPr id="909392587" name="Text 17"/>
          <p:cNvSpPr/>
          <p:nvPr/>
        </p:nvSpPr>
        <p:spPr bwMode="auto">
          <a:xfrm>
            <a:off x="73152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Агент, SNMP, IPMI, JMX, ICMP — единая платформа для всего</a:t>
            </a:r>
            <a:endParaRPr lang="en-US" sz="1200"/>
          </a:p>
        </p:txBody>
      </p:sp>
      <p:sp>
        <p:nvSpPr>
          <p:cNvPr id="764854293" name="Shape 18"/>
          <p:cNvSpPr/>
          <p:nvPr/>
        </p:nvSpPr>
        <p:spPr bwMode="auto">
          <a:xfrm>
            <a:off x="466344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50099079" name="Shape 19"/>
          <p:cNvSpPr/>
          <p:nvPr/>
        </p:nvSpPr>
        <p:spPr bwMode="auto">
          <a:xfrm>
            <a:off x="4663440" y="3063240"/>
            <a:ext cx="402336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970564086" name="Shape 20"/>
          <p:cNvSpPr/>
          <p:nvPr/>
        </p:nvSpPr>
        <p:spPr bwMode="auto">
          <a:xfrm>
            <a:off x="4892039" y="3291840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9525779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52060" y="3451860"/>
            <a:ext cx="320040" cy="320040"/>
          </a:xfrm>
          <a:prstGeom prst="rect">
            <a:avLst/>
          </a:prstGeom>
        </p:spPr>
      </p:pic>
      <p:sp>
        <p:nvSpPr>
          <p:cNvPr id="692282868" name="Text 21"/>
          <p:cNvSpPr/>
          <p:nvPr/>
        </p:nvSpPr>
        <p:spPr bwMode="auto">
          <a:xfrm>
            <a:off x="562356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Поддержка Альт Сервер</a:t>
            </a:r>
            <a:endParaRPr lang="en-US" sz="1400"/>
          </a:p>
        </p:txBody>
      </p:sp>
      <p:sp>
        <p:nvSpPr>
          <p:cNvPr id="58178656" name="Text 22"/>
          <p:cNvSpPr/>
          <p:nvPr/>
        </p:nvSpPr>
        <p:spPr bwMode="auto">
          <a:xfrm>
            <a:off x="4892039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Пакеты в официальном репозитории p10, не нужны сторонние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461791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296334210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Технологический стек</a:t>
            </a:r>
            <a:endParaRPr lang="en-US" sz="2800"/>
          </a:p>
        </p:txBody>
      </p:sp>
      <p:sp>
        <p:nvSpPr>
          <p:cNvPr id="1944493833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Программные компоненты решения</a:t>
            </a:r>
            <a:endParaRPr lang="en-US" sz="1300"/>
          </a:p>
        </p:txBody>
      </p:sp>
      <p:sp>
        <p:nvSpPr>
          <p:cNvPr id="431690153" name="Shape 3"/>
          <p:cNvSpPr/>
          <p:nvPr/>
        </p:nvSpPr>
        <p:spPr bwMode="auto">
          <a:xfrm>
            <a:off x="731520" y="1280160"/>
            <a:ext cx="7680960" cy="77724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7405213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87552" y="1463040"/>
            <a:ext cx="420624" cy="420624"/>
          </a:xfrm>
          <a:prstGeom prst="rect">
            <a:avLst/>
          </a:prstGeom>
        </p:spPr>
      </p:pic>
      <p:sp>
        <p:nvSpPr>
          <p:cNvPr id="1610110956" name="Text 4"/>
          <p:cNvSpPr/>
          <p:nvPr/>
        </p:nvSpPr>
        <p:spPr bwMode="auto">
          <a:xfrm>
            <a:off x="164592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 Server 6.x</a:t>
            </a:r>
            <a:endParaRPr lang="en-US" sz="1600"/>
          </a:p>
        </p:txBody>
      </p:sp>
      <p:sp>
        <p:nvSpPr>
          <p:cNvPr id="1087353705" name="Text 5"/>
          <p:cNvSpPr/>
          <p:nvPr/>
        </p:nvSpPr>
        <p:spPr bwMode="auto">
          <a:xfrm>
            <a:off x="1645920" y="1691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Сервер мониторинга + веб-интерфейс</a:t>
            </a:r>
            <a:endParaRPr lang="en-US" sz="1100"/>
          </a:p>
        </p:txBody>
      </p:sp>
      <p:sp>
        <p:nvSpPr>
          <p:cNvPr id="54125444" name="Shape 6"/>
          <p:cNvSpPr/>
          <p:nvPr/>
        </p:nvSpPr>
        <p:spPr bwMode="auto">
          <a:xfrm>
            <a:off x="6309360" y="152704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1445571" name="Text 7"/>
          <p:cNvSpPr/>
          <p:nvPr/>
        </p:nvSpPr>
        <p:spPr bwMode="auto">
          <a:xfrm>
            <a:off x="6309360" y="1527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GNU GPL v2</a:t>
            </a:r>
            <a:endParaRPr lang="en-US" sz="1000"/>
          </a:p>
        </p:txBody>
      </p:sp>
      <p:sp>
        <p:nvSpPr>
          <p:cNvPr id="1637576336" name="Shape 8"/>
          <p:cNvSpPr/>
          <p:nvPr/>
        </p:nvSpPr>
        <p:spPr bwMode="auto">
          <a:xfrm>
            <a:off x="731520" y="2103120"/>
            <a:ext cx="7680960" cy="77724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3560637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87552" y="2286000"/>
            <a:ext cx="420624" cy="420624"/>
          </a:xfrm>
          <a:prstGeom prst="rect">
            <a:avLst/>
          </a:prstGeom>
        </p:spPr>
      </p:pic>
      <p:sp>
        <p:nvSpPr>
          <p:cNvPr id="171617679" name="Text 9"/>
          <p:cNvSpPr/>
          <p:nvPr/>
        </p:nvSpPr>
        <p:spPr bwMode="auto">
          <a:xfrm>
            <a:off x="1645920" y="21762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Apache HTTP Server</a:t>
            </a:r>
            <a:endParaRPr lang="en-US" sz="1600"/>
          </a:p>
        </p:txBody>
      </p:sp>
      <p:sp>
        <p:nvSpPr>
          <p:cNvPr id="1179372716" name="Text 10"/>
          <p:cNvSpPr/>
          <p:nvPr/>
        </p:nvSpPr>
        <p:spPr bwMode="auto">
          <a:xfrm>
            <a:off x="164592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Веб-сервер (служба httpd2)</a:t>
            </a:r>
            <a:endParaRPr lang="en-US" sz="1100"/>
          </a:p>
        </p:txBody>
      </p:sp>
      <p:sp>
        <p:nvSpPr>
          <p:cNvPr id="1084004496" name="Shape 11"/>
          <p:cNvSpPr/>
          <p:nvPr/>
        </p:nvSpPr>
        <p:spPr bwMode="auto">
          <a:xfrm>
            <a:off x="6309360" y="235000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08601785" name="Text 12"/>
          <p:cNvSpPr/>
          <p:nvPr/>
        </p:nvSpPr>
        <p:spPr bwMode="auto">
          <a:xfrm>
            <a:off x="6309360" y="23500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Apache 2.0</a:t>
            </a:r>
            <a:endParaRPr lang="en-US" sz="1000"/>
          </a:p>
        </p:txBody>
      </p:sp>
      <p:sp>
        <p:nvSpPr>
          <p:cNvPr id="595426998" name="Shape 13"/>
          <p:cNvSpPr/>
          <p:nvPr/>
        </p:nvSpPr>
        <p:spPr bwMode="auto">
          <a:xfrm>
            <a:off x="731520" y="2926080"/>
            <a:ext cx="7680960" cy="77724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6825287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87552" y="3108960"/>
            <a:ext cx="420624" cy="420624"/>
          </a:xfrm>
          <a:prstGeom prst="rect">
            <a:avLst/>
          </a:prstGeom>
        </p:spPr>
      </p:pic>
      <p:sp>
        <p:nvSpPr>
          <p:cNvPr id="1396137579" name="Text 14"/>
          <p:cNvSpPr/>
          <p:nvPr/>
        </p:nvSpPr>
        <p:spPr bwMode="auto">
          <a:xfrm>
            <a:off x="1645920" y="2999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PostgreSQL</a:t>
            </a:r>
            <a:endParaRPr lang="en-US" sz="1600"/>
          </a:p>
        </p:txBody>
      </p:sp>
      <p:sp>
        <p:nvSpPr>
          <p:cNvPr id="1640405110" name="Text 15"/>
          <p:cNvSpPr/>
          <p:nvPr/>
        </p:nvSpPr>
        <p:spPr bwMode="auto">
          <a:xfrm>
            <a:off x="1645920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СУБД для хранения метрик</a:t>
            </a:r>
            <a:endParaRPr lang="en-US" sz="1100"/>
          </a:p>
        </p:txBody>
      </p:sp>
      <p:sp>
        <p:nvSpPr>
          <p:cNvPr id="975292991" name="Shape 16"/>
          <p:cNvSpPr/>
          <p:nvPr/>
        </p:nvSpPr>
        <p:spPr bwMode="auto">
          <a:xfrm>
            <a:off x="6309360" y="317296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53651968" name="Text 17"/>
          <p:cNvSpPr/>
          <p:nvPr/>
        </p:nvSpPr>
        <p:spPr bwMode="auto">
          <a:xfrm>
            <a:off x="6309360" y="3172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PostgreSQL License</a:t>
            </a:r>
            <a:endParaRPr lang="en-US" sz="1000"/>
          </a:p>
        </p:txBody>
      </p:sp>
      <p:sp>
        <p:nvSpPr>
          <p:cNvPr id="1137161307" name="Shape 18"/>
          <p:cNvSpPr/>
          <p:nvPr/>
        </p:nvSpPr>
        <p:spPr bwMode="auto">
          <a:xfrm>
            <a:off x="731520" y="3749040"/>
            <a:ext cx="7680960" cy="7772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4376453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87552" y="3931920"/>
            <a:ext cx="420624" cy="420624"/>
          </a:xfrm>
          <a:prstGeom prst="rect">
            <a:avLst/>
          </a:prstGeom>
        </p:spPr>
      </p:pic>
      <p:sp>
        <p:nvSpPr>
          <p:cNvPr id="1946314645" name="Text 19"/>
          <p:cNvSpPr/>
          <p:nvPr/>
        </p:nvSpPr>
        <p:spPr bwMode="auto">
          <a:xfrm>
            <a:off x="164592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Альт Сервер 10</a:t>
            </a:r>
            <a:endParaRPr lang="en-US" sz="1600"/>
          </a:p>
        </p:txBody>
      </p:sp>
      <p:sp>
        <p:nvSpPr>
          <p:cNvPr id="884859271" name="Text 20"/>
          <p:cNvSpPr/>
          <p:nvPr/>
        </p:nvSpPr>
        <p:spPr bwMode="auto">
          <a:xfrm>
            <a:off x="1645920" y="4160519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ОС от ООО «Базальт СПО», реестр Минцифры</a:t>
            </a:r>
            <a:endParaRPr lang="en-US" sz="1100"/>
          </a:p>
        </p:txBody>
      </p:sp>
      <p:sp>
        <p:nvSpPr>
          <p:cNvPr id="157975455" name="Shape 21"/>
          <p:cNvSpPr/>
          <p:nvPr/>
        </p:nvSpPr>
        <p:spPr bwMode="auto">
          <a:xfrm>
            <a:off x="6309360" y="399592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5148207" name="Text 22"/>
          <p:cNvSpPr/>
          <p:nvPr/>
        </p:nvSpPr>
        <p:spPr bwMode="auto">
          <a:xfrm>
            <a:off x="6309360" y="39959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GNU GPL / свободное ПО</a:t>
            </a:r>
            <a:endParaRPr lang="en-US" sz="1000"/>
          </a:p>
        </p:txBody>
      </p:sp>
      <p:sp>
        <p:nvSpPr>
          <p:cNvPr id="114313860" name="Text 23"/>
          <p:cNvSpPr/>
          <p:nvPr/>
        </p:nvSpPr>
        <p:spPr bwMode="auto">
          <a:xfrm>
            <a:off x="502920" y="4754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Весь стек — свободное и бесплатное ПО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25294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894300523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ru-RU" sz="2800" b="1" i="0" u="none" strike="noStrike" cap="none" spc="0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Архитектура тестового стенда</a:t>
            </a:r>
            <a:endParaRPr lang="en-US" sz="2800"/>
          </a:p>
        </p:txBody>
      </p:sp>
      <p:sp>
        <p:nvSpPr>
          <p:cNvPr id="1747284253" name=""/>
          <p:cNvSpPr/>
          <p:nvPr/>
        </p:nvSpPr>
        <p:spPr bwMode="auto">
          <a:xfrm flipH="0" flipV="0">
            <a:off x="6402096" y="1454240"/>
            <a:ext cx="2373593" cy="2560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just"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схеме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изображены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следующее: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Сервер Zabbix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(192.168.100.1/24)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Клиет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(192.168.100.2/24)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Маршрутизатор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(192.168.100.3/24)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Выход в интернет</a:t>
            </a:r>
            <a:endParaRPr/>
          </a:p>
        </p:txBody>
      </p:sp>
      <p:pic>
        <p:nvPicPr>
          <p:cNvPr id="209543097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98562" y="909637"/>
            <a:ext cx="3529635" cy="40226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75706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13271494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 i="0" u="none" strike="noStrike" cap="none" spc="0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Проверка работоспособности</a:t>
            </a:r>
            <a:endParaRPr lang="en-US" sz="2800"/>
          </a:p>
        </p:txBody>
      </p:sp>
      <p:pic>
        <p:nvPicPr>
          <p:cNvPr id="1921477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4591" y="1184114"/>
            <a:ext cx="4427958" cy="2775269"/>
          </a:xfrm>
          <a:prstGeom prst="rect">
            <a:avLst/>
          </a:prstGeom>
        </p:spPr>
      </p:pic>
      <p:pic>
        <p:nvPicPr>
          <p:cNvPr id="152815369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669240" y="1184114"/>
            <a:ext cx="4423222" cy="2768416"/>
          </a:xfrm>
          <a:prstGeom prst="rect">
            <a:avLst/>
          </a:prstGeom>
        </p:spPr>
      </p:pic>
      <p:sp>
        <p:nvSpPr>
          <p:cNvPr id="457825313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ru-RU" sz="1300">
                <a:solidFill>
                  <a:schemeClr val="bg1">
                    <a:lumMod val="65000"/>
                  </a:schemeClr>
                </a:solidFill>
              </a:rPr>
              <a:t>Мониторинг состояния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341133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585619580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Экономическое обоснование</a:t>
            </a:r>
            <a:endParaRPr lang="en-US" sz="2800"/>
          </a:p>
        </p:txBody>
      </p:sp>
      <p:sp>
        <p:nvSpPr>
          <p:cNvPr id="894820185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Затраты на внедрение</a:t>
            </a:r>
            <a:endParaRPr lang="en-US" sz="1300"/>
          </a:p>
        </p:txBody>
      </p:sp>
      <p:sp>
        <p:nvSpPr>
          <p:cNvPr id="2074203470" name="Shape 3"/>
          <p:cNvSpPr/>
          <p:nvPr/>
        </p:nvSpPr>
        <p:spPr bwMode="auto">
          <a:xfrm>
            <a:off x="165528" y="1273274"/>
            <a:ext cx="3128240" cy="32918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58697705" name="Shape 4"/>
          <p:cNvSpPr/>
          <p:nvPr/>
        </p:nvSpPr>
        <p:spPr bwMode="auto">
          <a:xfrm>
            <a:off x="439848" y="1554479"/>
            <a:ext cx="571224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7991365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9868" y="1714498"/>
            <a:ext cx="278727" cy="320040"/>
          </a:xfrm>
          <a:prstGeom prst="rect">
            <a:avLst/>
          </a:prstGeom>
        </p:spPr>
      </p:pic>
      <p:sp>
        <p:nvSpPr>
          <p:cNvPr id="132363293" name="Text 5"/>
          <p:cNvSpPr/>
          <p:nvPr/>
        </p:nvSpPr>
        <p:spPr bwMode="auto">
          <a:xfrm>
            <a:off x="1217088" y="1547594"/>
            <a:ext cx="21303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Программное обеспечение</a:t>
            </a:r>
            <a:endParaRPr lang="en-US" sz="1300"/>
          </a:p>
        </p:txBody>
      </p:sp>
      <p:sp>
        <p:nvSpPr>
          <p:cNvPr id="1400271851" name="Text 6"/>
          <p:cNvSpPr/>
          <p:nvPr/>
        </p:nvSpPr>
        <p:spPr bwMode="auto">
          <a:xfrm>
            <a:off x="1217088" y="1913354"/>
            <a:ext cx="21303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Альт Сервер · PostgreSQL · Apache · Zabbix — всё свободное</a:t>
            </a:r>
            <a:endParaRPr lang="en-US" sz="1000"/>
          </a:p>
        </p:txBody>
      </p:sp>
      <p:sp>
        <p:nvSpPr>
          <p:cNvPr id="118823340" name="Text 7"/>
          <p:cNvSpPr/>
          <p:nvPr/>
        </p:nvSpPr>
        <p:spPr bwMode="auto">
          <a:xfrm>
            <a:off x="165528" y="2599154"/>
            <a:ext cx="312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0 ₽</a:t>
            </a:r>
            <a:endParaRPr lang="en-US" sz="9000"/>
          </a:p>
        </p:txBody>
      </p:sp>
      <p:sp>
        <p:nvSpPr>
          <p:cNvPr id="88213045" name="Text 8"/>
          <p:cNvSpPr/>
          <p:nvPr/>
        </p:nvSpPr>
        <p:spPr bwMode="auto">
          <a:xfrm>
            <a:off x="165528" y="4016474"/>
            <a:ext cx="312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F39C12"/>
                </a:solidFill>
                <a:latin typeface="Calibri"/>
                <a:ea typeface="Calibri"/>
                <a:cs typeface="Calibri"/>
              </a:rPr>
              <a:t>Лицензионных отчислений нет</a:t>
            </a:r>
            <a:endParaRPr lang="en-US" sz="1100"/>
          </a:p>
        </p:txBody>
      </p:sp>
      <p:sp>
        <p:nvSpPr>
          <p:cNvPr id="115327655" name="Shape 9"/>
          <p:cNvSpPr/>
          <p:nvPr/>
        </p:nvSpPr>
        <p:spPr bwMode="auto">
          <a:xfrm>
            <a:off x="3297624" y="1259503"/>
            <a:ext cx="3050571" cy="327807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6117146" name="Shape 10"/>
          <p:cNvSpPr/>
          <p:nvPr/>
        </p:nvSpPr>
        <p:spPr bwMode="auto">
          <a:xfrm>
            <a:off x="3571944" y="1526938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7195183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31964" y="1686958"/>
            <a:ext cx="320040" cy="320040"/>
          </a:xfrm>
          <a:prstGeom prst="rect">
            <a:avLst/>
          </a:prstGeom>
        </p:spPr>
      </p:pic>
      <p:sp>
        <p:nvSpPr>
          <p:cNvPr id="526763527" name="Text 11"/>
          <p:cNvSpPr/>
          <p:nvPr/>
        </p:nvSpPr>
        <p:spPr bwMode="auto">
          <a:xfrm>
            <a:off x="4349184" y="152693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Работы специалиста</a:t>
            </a:r>
            <a:endParaRPr lang="en-US" sz="1300"/>
          </a:p>
        </p:txBody>
      </p:sp>
      <p:sp>
        <p:nvSpPr>
          <p:cNvPr id="28280413" name="Text 12"/>
          <p:cNvSpPr/>
          <p:nvPr/>
        </p:nvSpPr>
        <p:spPr bwMode="auto">
          <a:xfrm>
            <a:off x="4349184" y="189269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20 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человеко-часов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 × 1500 ₽/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час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1525856823" name="Text 13"/>
          <p:cNvSpPr/>
          <p:nvPr/>
        </p:nvSpPr>
        <p:spPr bwMode="auto">
          <a:xfrm>
            <a:off x="2856949" y="2454557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400" b="1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30000 </a:t>
            </a:r>
            <a:r>
              <a:rPr lang="en-US" sz="5400" b="1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₽</a:t>
            </a:r>
            <a:endParaRPr lang="en-US" sz="5400">
              <a:latin typeface="Arial Black"/>
            </a:endParaRPr>
          </a:p>
        </p:txBody>
      </p:sp>
      <p:sp>
        <p:nvSpPr>
          <p:cNvPr id="1444959082" name="Text 14"/>
          <p:cNvSpPr/>
          <p:nvPr/>
        </p:nvSpPr>
        <p:spPr bwMode="auto">
          <a:xfrm>
            <a:off x="2856949" y="39889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Единоразовые затраты на внедрение</a:t>
            </a:r>
            <a:endParaRPr lang="en-US" sz="1100"/>
          </a:p>
        </p:txBody>
      </p:sp>
      <p:sp>
        <p:nvSpPr>
          <p:cNvPr id="486216073" name="Shape 3"/>
          <p:cNvSpPr/>
          <p:nvPr/>
        </p:nvSpPr>
        <p:spPr bwMode="auto">
          <a:xfrm>
            <a:off x="6348744" y="1273274"/>
            <a:ext cx="2797734" cy="32918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93394532" name="Text 5"/>
          <p:cNvSpPr/>
          <p:nvPr/>
        </p:nvSpPr>
        <p:spPr bwMode="auto">
          <a:xfrm>
            <a:off x="6787491" y="1554479"/>
            <a:ext cx="21303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</a:rPr>
              <a:t>Стоимость</a:t>
            </a:r>
            <a:r>
              <a:rPr lang="en-US" sz="1300" b="1">
                <a:solidFill>
                  <a:srgbClr val="FFFFFF"/>
                </a:solidFill>
                <a:latin typeface="Arial Black"/>
              </a:rPr>
              <a:t> </a:t>
            </a:r>
            <a:r>
              <a:rPr lang="en-US" sz="1300" b="1">
                <a:solidFill>
                  <a:srgbClr val="FFFFFF"/>
                </a:solidFill>
                <a:latin typeface="Arial Black"/>
              </a:rPr>
              <a:t>оборудования</a:t>
            </a:r>
            <a:endParaRPr/>
          </a:p>
        </p:txBody>
      </p:sp>
      <p:sp>
        <p:nvSpPr>
          <p:cNvPr id="105545086" name="TextBox 22"/>
          <p:cNvSpPr txBox="1"/>
          <p:nvPr/>
        </p:nvSpPr>
        <p:spPr bwMode="auto">
          <a:xfrm>
            <a:off x="6431097" y="2688803"/>
            <a:ext cx="26302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sz="44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30000</a:t>
            </a:r>
            <a:r>
              <a:rPr lang="en-US" sz="4400" b="1" i="0" u="none" strike="noStrike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 ₽</a:t>
            </a:r>
            <a:endParaRPr lang="ru-RU" sz="4400"/>
          </a:p>
          <a:p>
            <a:pPr algn="ctr">
              <a:defRPr/>
            </a:pPr>
            <a:endParaRPr lang="ru-RU"/>
          </a:p>
        </p:txBody>
      </p:sp>
      <p:sp>
        <p:nvSpPr>
          <p:cNvPr id="330612990" name="TextBox 23"/>
          <p:cNvSpPr txBox="1"/>
          <p:nvPr/>
        </p:nvSpPr>
        <p:spPr bwMode="auto">
          <a:xfrm>
            <a:off x="6431096" y="4017714"/>
            <a:ext cx="2547651" cy="5386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sz="1100" b="0" i="1" u="none" strike="noStrike">
                <a:solidFill>
                  <a:srgbClr val="ED7D31"/>
                </a:solidFill>
                <a:latin typeface="Calibri"/>
                <a:ea typeface="Calibri"/>
                <a:cs typeface="Calibri"/>
              </a:rPr>
              <a:t>Единоразовые затраты на внедрение</a:t>
            </a:r>
            <a:endParaRPr lang="ru-RU">
              <a:solidFill>
                <a:srgbClr val="ED7D31"/>
              </a:solidFill>
            </a:endParaRPr>
          </a:p>
          <a:p>
            <a:pPr algn="ctr">
              <a:defRPr/>
            </a:pPr>
            <a:endParaRPr lang="ru-RU">
              <a:solidFill>
                <a:srgbClr val="ED7D3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74795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487148341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Выводы</a:t>
            </a:r>
            <a:endParaRPr lang="en-US" sz="2800"/>
          </a:p>
        </p:txBody>
      </p:sp>
      <p:sp>
        <p:nvSpPr>
          <p:cNvPr id="1191454435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Цели и задачи дипломного проекта выполнены</a:t>
            </a:r>
            <a:endParaRPr lang="en-US" sz="1300"/>
          </a:p>
        </p:txBody>
      </p:sp>
      <p:sp>
        <p:nvSpPr>
          <p:cNvPr id="604215010" name="Shape 3"/>
          <p:cNvSpPr/>
          <p:nvPr/>
        </p:nvSpPr>
        <p:spPr bwMode="auto">
          <a:xfrm>
            <a:off x="502920" y="1280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20520212" name="Shape 4"/>
          <p:cNvSpPr/>
          <p:nvPr/>
        </p:nvSpPr>
        <p:spPr bwMode="auto">
          <a:xfrm>
            <a:off x="667512" y="1508759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5817630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1634490"/>
            <a:ext cx="251460" cy="251460"/>
          </a:xfrm>
          <a:prstGeom prst="rect">
            <a:avLst/>
          </a:prstGeom>
        </p:spPr>
      </p:pic>
      <p:sp>
        <p:nvSpPr>
          <p:cNvPr id="1768541092" name="Text 5"/>
          <p:cNvSpPr/>
          <p:nvPr/>
        </p:nvSpPr>
        <p:spPr bwMode="auto">
          <a:xfrm>
            <a:off x="132588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Изучены теоретические основы организации и мониторинга ЛВС</a:t>
            </a:r>
            <a:endParaRPr lang="en-US" sz="1200"/>
          </a:p>
        </p:txBody>
      </p:sp>
      <p:sp>
        <p:nvSpPr>
          <p:cNvPr id="971465954" name="Shape 6"/>
          <p:cNvSpPr/>
          <p:nvPr/>
        </p:nvSpPr>
        <p:spPr bwMode="auto">
          <a:xfrm>
            <a:off x="4663440" y="1280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80544684" name="Shape 7"/>
          <p:cNvSpPr/>
          <p:nvPr/>
        </p:nvSpPr>
        <p:spPr bwMode="auto">
          <a:xfrm>
            <a:off x="4828032" y="1508759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01598221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1634490"/>
            <a:ext cx="251460" cy="251460"/>
          </a:xfrm>
          <a:prstGeom prst="rect">
            <a:avLst/>
          </a:prstGeom>
        </p:spPr>
      </p:pic>
      <p:sp>
        <p:nvSpPr>
          <p:cNvPr id="1024403945" name="Text 8"/>
          <p:cNvSpPr/>
          <p:nvPr/>
        </p:nvSpPr>
        <p:spPr bwMode="auto">
          <a:xfrm>
            <a:off x="548640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Проведён сравнительный анализ 11 систем по 10 критериям</a:t>
            </a:r>
            <a:endParaRPr lang="en-US" sz="1200"/>
          </a:p>
        </p:txBody>
      </p:sp>
      <p:sp>
        <p:nvSpPr>
          <p:cNvPr id="354915399" name="Shape 9"/>
          <p:cNvSpPr/>
          <p:nvPr/>
        </p:nvSpPr>
        <p:spPr bwMode="auto">
          <a:xfrm>
            <a:off x="502920" y="2423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71664302" name="Shape 10"/>
          <p:cNvSpPr/>
          <p:nvPr/>
        </p:nvSpPr>
        <p:spPr bwMode="auto">
          <a:xfrm>
            <a:off x="667512" y="2651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5279112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2777490"/>
            <a:ext cx="251460" cy="251460"/>
          </a:xfrm>
          <a:prstGeom prst="rect">
            <a:avLst/>
          </a:prstGeom>
        </p:spPr>
      </p:pic>
      <p:sp>
        <p:nvSpPr>
          <p:cNvPr id="213729424" name="Text 11"/>
          <p:cNvSpPr/>
          <p:nvPr/>
        </p:nvSpPr>
        <p:spPr bwMode="auto">
          <a:xfrm>
            <a:off x="1325880" y="2514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Обоснованно выбрана система Zabbix</a:t>
            </a:r>
            <a:endParaRPr lang="en-US" sz="1200"/>
          </a:p>
        </p:txBody>
      </p:sp>
      <p:sp>
        <p:nvSpPr>
          <p:cNvPr id="1013106372" name="Shape 12"/>
          <p:cNvSpPr/>
          <p:nvPr/>
        </p:nvSpPr>
        <p:spPr bwMode="auto">
          <a:xfrm>
            <a:off x="4663440" y="2423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95062344" name="Shape 13"/>
          <p:cNvSpPr/>
          <p:nvPr/>
        </p:nvSpPr>
        <p:spPr bwMode="auto">
          <a:xfrm>
            <a:off x="4828032" y="2651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99415043" name="Image 3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2777490"/>
            <a:ext cx="251460" cy="251460"/>
          </a:xfrm>
          <a:prstGeom prst="rect">
            <a:avLst/>
          </a:prstGeom>
        </p:spPr>
      </p:pic>
      <p:sp>
        <p:nvSpPr>
          <p:cNvPr id="295070591" name="Text 14"/>
          <p:cNvSpPr/>
          <p:nvPr/>
        </p:nvSpPr>
        <p:spPr bwMode="auto">
          <a:xfrm>
            <a:off x="5486400" y="2514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Развёрнута и настроена на отечественной ОС Альт Сервер 10</a:t>
            </a:r>
            <a:endParaRPr lang="en-US" sz="1200"/>
          </a:p>
        </p:txBody>
      </p:sp>
      <p:sp>
        <p:nvSpPr>
          <p:cNvPr id="1656284031" name="Shape 15"/>
          <p:cNvSpPr/>
          <p:nvPr/>
        </p:nvSpPr>
        <p:spPr bwMode="auto">
          <a:xfrm>
            <a:off x="50292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16325894" name="Shape 16"/>
          <p:cNvSpPr/>
          <p:nvPr/>
        </p:nvSpPr>
        <p:spPr bwMode="auto">
          <a:xfrm>
            <a:off x="667512" y="3794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36917188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3920490"/>
            <a:ext cx="251460" cy="251460"/>
          </a:xfrm>
          <a:prstGeom prst="rect">
            <a:avLst/>
          </a:prstGeom>
        </p:spPr>
      </p:pic>
      <p:sp>
        <p:nvSpPr>
          <p:cNvPr id="1269719802" name="Text 17"/>
          <p:cNvSpPr/>
          <p:nvPr/>
        </p:nvSpPr>
        <p:spPr bwMode="auto">
          <a:xfrm>
            <a:off x="13258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Подтверждена работоспособность </a:t>
            </a:r>
            <a:endParaRPr lang="en-US" sz="1200"/>
          </a:p>
        </p:txBody>
      </p:sp>
      <p:sp>
        <p:nvSpPr>
          <p:cNvPr id="1406014147" name="Shape 18"/>
          <p:cNvSpPr/>
          <p:nvPr/>
        </p:nvSpPr>
        <p:spPr bwMode="auto">
          <a:xfrm>
            <a:off x="466344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4098396" name="Shape 19"/>
          <p:cNvSpPr/>
          <p:nvPr/>
        </p:nvSpPr>
        <p:spPr bwMode="auto">
          <a:xfrm>
            <a:off x="4828032" y="3794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61509078" name="Image 5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3920490"/>
            <a:ext cx="251460" cy="251460"/>
          </a:xfrm>
          <a:prstGeom prst="rect">
            <a:avLst/>
          </a:prstGeom>
        </p:spPr>
      </p:pic>
      <p:sp>
        <p:nvSpPr>
          <p:cNvPr id="167280004" name="Text 20"/>
          <p:cNvSpPr/>
          <p:nvPr/>
        </p:nvSpPr>
        <p:spPr bwMode="auto">
          <a:xfrm>
            <a:off x="548640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Выполнено экономическое обоснование внедрения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0F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272880" name="Shape 0"/>
          <p:cNvSpPr/>
          <p:nvPr/>
        </p:nvSpPr>
        <p:spPr bwMode="auto">
          <a:xfrm>
            <a:off x="457200" y="365760"/>
            <a:ext cx="137160" cy="137160"/>
          </a:xfrm>
          <a:prstGeom prst="ellipse">
            <a:avLst/>
          </a:prstGeom>
          <a:solidFill>
            <a:srgbClr val="E94B35">
              <a:alpha val="8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983992647" name="Shape 1"/>
          <p:cNvSpPr/>
          <p:nvPr/>
        </p:nvSpPr>
        <p:spPr bwMode="auto">
          <a:xfrm>
            <a:off x="822960" y="365760"/>
            <a:ext cx="137160" cy="137160"/>
          </a:xfrm>
          <a:prstGeom prst="ellipse">
            <a:avLst/>
          </a:prstGeom>
          <a:solidFill>
            <a:srgbClr val="E94B35">
              <a:alpha val="65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750687154" name="Shape 2"/>
          <p:cNvSpPr/>
          <p:nvPr/>
        </p:nvSpPr>
        <p:spPr bwMode="auto">
          <a:xfrm>
            <a:off x="1188720" y="365760"/>
            <a:ext cx="137160" cy="13716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311412695" name="Shape 3"/>
          <p:cNvSpPr/>
          <p:nvPr/>
        </p:nvSpPr>
        <p:spPr bwMode="auto">
          <a:xfrm>
            <a:off x="1554480" y="365760"/>
            <a:ext cx="137160" cy="137160"/>
          </a:xfrm>
          <a:prstGeom prst="ellipse">
            <a:avLst/>
          </a:prstGeom>
          <a:solidFill>
            <a:srgbClr val="E94B35">
              <a:alpha val="35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35650924" name="Shape 4"/>
          <p:cNvSpPr/>
          <p:nvPr/>
        </p:nvSpPr>
        <p:spPr bwMode="auto">
          <a:xfrm>
            <a:off x="1920240" y="365760"/>
            <a:ext cx="137160" cy="13716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146470773" name="Text 5"/>
          <p:cNvSpPr/>
          <p:nvPr/>
        </p:nvSpPr>
        <p:spPr bwMode="auto">
          <a:xfrm>
            <a:off x="50292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Спасибо за внимание!</a:t>
            </a:r>
            <a:endParaRPr lang="en-US" sz="4400"/>
          </a:p>
        </p:txBody>
      </p:sp>
      <p:sp>
        <p:nvSpPr>
          <p:cNvPr id="1079644608" name="Shape 6"/>
          <p:cNvSpPr/>
          <p:nvPr/>
        </p:nvSpPr>
        <p:spPr bwMode="auto">
          <a:xfrm>
            <a:off x="4023360" y="2880360"/>
            <a:ext cx="109728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439011236" name="Shape 8"/>
          <p:cNvSpPr/>
          <p:nvPr/>
        </p:nvSpPr>
        <p:spPr bwMode="auto">
          <a:xfrm>
            <a:off x="4206240" y="3661456"/>
            <a:ext cx="731520" cy="7315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5986051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382234" y="3844336"/>
            <a:ext cx="365760" cy="365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Мониторинг ЛВС</dc:title>
  <dc:subject>PptxGenJS Presentation</dc:subject>
  <dc:creator>Диплом 222СА</dc:creator>
  <cp:lastModifiedBy/>
  <cp:revision>86</cp:revision>
  <dcterms:created xsi:type="dcterms:W3CDTF">2026-05-15T06:17:00Z</dcterms:created>
  <dcterms:modified xsi:type="dcterms:W3CDTF">2026-06-05T04:11:43Z</dcterms:modified>
</cp:coreProperties>
</file>