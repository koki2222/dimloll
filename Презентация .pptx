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6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4.png" ContentType="image/png"/>
  <Override PartName="/ppt/media/image5.png" ContentType="image/png"/>
  <Override PartName="/ppt/media/image21.png" ContentType="image/png"/>
  <Override PartName="/ppt/media/image19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Zabbix</c:v>
                </c:pt>
              </c:strCache>
            </c:strRef>
          </c:tx>
          <c:spPr>
            <a:solidFill>
              <a:srgbClr val="e94b35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Prometheus</c:v>
                </c:pt>
              </c:strCache>
            </c:strRef>
          </c:tx>
          <c:spPr>
            <a:solidFill>
              <a:srgbClr val="0e7c8a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PRTG</c:v>
                </c:pt>
              </c:strCache>
            </c:strRef>
          </c:tx>
          <c:spPr>
            <a:solidFill>
              <a:srgbClr val="f39c12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gapWidth val="150"/>
        <c:overlap val="0"/>
        <c:axId val="44814115"/>
        <c:axId val="64621644"/>
      </c:barChart>
      <c:catAx>
        <c:axId val="4481411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000" strike="noStrike" u="none">
                <a:solidFill>
                  <a:srgbClr val="1a2533"/>
                </a:solidFill>
                <a:uFillTx/>
                <a:latin typeface="Calibri"/>
                <a:ea typeface="Arial"/>
              </a:defRPr>
            </a:pPr>
          </a:p>
        </c:txPr>
        <c:crossAx val="64621644"/>
        <c:crosses val="autoZero"/>
        <c:auto val="1"/>
        <c:lblAlgn val="ctr"/>
        <c:lblOffset val="100"/>
        <c:noMultiLvlLbl val="0"/>
      </c:catAx>
      <c:valAx>
        <c:axId val="64621644"/>
        <c:scaling>
          <c:orientation val="minMax"/>
          <c:max val="5"/>
          <c:min val="0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900" strike="noStrike" u="none">
                <a:solidFill>
                  <a:srgbClr val="6b7785"/>
                </a:solidFill>
                <a:uFillTx/>
                <a:latin typeface="Arial"/>
                <a:ea typeface="Arial"/>
              </a:defRPr>
            </a:pPr>
          </a:p>
        </c:txPr>
        <c:crossAx val="44814115"/>
        <c:crosses val="autoZero"/>
        <c:crossBetween val="between"/>
        <c:majorUnit val="1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00" strike="noStrike" u="none">
              <a:solidFill>
                <a:srgbClr val="1a2533"/>
              </a:solidFill>
              <a:uFillTx/>
              <a:latin typeface="Calibri"/>
              <a:ea typeface="Arial"/>
            </a:defRPr>
          </a:pPr>
        </a:p>
      </c:txPr>
    </c:legend>
    <c:plotVisOnly val="1"/>
    <c:dispBlanksAs val="span"/>
  </c:chart>
  <c:spPr>
    <a:solidFill>
      <a:srgbClr val="ffffff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Click to move the slide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9E6D741-2CFD-48D5-84DE-C76609654AED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DFFA88-B3F4-4189-ABBC-A9475FF2EE7A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5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DC51FC-5C9A-4737-82BF-623D72F4023F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6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EC5825-8A07-4E84-94F1-A4F80A408D7E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7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3AD985-8332-45A1-85E1-A1734FD76B56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8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A426C9-17A9-4B1D-BA20-E1F176A4AAAA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9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F60770-A607-4853-84CE-7C9E403C33F0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0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713B5E-3529-4A30-BEF7-64EC9DDB6030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1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072283-3BF0-46B4-81A8-C76ADA46ACDE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2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F0F0AF-3BA1-47F3-AFD7-6ED582FFAC92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3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F602C9-4DBD-4E3D-9602-DC03651816BA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4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A5B9B2-B047-488D-8A8E-B0C16B096C76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5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103344-638B-4CBE-8C5B-37BAA90DB927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6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3B78BB-0939-475B-A650-32D645A363B3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7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C4B7CE-1EB5-46B0-91E0-D2025723E805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Click to edit the title text format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Calibri"/>
              </a:rPr>
              <a:t>Click to edit the outline text format</a:t>
            </a:r>
            <a:endParaRPr b="0" lang="ru-RU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  <a:endParaRPr b="0" lang="ru-RU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  <a:endParaRPr b="0" lang="ru-RU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image" Target="../media/image25.png"/><Relationship Id="rId6" Type="http://schemas.openxmlformats.org/officeDocument/2006/relationships/image" Target="../media/image2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7315200" y="274320"/>
            <a:ext cx="164160" cy="164160"/>
          </a:xfrm>
          <a:prstGeom prst="ellipse">
            <a:avLst/>
          </a:prstGeom>
          <a:solidFill>
            <a:srgbClr val="e94b35">
              <a:alpha val="7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955280" y="274320"/>
            <a:ext cx="164160" cy="164160"/>
          </a:xfrm>
          <a:prstGeom prst="ellipse">
            <a:avLst/>
          </a:prstGeom>
          <a:solidFill>
            <a:srgbClr val="e94b35">
              <a:alpha val="6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8595360" y="274320"/>
            <a:ext cx="164160" cy="16416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315200" y="914400"/>
            <a:ext cx="164160" cy="164160"/>
          </a:xfrm>
          <a:prstGeom prst="ellipse">
            <a:avLst/>
          </a:prstGeom>
          <a:solidFill>
            <a:srgbClr val="e94b35">
              <a:alpha val="4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955280" y="914400"/>
            <a:ext cx="164160" cy="164160"/>
          </a:xfrm>
          <a:prstGeom prst="ellipse">
            <a:avLst/>
          </a:prstGeom>
          <a:solidFill>
            <a:srgbClr val="e94b35">
              <a:alpha val="3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595360" y="914400"/>
            <a:ext cx="164160" cy="16416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7397280" y="356400"/>
            <a:ext cx="640080" cy="640080"/>
          </a:xfrm>
          <a:prstGeom prst="line">
            <a:avLst/>
          </a:prstGeom>
          <a:ln w="12700">
            <a:solidFill>
              <a:srgbClr val="e94b35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8037360" y="356400"/>
            <a:ext cx="640080" cy="640080"/>
          </a:xfrm>
          <a:prstGeom prst="line">
            <a:avLst/>
          </a:prstGeom>
          <a:ln w="12700">
            <a:solidFill>
              <a:srgbClr val="e94b35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502920" y="320040"/>
            <a:ext cx="676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ГБПОУ НСО «Новосибирский политехнический колледж»</a:t>
            </a:r>
            <a:endParaRPr b="0" lang="ru-RU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502920" y="1371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799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ДИПЛОМН</a:t>
            </a:r>
            <a:r>
              <a:rPr b="1" lang="ru-RU" sz="1200" spc="799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АЯ</a:t>
            </a:r>
            <a:r>
              <a:rPr b="1" lang="en-US" sz="1200" spc="799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 </a:t>
            </a:r>
            <a:r>
              <a:rPr b="1" lang="ru-RU" sz="1200" spc="799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РАБОТА</a:t>
            </a:r>
            <a:endParaRPr b="0" lang="ru-RU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02920" y="1691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Мониторинг</a:t>
            </a:r>
            <a:endParaRPr b="0" lang="ru-RU" sz="5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02920" y="25146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локально-вычислительной сети</a:t>
            </a: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502920" y="3337560"/>
            <a:ext cx="731160" cy="36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02920" y="3520440"/>
            <a:ext cx="8229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Выполнил студент </a:t>
            </a:r>
            <a:r>
              <a:rPr b="0" lang="ru-RU" sz="13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Моногаров М.А.</a:t>
            </a:r>
            <a:endParaRPr b="0" lang="ru-RU" sz="13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группы 222СА</a:t>
            </a:r>
            <a:br>
              <a:rPr sz="1400"/>
            </a:br>
            <a:r>
              <a:rPr b="0" i="1" lang="en-US" sz="11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Специальность 09.02.06 «Сетевое и системное администрирование»</a:t>
            </a:r>
            <a:br>
              <a:rPr sz="1100"/>
            </a:br>
            <a:r>
              <a:rPr b="0" lang="en-US" sz="600" strike="noStrike" u="none">
                <a:solidFill>
                  <a:srgbClr val="000000"/>
                </a:solidFill>
                <a:uFillTx/>
                <a:latin typeface="Calibri"/>
                <a:ea typeface="Calibri"/>
              </a:rPr>
              <a:t> </a:t>
            </a:r>
            <a:br>
              <a:rPr sz="600"/>
            </a:br>
            <a:r>
              <a:rPr b="0" lang="en-US" sz="12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Руководитель: Егорова А. А.</a:t>
            </a:r>
            <a:endParaRPr b="0" lang="ru-RU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502920" y="47548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Новосибирск 2026</a:t>
            </a:r>
            <a:endParaRPr b="0" lang="ru-RU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Актуальность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Почему мониторинг ЛВС критически важен сегодня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0292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02920" y="1280160"/>
            <a:ext cx="4023000" cy="5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731520" y="150876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9" name="Image 0" descr="preencoded.png"/>
          <p:cNvPicPr/>
          <p:nvPr/>
        </p:nvPicPr>
        <p:blipFill>
          <a:blip r:embed="rId1"/>
          <a:stretch/>
        </p:blipFill>
        <p:spPr>
          <a:xfrm>
            <a:off x="89172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6"/>
          <p:cNvSpPr/>
          <p:nvPr/>
        </p:nvSpPr>
        <p:spPr>
          <a:xfrm>
            <a:off x="146304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Рост сложности сетей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3152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Десятки серверов, сотни рабочих мест, гибридные среды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466344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4663440" y="1280160"/>
            <a:ext cx="402300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4892040" y="150876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35" name="Image 1" descr="preencoded.png"/>
          <p:cNvPicPr/>
          <p:nvPr/>
        </p:nvPicPr>
        <p:blipFill>
          <a:blip r:embed="rId2"/>
          <a:stretch/>
        </p:blipFill>
        <p:spPr>
          <a:xfrm>
            <a:off x="505224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1"/>
          <p:cNvSpPr/>
          <p:nvPr/>
        </p:nvSpPr>
        <p:spPr>
          <a:xfrm>
            <a:off x="562356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Цена простоя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" name="Text 12"/>
          <p:cNvSpPr/>
          <p:nvPr/>
        </p:nvSpPr>
        <p:spPr>
          <a:xfrm>
            <a:off x="489204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Любой сбой ЛВС останавливает бизнес-процессы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Shape 13"/>
          <p:cNvSpPr/>
          <p:nvPr/>
        </p:nvSpPr>
        <p:spPr>
          <a:xfrm>
            <a:off x="50292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02920" y="3063240"/>
            <a:ext cx="4023000" cy="5436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0" name="Shape 15"/>
          <p:cNvSpPr/>
          <p:nvPr/>
        </p:nvSpPr>
        <p:spPr>
          <a:xfrm>
            <a:off x="731520" y="329184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41" name="Image 2" descr="preencoded.png"/>
          <p:cNvPicPr/>
          <p:nvPr/>
        </p:nvPicPr>
        <p:blipFill>
          <a:blip r:embed="rId3"/>
          <a:stretch/>
        </p:blipFill>
        <p:spPr>
          <a:xfrm>
            <a:off x="89172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6"/>
          <p:cNvSpPr/>
          <p:nvPr/>
        </p:nvSpPr>
        <p:spPr>
          <a:xfrm>
            <a:off x="146304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"/>
              </a:rPr>
              <a:t>Локальные решения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73152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Переход на отечественные ОС из реестра Минцифры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466344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" name="Shape 19"/>
          <p:cNvSpPr/>
          <p:nvPr/>
        </p:nvSpPr>
        <p:spPr>
          <a:xfrm>
            <a:off x="4663440" y="3063240"/>
            <a:ext cx="4023000" cy="543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4892040" y="329184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7" name="Image 3" descr="preencoded.png"/>
          <p:cNvPicPr/>
          <p:nvPr/>
        </p:nvPicPr>
        <p:blipFill>
          <a:blip r:embed="rId4"/>
          <a:stretch/>
        </p:blipFill>
        <p:spPr>
          <a:xfrm>
            <a:off x="505224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1"/>
          <p:cNvSpPr/>
          <p:nvPr/>
        </p:nvSpPr>
        <p:spPr>
          <a:xfrm>
            <a:off x="562356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Превентивный контроль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489204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Обнаружение проблем до их влияния на пользователей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Цель и задачи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Что предстояло сделать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502920" y="1280160"/>
            <a:ext cx="8137800" cy="9140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731520" y="1463040"/>
            <a:ext cx="548280" cy="5482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55" name="Image 0" descr="preencoded.png"/>
          <p:cNvPicPr/>
          <p:nvPr/>
        </p:nvPicPr>
        <p:blipFill>
          <a:blip r:embed="rId1"/>
          <a:stretch/>
        </p:blipFill>
        <p:spPr>
          <a:xfrm>
            <a:off x="868680" y="160020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5"/>
          <p:cNvSpPr/>
          <p:nvPr/>
        </p:nvSpPr>
        <p:spPr>
          <a:xfrm>
            <a:off x="1463040" y="137160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601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ЦЕЛЬ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463040" y="1645920"/>
            <a:ext cx="7040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Сравнительный анализ систем мониторинга и практическое внедрение Zabbix на отечественной ОС Альт Сервер 10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Text 7"/>
          <p:cNvSpPr/>
          <p:nvPr/>
        </p:nvSpPr>
        <p:spPr>
          <a:xfrm>
            <a:off x="502920" y="242316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601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ЗАДАЧИ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" name="Shape 8"/>
          <p:cNvSpPr/>
          <p:nvPr/>
        </p:nvSpPr>
        <p:spPr>
          <a:xfrm>
            <a:off x="502920" y="278892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502920" y="27889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1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1143000" y="2743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Изучить теоретические основы организации и мониторинга ЛВС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Shape 11"/>
          <p:cNvSpPr/>
          <p:nvPr/>
        </p:nvSpPr>
        <p:spPr>
          <a:xfrm>
            <a:off x="4663440" y="278892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3" name="Text 12"/>
          <p:cNvSpPr/>
          <p:nvPr/>
        </p:nvSpPr>
        <p:spPr>
          <a:xfrm>
            <a:off x="4663440" y="27889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2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Text 13"/>
          <p:cNvSpPr/>
          <p:nvPr/>
        </p:nvSpPr>
        <p:spPr>
          <a:xfrm>
            <a:off x="5303520" y="2743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Сравнить существующие системы мониторинга по 10 критериям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Shape 14"/>
          <p:cNvSpPr/>
          <p:nvPr/>
        </p:nvSpPr>
        <p:spPr>
          <a:xfrm>
            <a:off x="502920" y="356616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502920" y="3566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3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1143000" y="35204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Обосновать выбор оптимальной системы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4663440" y="356616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9" name="Text 18"/>
          <p:cNvSpPr/>
          <p:nvPr/>
        </p:nvSpPr>
        <p:spPr>
          <a:xfrm>
            <a:off x="4663440" y="3566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4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Text 19"/>
          <p:cNvSpPr/>
          <p:nvPr/>
        </p:nvSpPr>
        <p:spPr>
          <a:xfrm>
            <a:off x="5303520" y="35204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Развернуть и настроить систему на тестовом стенде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Shape 20"/>
          <p:cNvSpPr/>
          <p:nvPr/>
        </p:nvSpPr>
        <p:spPr>
          <a:xfrm>
            <a:off x="502920" y="4343400"/>
            <a:ext cx="502560" cy="50256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2" name="Text 21"/>
          <p:cNvSpPr/>
          <p:nvPr/>
        </p:nvSpPr>
        <p:spPr>
          <a:xfrm>
            <a:off x="502920" y="4343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5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Text 22"/>
          <p:cNvSpPr/>
          <p:nvPr/>
        </p:nvSpPr>
        <p:spPr>
          <a:xfrm>
            <a:off x="1143000" y="429768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Выполнить экономическое обоснование проекта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Что такое ЛВС и её мониторинг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Ключевые понятия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502920" y="1280160"/>
            <a:ext cx="3840120" cy="347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777240" y="155448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937440" y="17146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5"/>
          <p:cNvSpPr/>
          <p:nvPr/>
        </p:nvSpPr>
        <p:spPr>
          <a:xfrm>
            <a:off x="1554480" y="1600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ЛВС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777240" y="2331720"/>
            <a:ext cx="3291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Группа компьютеров и периферийного оборудования, объединённых в пределах ограниченной территории и использующих общие коммуникационные ресурсы.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Shape 7"/>
          <p:cNvSpPr/>
          <p:nvPr/>
        </p:nvSpPr>
        <p:spPr>
          <a:xfrm>
            <a:off x="777240" y="3520440"/>
            <a:ext cx="3291840" cy="360"/>
          </a:xfrm>
          <a:prstGeom prst="line">
            <a:avLst/>
          </a:prstGeom>
          <a:ln w="12700">
            <a:solidFill>
              <a:srgbClr val="d6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777240" y="3703320"/>
            <a:ext cx="502560" cy="5025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84" name="Image 1" descr="preencoded.png"/>
          <p:cNvPicPr/>
          <p:nvPr/>
        </p:nvPicPr>
        <p:blipFill>
          <a:blip r:embed="rId2"/>
          <a:stretch/>
        </p:blipFill>
        <p:spPr>
          <a:xfrm>
            <a:off x="902880" y="382896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9"/>
          <p:cNvSpPr/>
          <p:nvPr/>
        </p:nvSpPr>
        <p:spPr>
          <a:xfrm>
            <a:off x="1417320" y="3703320"/>
            <a:ext cx="2742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Мониторинг — непрерывное наблюдение за состоянием узлов, сервисов и каналов с автоматическим оповещением о проблемах.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4663440" y="1280160"/>
            <a:ext cx="4023000" cy="347436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4663440" y="141732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39c12"/>
                </a:solidFill>
                <a:uFillTx/>
                <a:latin typeface="Arial Black"/>
                <a:ea typeface="Arial Black"/>
              </a:rPr>
              <a:t>Объекты мониторинга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6263640" y="2240280"/>
            <a:ext cx="822600" cy="82260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89" name="Image 2" descr="preencoded.png"/>
          <p:cNvPicPr/>
          <p:nvPr/>
        </p:nvPicPr>
        <p:blipFill>
          <a:blip r:embed="rId3"/>
          <a:stretch/>
        </p:blipFill>
        <p:spPr>
          <a:xfrm>
            <a:off x="6446520" y="24231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3"/>
          <p:cNvSpPr/>
          <p:nvPr/>
        </p:nvSpPr>
        <p:spPr>
          <a:xfrm>
            <a:off x="5943600" y="310896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Shape 15"/>
          <p:cNvSpPr/>
          <p:nvPr/>
        </p:nvSpPr>
        <p:spPr>
          <a:xfrm>
            <a:off x="4937760" y="33832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92" name="Image 3" descr="preencoded.png"/>
          <p:cNvPicPr/>
          <p:nvPr/>
        </p:nvPicPr>
        <p:blipFill>
          <a:blip r:embed="rId4"/>
          <a:stretch/>
        </p:blipFill>
        <p:spPr>
          <a:xfrm>
            <a:off x="5047560" y="3493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 16"/>
          <p:cNvSpPr/>
          <p:nvPr/>
        </p:nvSpPr>
        <p:spPr>
          <a:xfrm>
            <a:off x="4572000" y="39776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Сервер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" name="Shape 18"/>
          <p:cNvSpPr/>
          <p:nvPr/>
        </p:nvSpPr>
        <p:spPr>
          <a:xfrm>
            <a:off x="5852160" y="38404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95" name="Image 4" descr="preencoded.png"/>
          <p:cNvPicPr/>
          <p:nvPr/>
        </p:nvPicPr>
        <p:blipFill>
          <a:blip r:embed="rId5"/>
          <a:stretch/>
        </p:blipFill>
        <p:spPr>
          <a:xfrm>
            <a:off x="5961960" y="39502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9"/>
          <p:cNvSpPr/>
          <p:nvPr/>
        </p:nvSpPr>
        <p:spPr>
          <a:xfrm>
            <a:off x="5486400" y="44348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ПК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" name="Shape 21"/>
          <p:cNvSpPr/>
          <p:nvPr/>
        </p:nvSpPr>
        <p:spPr>
          <a:xfrm>
            <a:off x="6949440" y="38404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98" name="Image 5" descr="preencoded.png"/>
          <p:cNvPicPr/>
          <p:nvPr/>
        </p:nvPicPr>
        <p:blipFill>
          <a:blip r:embed="rId6"/>
          <a:stretch/>
        </p:blipFill>
        <p:spPr>
          <a:xfrm>
            <a:off x="7059240" y="39502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22"/>
          <p:cNvSpPr/>
          <p:nvPr/>
        </p:nvSpPr>
        <p:spPr>
          <a:xfrm>
            <a:off x="6583680" y="44348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Роутер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Shape 24"/>
          <p:cNvSpPr/>
          <p:nvPr/>
        </p:nvSpPr>
        <p:spPr>
          <a:xfrm>
            <a:off x="7863840" y="3383280"/>
            <a:ext cx="548280" cy="5482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01" name="Image 6" descr="preencoded.png"/>
          <p:cNvPicPr/>
          <p:nvPr/>
        </p:nvPicPr>
        <p:blipFill>
          <a:blip r:embed="rId7"/>
          <a:stretch/>
        </p:blipFill>
        <p:spPr>
          <a:xfrm>
            <a:off x="7973640" y="3493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 25"/>
          <p:cNvSpPr/>
          <p:nvPr/>
        </p:nvSpPr>
        <p:spPr>
          <a:xfrm>
            <a:off x="7498080" y="397764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Коммутатор</a:t>
            </a:r>
            <a:endParaRPr b="0" lang="ru-RU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Обзор систем мониторинга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Какие решения рассматривались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02920" y="1234440"/>
            <a:ext cx="1874160" cy="1554120"/>
          </a:xfrm>
          <a:prstGeom prst="rect">
            <a:avLst/>
          </a:prstGeom>
          <a:solidFill>
            <a:srgbClr val="0f2a47"/>
          </a:solidFill>
          <a:ln w="254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1120320" y="141732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08" name="Image 0" descr="preencoded.png"/>
          <p:cNvPicPr/>
          <p:nvPr/>
        </p:nvPicPr>
        <p:blipFill>
          <a:blip r:embed="rId1"/>
          <a:stretch/>
        </p:blipFill>
        <p:spPr>
          <a:xfrm>
            <a:off x="128016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5"/>
          <p:cNvSpPr/>
          <p:nvPr/>
        </p:nvSpPr>
        <p:spPr>
          <a:xfrm>
            <a:off x="59436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59436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f39c12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254196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Shape 8"/>
          <p:cNvSpPr/>
          <p:nvPr/>
        </p:nvSpPr>
        <p:spPr>
          <a:xfrm>
            <a:off x="3159360" y="141732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13" name="Image 1" descr="preencoded.png"/>
          <p:cNvPicPr/>
          <p:nvPr/>
        </p:nvPicPr>
        <p:blipFill>
          <a:blip r:embed="rId2"/>
          <a:stretch/>
        </p:blipFill>
        <p:spPr>
          <a:xfrm>
            <a:off x="331920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9"/>
          <p:cNvSpPr/>
          <p:nvPr/>
        </p:nvSpPr>
        <p:spPr>
          <a:xfrm>
            <a:off x="263340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Nagios / Icinga 2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263340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Shape 11"/>
          <p:cNvSpPr/>
          <p:nvPr/>
        </p:nvSpPr>
        <p:spPr>
          <a:xfrm>
            <a:off x="458100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Shape 12"/>
          <p:cNvSpPr/>
          <p:nvPr/>
        </p:nvSpPr>
        <p:spPr>
          <a:xfrm>
            <a:off x="5198400" y="141732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18" name="Image 2" descr="preencoded.png"/>
          <p:cNvPicPr/>
          <p:nvPr/>
        </p:nvPicPr>
        <p:blipFill>
          <a:blip r:embed="rId3"/>
          <a:stretch/>
        </p:blipFill>
        <p:spPr>
          <a:xfrm>
            <a:off x="535824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13"/>
          <p:cNvSpPr/>
          <p:nvPr/>
        </p:nvSpPr>
        <p:spPr>
          <a:xfrm>
            <a:off x="467244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Prometheus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Text 14"/>
          <p:cNvSpPr/>
          <p:nvPr/>
        </p:nvSpPr>
        <p:spPr>
          <a:xfrm>
            <a:off x="467244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6620400" y="123444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Shape 16"/>
          <p:cNvSpPr/>
          <p:nvPr/>
        </p:nvSpPr>
        <p:spPr>
          <a:xfrm>
            <a:off x="7237440" y="141732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23" name="Image 3" descr="preencoded.png"/>
          <p:cNvPicPr/>
          <p:nvPr/>
        </p:nvPicPr>
        <p:blipFill>
          <a:blip r:embed="rId4"/>
          <a:stretch/>
        </p:blipFill>
        <p:spPr>
          <a:xfrm>
            <a:off x="7397640" y="15775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17"/>
          <p:cNvSpPr/>
          <p:nvPr/>
        </p:nvSpPr>
        <p:spPr>
          <a:xfrm>
            <a:off x="6711840" y="214884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LibreNMS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Text 18"/>
          <p:cNvSpPr/>
          <p:nvPr/>
        </p:nvSpPr>
        <p:spPr>
          <a:xfrm>
            <a:off x="6711840" y="246888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Свободная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Shape 19"/>
          <p:cNvSpPr/>
          <p:nvPr/>
        </p:nvSpPr>
        <p:spPr>
          <a:xfrm>
            <a:off x="50292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Shape 20"/>
          <p:cNvSpPr/>
          <p:nvPr/>
        </p:nvSpPr>
        <p:spPr>
          <a:xfrm>
            <a:off x="112032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8" name="Image 4" descr="preencoded.png"/>
          <p:cNvPicPr/>
          <p:nvPr/>
        </p:nvPicPr>
        <p:blipFill>
          <a:blip r:embed="rId5"/>
          <a:stretch/>
        </p:blipFill>
        <p:spPr>
          <a:xfrm>
            <a:off x="128016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21"/>
          <p:cNvSpPr/>
          <p:nvPr/>
        </p:nvSpPr>
        <p:spPr>
          <a:xfrm>
            <a:off x="59436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PRTG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Text 22"/>
          <p:cNvSpPr/>
          <p:nvPr/>
        </p:nvSpPr>
        <p:spPr>
          <a:xfrm>
            <a:off x="59436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Shape 23"/>
          <p:cNvSpPr/>
          <p:nvPr/>
        </p:nvSpPr>
        <p:spPr>
          <a:xfrm>
            <a:off x="254196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" name="Shape 24"/>
          <p:cNvSpPr/>
          <p:nvPr/>
        </p:nvSpPr>
        <p:spPr>
          <a:xfrm>
            <a:off x="315936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3" name="Image 5" descr="preencoded.png"/>
          <p:cNvPicPr/>
          <p:nvPr/>
        </p:nvPicPr>
        <p:blipFill>
          <a:blip r:embed="rId6"/>
          <a:stretch/>
        </p:blipFill>
        <p:spPr>
          <a:xfrm>
            <a:off x="331920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25"/>
          <p:cNvSpPr/>
          <p:nvPr/>
        </p:nvSpPr>
        <p:spPr>
          <a:xfrm>
            <a:off x="263340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SolarWinds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Text 26"/>
          <p:cNvSpPr/>
          <p:nvPr/>
        </p:nvSpPr>
        <p:spPr>
          <a:xfrm>
            <a:off x="263340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Shape 27"/>
          <p:cNvSpPr/>
          <p:nvPr/>
        </p:nvSpPr>
        <p:spPr>
          <a:xfrm>
            <a:off x="458100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7" name="Shape 28"/>
          <p:cNvSpPr/>
          <p:nvPr/>
        </p:nvSpPr>
        <p:spPr>
          <a:xfrm>
            <a:off x="5198400" y="3154680"/>
            <a:ext cx="639720" cy="6397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8" name="Image 6" descr="preencoded.png"/>
          <p:cNvPicPr/>
          <p:nvPr/>
        </p:nvPicPr>
        <p:blipFill>
          <a:blip r:embed="rId7"/>
          <a:stretch/>
        </p:blipFill>
        <p:spPr>
          <a:xfrm>
            <a:off x="535824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Text 29"/>
          <p:cNvSpPr/>
          <p:nvPr/>
        </p:nvSpPr>
        <p:spPr>
          <a:xfrm>
            <a:off x="467244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Checkmk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" name="Text 30"/>
          <p:cNvSpPr/>
          <p:nvPr/>
        </p:nvSpPr>
        <p:spPr>
          <a:xfrm>
            <a:off x="467244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Проприет.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Shape 31"/>
          <p:cNvSpPr/>
          <p:nvPr/>
        </p:nvSpPr>
        <p:spPr>
          <a:xfrm>
            <a:off x="6620400" y="2971800"/>
            <a:ext cx="187416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7237440" y="315468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43" name="Image 7" descr="preencoded.png"/>
          <p:cNvPicPr/>
          <p:nvPr/>
        </p:nvPicPr>
        <p:blipFill>
          <a:blip r:embed="rId8"/>
          <a:stretch/>
        </p:blipFill>
        <p:spPr>
          <a:xfrm>
            <a:off x="739764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33"/>
          <p:cNvSpPr/>
          <p:nvPr/>
        </p:nvSpPr>
        <p:spPr>
          <a:xfrm>
            <a:off x="6711840" y="3886200"/>
            <a:ext cx="1691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Datadog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Text 34"/>
          <p:cNvSpPr/>
          <p:nvPr/>
        </p:nvSpPr>
        <p:spPr>
          <a:xfrm>
            <a:off x="6711840" y="4206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Облачная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Сравнительный анализ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Оценка систем по ключевым критериям (5 — отлично)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49" name="Chart 0"/>
          <p:cNvGraphicFramePr/>
          <p:nvPr/>
        </p:nvGraphicFramePr>
        <p:xfrm>
          <a:off x="548640" y="1234440"/>
          <a:ext cx="8503560" cy="356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0" name="Text 3"/>
          <p:cNvSpPr/>
          <p:nvPr/>
        </p:nvSpPr>
        <p:spPr>
          <a:xfrm>
            <a:off x="502920" y="4846320"/>
            <a:ext cx="8137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e94b35"/>
                </a:solidFill>
                <a:uFillTx/>
                <a:latin typeface="Calibri"/>
                <a:ea typeface="Calibri"/>
              </a:rPr>
              <a:t>Победитель — Zabbix: максимум по лицензии, гибкости и поддержке отечественных платформ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Почему Zabbix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Аргументы в пользу выбора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4" name="Shape 3"/>
          <p:cNvSpPr/>
          <p:nvPr/>
        </p:nvSpPr>
        <p:spPr>
          <a:xfrm>
            <a:off x="50292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Shape 4"/>
          <p:cNvSpPr/>
          <p:nvPr/>
        </p:nvSpPr>
        <p:spPr>
          <a:xfrm>
            <a:off x="502920" y="1280160"/>
            <a:ext cx="4023000" cy="5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6" name="Shape 5"/>
          <p:cNvSpPr/>
          <p:nvPr/>
        </p:nvSpPr>
        <p:spPr>
          <a:xfrm>
            <a:off x="731520" y="1508760"/>
            <a:ext cx="639720" cy="6397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57" name="Image 0" descr="preencoded.png"/>
          <p:cNvPicPr/>
          <p:nvPr/>
        </p:nvPicPr>
        <p:blipFill>
          <a:blip r:embed="rId1"/>
          <a:stretch/>
        </p:blipFill>
        <p:spPr>
          <a:xfrm>
            <a:off x="89172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6"/>
          <p:cNvSpPr/>
          <p:nvPr/>
        </p:nvSpPr>
        <p:spPr>
          <a:xfrm>
            <a:off x="146304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Свободная лицензия GPL v2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73152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Стоимость владения — 0 ₽, нет ограничений на количество узлов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Shape 8"/>
          <p:cNvSpPr/>
          <p:nvPr/>
        </p:nvSpPr>
        <p:spPr>
          <a:xfrm>
            <a:off x="4663440" y="128016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1" name="Shape 9"/>
          <p:cNvSpPr/>
          <p:nvPr/>
        </p:nvSpPr>
        <p:spPr>
          <a:xfrm>
            <a:off x="4663440" y="1280160"/>
            <a:ext cx="4023000" cy="5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2" name="Shape 10"/>
          <p:cNvSpPr/>
          <p:nvPr/>
        </p:nvSpPr>
        <p:spPr>
          <a:xfrm>
            <a:off x="4892040" y="1508760"/>
            <a:ext cx="639720" cy="63972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63" name="Image 1" descr="preencoded.png"/>
          <p:cNvPicPr/>
          <p:nvPr/>
        </p:nvPicPr>
        <p:blipFill>
          <a:blip r:embed="rId2"/>
          <a:stretch/>
        </p:blipFill>
        <p:spPr>
          <a:xfrm>
            <a:off x="5052240" y="1668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11"/>
          <p:cNvSpPr/>
          <p:nvPr/>
        </p:nvSpPr>
        <p:spPr>
          <a:xfrm>
            <a:off x="5623560" y="148140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Гибкая настройка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5" name="Text 12"/>
          <p:cNvSpPr/>
          <p:nvPr/>
        </p:nvSpPr>
        <p:spPr>
          <a:xfrm>
            <a:off x="4892040" y="224028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Шаблоны, триггеры, скрипты — поддержка любых сценариев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50292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502920" y="3063240"/>
            <a:ext cx="4023000" cy="5436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8" name="Shape 15"/>
          <p:cNvSpPr/>
          <p:nvPr/>
        </p:nvSpPr>
        <p:spPr>
          <a:xfrm>
            <a:off x="731520" y="3291840"/>
            <a:ext cx="639720" cy="6397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69" name="Image 2" descr="preencoded.png"/>
          <p:cNvPicPr/>
          <p:nvPr/>
        </p:nvPicPr>
        <p:blipFill>
          <a:blip r:embed="rId3"/>
          <a:stretch/>
        </p:blipFill>
        <p:spPr>
          <a:xfrm>
            <a:off x="89172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Text 16"/>
          <p:cNvSpPr/>
          <p:nvPr/>
        </p:nvSpPr>
        <p:spPr>
          <a:xfrm>
            <a:off x="146304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Все протоколы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73152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Агент, SNMP, IPMI, JMX, ICMP — единая платформа для всего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Shape 18"/>
          <p:cNvSpPr/>
          <p:nvPr/>
        </p:nvSpPr>
        <p:spPr>
          <a:xfrm>
            <a:off x="4663440" y="3063240"/>
            <a:ext cx="4023000" cy="1554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3" name="Shape 19"/>
          <p:cNvSpPr/>
          <p:nvPr/>
        </p:nvSpPr>
        <p:spPr>
          <a:xfrm>
            <a:off x="4663440" y="3063240"/>
            <a:ext cx="402300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4" name="Shape 20"/>
          <p:cNvSpPr/>
          <p:nvPr/>
        </p:nvSpPr>
        <p:spPr>
          <a:xfrm>
            <a:off x="4892040" y="329184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75" name="Image 3" descr="preencoded.png"/>
          <p:cNvPicPr/>
          <p:nvPr/>
        </p:nvPicPr>
        <p:blipFill>
          <a:blip r:embed="rId4"/>
          <a:stretch/>
        </p:blipFill>
        <p:spPr>
          <a:xfrm>
            <a:off x="5052240" y="3452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21"/>
          <p:cNvSpPr/>
          <p:nvPr/>
        </p:nvSpPr>
        <p:spPr>
          <a:xfrm>
            <a:off x="5623560" y="32644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Поддержка Альт Сервер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7" name="Text 22"/>
          <p:cNvSpPr/>
          <p:nvPr/>
        </p:nvSpPr>
        <p:spPr>
          <a:xfrm>
            <a:off x="4892040" y="402336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Пакеты в официальном репозитории p10, не нужны сторонние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Технологический стек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Программные компоненты решения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Shape 3"/>
          <p:cNvSpPr/>
          <p:nvPr/>
        </p:nvSpPr>
        <p:spPr>
          <a:xfrm>
            <a:off x="731520" y="1280160"/>
            <a:ext cx="7680600" cy="77688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1"/>
          <a:stretch/>
        </p:blipFill>
        <p:spPr>
          <a:xfrm>
            <a:off x="987480" y="146304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4"/>
          <p:cNvSpPr/>
          <p:nvPr/>
        </p:nvSpPr>
        <p:spPr>
          <a:xfrm>
            <a:off x="1645920" y="1353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Zabbix Server 6.x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1645920" y="169164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Сервер мониторинга + веб-интерфейс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Shape 6"/>
          <p:cNvSpPr/>
          <p:nvPr/>
        </p:nvSpPr>
        <p:spPr>
          <a:xfrm>
            <a:off x="6309360" y="152712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6309360" y="152712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GNU GPL v2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731520" y="2103120"/>
            <a:ext cx="7680600" cy="77688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88" name="Image 1" descr="preencoded.png"/>
          <p:cNvPicPr/>
          <p:nvPr/>
        </p:nvPicPr>
        <p:blipFill>
          <a:blip r:embed="rId2"/>
          <a:stretch/>
        </p:blipFill>
        <p:spPr>
          <a:xfrm>
            <a:off x="987480" y="228600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 9"/>
          <p:cNvSpPr/>
          <p:nvPr/>
        </p:nvSpPr>
        <p:spPr>
          <a:xfrm>
            <a:off x="1645920" y="2176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Apache HTTP Server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1645920" y="25146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Веб-сервер (служба httpd2)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Shape 11"/>
          <p:cNvSpPr/>
          <p:nvPr/>
        </p:nvSpPr>
        <p:spPr>
          <a:xfrm>
            <a:off x="6309360" y="235008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6309360" y="235008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Apache 2.0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3" name="Shape 13"/>
          <p:cNvSpPr/>
          <p:nvPr/>
        </p:nvSpPr>
        <p:spPr>
          <a:xfrm>
            <a:off x="731520" y="2926080"/>
            <a:ext cx="7680600" cy="77688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94" name="Image 2" descr="preencoded.png"/>
          <p:cNvPicPr/>
          <p:nvPr/>
        </p:nvPicPr>
        <p:blipFill>
          <a:blip r:embed="rId3"/>
          <a:stretch/>
        </p:blipFill>
        <p:spPr>
          <a:xfrm>
            <a:off x="987480" y="310896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14"/>
          <p:cNvSpPr/>
          <p:nvPr/>
        </p:nvSpPr>
        <p:spPr>
          <a:xfrm>
            <a:off x="1645920" y="29991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PostgreSQL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Text 15"/>
          <p:cNvSpPr/>
          <p:nvPr/>
        </p:nvSpPr>
        <p:spPr>
          <a:xfrm>
            <a:off x="1645920" y="33375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СУБД для хранения метрик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7" name="Shape 16"/>
          <p:cNvSpPr/>
          <p:nvPr/>
        </p:nvSpPr>
        <p:spPr>
          <a:xfrm>
            <a:off x="6309360" y="317304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Text 17"/>
          <p:cNvSpPr/>
          <p:nvPr/>
        </p:nvSpPr>
        <p:spPr>
          <a:xfrm>
            <a:off x="6309360" y="317304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PostgreSQL License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9" name="Shape 18"/>
          <p:cNvSpPr/>
          <p:nvPr/>
        </p:nvSpPr>
        <p:spPr>
          <a:xfrm>
            <a:off x="731520" y="3749040"/>
            <a:ext cx="7680600" cy="77688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00" name="Image 3" descr="preencoded.png"/>
          <p:cNvPicPr/>
          <p:nvPr/>
        </p:nvPicPr>
        <p:blipFill>
          <a:blip r:embed="rId4"/>
          <a:stretch/>
        </p:blipFill>
        <p:spPr>
          <a:xfrm>
            <a:off x="987480" y="393192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19"/>
          <p:cNvSpPr/>
          <p:nvPr/>
        </p:nvSpPr>
        <p:spPr>
          <a:xfrm>
            <a:off x="1645920" y="3822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Альт Сервер 10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Text 20"/>
          <p:cNvSpPr/>
          <p:nvPr/>
        </p:nvSpPr>
        <p:spPr>
          <a:xfrm>
            <a:off x="1645920" y="41605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ОС от ООО «Базальт СПО», реестр Минцифры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Shape 21"/>
          <p:cNvSpPr/>
          <p:nvPr/>
        </p:nvSpPr>
        <p:spPr>
          <a:xfrm>
            <a:off x="6309360" y="3996000"/>
            <a:ext cx="1919880" cy="292320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4" name="Text 22"/>
          <p:cNvSpPr/>
          <p:nvPr/>
        </p:nvSpPr>
        <p:spPr>
          <a:xfrm>
            <a:off x="6309360" y="3996000"/>
            <a:ext cx="1919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GNU GPL / свободное ПО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Text 23"/>
          <p:cNvSpPr/>
          <p:nvPr/>
        </p:nvSpPr>
        <p:spPr>
          <a:xfrm>
            <a:off x="502920" y="475488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Весь стек — свободное и бесплатное ПО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Архитектура тестового стенда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6402240" y="1454400"/>
            <a:ext cx="2373120" cy="25606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На схеме изображены следующее:​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4040" indent="-28404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Сервер Zabbix (192.168.100.1/24)​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4040" indent="-28404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Клиет (192.168.100.2/24)​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4040" indent="-28404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Маршрутизатор (192.168.100.3/24)​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84040" indent="-28404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Выход в интернет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1198440" y="909720"/>
            <a:ext cx="3529440" cy="402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Проверка работоспособности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1"/>
          <a:stretch/>
        </p:blipFill>
        <p:spPr>
          <a:xfrm>
            <a:off x="164520" y="1184040"/>
            <a:ext cx="4427640" cy="277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" descr=""/>
          <p:cNvPicPr/>
          <p:nvPr/>
        </p:nvPicPr>
        <p:blipFill>
          <a:blip r:embed="rId2"/>
          <a:stretch/>
        </p:blipFill>
        <p:spPr>
          <a:xfrm>
            <a:off x="4669200" y="1184040"/>
            <a:ext cx="4422960" cy="276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300" strike="noStrike" u="none">
                <a:solidFill>
                  <a:schemeClr val="lt1">
                    <a:lumMod val="65000"/>
                  </a:schemeClr>
                </a:solidFill>
                <a:uFillTx/>
                <a:latin typeface="Calibri"/>
                <a:ea typeface="Arial"/>
              </a:rPr>
              <a:t>Мониторинг состояния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960120" y="18468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Дашборд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960120" y="804600"/>
            <a:ext cx="7223040" cy="433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Экономическое обоснование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Затраты на внедрение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Shape 3"/>
          <p:cNvSpPr/>
          <p:nvPr/>
        </p:nvSpPr>
        <p:spPr>
          <a:xfrm>
            <a:off x="165600" y="1273320"/>
            <a:ext cx="3128040" cy="329148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439920" y="1554480"/>
            <a:ext cx="570960" cy="6397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23" name="Image 0" descr="preencoded.png"/>
          <p:cNvPicPr/>
          <p:nvPr/>
        </p:nvPicPr>
        <p:blipFill>
          <a:blip r:embed="rId1"/>
          <a:stretch/>
        </p:blipFill>
        <p:spPr>
          <a:xfrm>
            <a:off x="599760" y="1714320"/>
            <a:ext cx="2782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Text 5"/>
          <p:cNvSpPr/>
          <p:nvPr/>
        </p:nvSpPr>
        <p:spPr>
          <a:xfrm>
            <a:off x="1217160" y="1547640"/>
            <a:ext cx="213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Программное обеспечение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217160" y="1913400"/>
            <a:ext cx="213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PostgreSQL · Apache · Zabbix — всё свободное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169560" y="2454480"/>
            <a:ext cx="3128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5200 ₽</a:t>
            </a:r>
            <a:endParaRPr b="0" lang="ru-RU" sz="4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165600" y="4016520"/>
            <a:ext cx="3128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39c12"/>
                </a:solidFill>
                <a:uFillTx/>
                <a:latin typeface="Calibri"/>
                <a:ea typeface="Calibri"/>
              </a:rPr>
              <a:t>Лицензионных отчислений нет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Shape 9"/>
          <p:cNvSpPr/>
          <p:nvPr/>
        </p:nvSpPr>
        <p:spPr>
          <a:xfrm>
            <a:off x="3297600" y="1259640"/>
            <a:ext cx="3050280" cy="32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3571920" y="1526760"/>
            <a:ext cx="639720" cy="6397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30" name="Image 1" descr="preencoded.png"/>
          <p:cNvPicPr/>
          <p:nvPr/>
        </p:nvPicPr>
        <p:blipFill>
          <a:blip r:embed="rId2"/>
          <a:stretch/>
        </p:blipFill>
        <p:spPr>
          <a:xfrm>
            <a:off x="3732120" y="1686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11"/>
          <p:cNvSpPr/>
          <p:nvPr/>
        </p:nvSpPr>
        <p:spPr>
          <a:xfrm>
            <a:off x="4349160" y="15267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Работы специалиста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4349160" y="189252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20 человеко-часов × 1500 ₽/час</a:t>
            </a:r>
            <a:endParaRPr b="0" lang="ru-RU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2856960" y="2454480"/>
            <a:ext cx="39315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e94b35"/>
                </a:solidFill>
                <a:uFillTx/>
                <a:latin typeface="Arial Black"/>
                <a:ea typeface="Arial Black"/>
              </a:rPr>
              <a:t>30000 ₽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2856960" y="398880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Единоразовые затраты на внедрение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5" name="Shape 3"/>
          <p:cNvSpPr/>
          <p:nvPr/>
        </p:nvSpPr>
        <p:spPr>
          <a:xfrm>
            <a:off x="6348600" y="1273320"/>
            <a:ext cx="2797200" cy="329148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6787440" y="1554480"/>
            <a:ext cx="213012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uFillTx/>
                <a:latin typeface="Arial Black"/>
                <a:ea typeface="Arial"/>
              </a:rPr>
              <a:t>Стоимость оборудования </a:t>
            </a:r>
            <a:r>
              <a:rPr b="1" lang="ru-RU" sz="1300" strike="noStrike" u="none">
                <a:solidFill>
                  <a:srgbClr val="ffffff"/>
                </a:solidFill>
                <a:uFillTx/>
                <a:latin typeface="Arial Black"/>
                <a:ea typeface="Arial"/>
              </a:rPr>
              <a:t>и лицензии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7" name="TextBox 22"/>
          <p:cNvSpPr/>
          <p:nvPr/>
        </p:nvSpPr>
        <p:spPr>
          <a:xfrm>
            <a:off x="6431040" y="2688840"/>
            <a:ext cx="2631960" cy="10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3</a:t>
            </a:r>
            <a:r>
              <a:rPr b="1" lang="ru-RU" sz="44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00</a:t>
            </a:r>
            <a:r>
              <a:rPr b="1" lang="en-US" sz="4400" strike="noStrike" u="none">
                <a:solidFill>
                  <a:srgbClr val="10b981"/>
                </a:solidFill>
                <a:uFillTx/>
                <a:latin typeface="Arial Black"/>
                <a:ea typeface="Arial Black"/>
              </a:rPr>
              <a:t>00 ₽</a:t>
            </a: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TextBox 23"/>
          <p:cNvSpPr/>
          <p:nvPr/>
        </p:nvSpPr>
        <p:spPr>
          <a:xfrm>
            <a:off x="6431040" y="4017600"/>
            <a:ext cx="2556720" cy="70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100" strike="noStrike" u="none">
                <a:solidFill>
                  <a:srgbClr val="ed7d31"/>
                </a:solidFill>
                <a:uFillTx/>
                <a:latin typeface="Calibri"/>
                <a:ea typeface="Calibri"/>
              </a:rPr>
              <a:t>Единоразовые затраты на внедрение</a:t>
            </a:r>
            <a:r>
              <a:rPr b="0" i="1" lang="ru-RU" sz="1100" strike="noStrike" u="none">
                <a:solidFill>
                  <a:srgbClr val="ed7d31"/>
                </a:solidFill>
                <a:uFillTx/>
                <a:latin typeface="Calibri"/>
                <a:ea typeface="Calibri"/>
              </a:rPr>
              <a:t>, кроме лицензии</a:t>
            </a:r>
            <a:endParaRPr b="0" lang="ru-RU" sz="1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502920" y="255960"/>
            <a:ext cx="7863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f2a47"/>
                </a:solidFill>
                <a:uFillTx/>
                <a:latin typeface="Arial Black"/>
                <a:ea typeface="Arial Black"/>
              </a:rPr>
              <a:t>Выводы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502920" y="77724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b7785"/>
                </a:solidFill>
                <a:uFillTx/>
                <a:latin typeface="Calibri"/>
                <a:ea typeface="Calibri"/>
              </a:rPr>
              <a:t>Цели и задачи дипломной работы выполнены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2" name="Shape 3"/>
          <p:cNvSpPr/>
          <p:nvPr/>
        </p:nvSpPr>
        <p:spPr>
          <a:xfrm>
            <a:off x="502920" y="1280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Shape 4"/>
          <p:cNvSpPr/>
          <p:nvPr/>
        </p:nvSpPr>
        <p:spPr>
          <a:xfrm>
            <a:off x="667440" y="1508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44" name="Image 0" descr="preencoded.png"/>
          <p:cNvPicPr/>
          <p:nvPr/>
        </p:nvPicPr>
        <p:blipFill>
          <a:blip r:embed="rId1"/>
          <a:stretch/>
        </p:blipFill>
        <p:spPr>
          <a:xfrm>
            <a:off x="793080" y="1634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Text 5"/>
          <p:cNvSpPr/>
          <p:nvPr/>
        </p:nvSpPr>
        <p:spPr>
          <a:xfrm>
            <a:off x="1325880" y="1371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Изучены теоретические основы организации и мониторинга ЛВС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Shape 6"/>
          <p:cNvSpPr/>
          <p:nvPr/>
        </p:nvSpPr>
        <p:spPr>
          <a:xfrm>
            <a:off x="4663440" y="1280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Shape 7"/>
          <p:cNvSpPr/>
          <p:nvPr/>
        </p:nvSpPr>
        <p:spPr>
          <a:xfrm>
            <a:off x="4827960" y="1508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48" name="Image 1" descr="preencoded.png"/>
          <p:cNvPicPr/>
          <p:nvPr/>
        </p:nvPicPr>
        <p:blipFill>
          <a:blip r:embed="rId2"/>
          <a:stretch/>
        </p:blipFill>
        <p:spPr>
          <a:xfrm>
            <a:off x="4953600" y="1634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8"/>
          <p:cNvSpPr/>
          <p:nvPr/>
        </p:nvSpPr>
        <p:spPr>
          <a:xfrm>
            <a:off x="5486400" y="1371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Проведён сравнительный анализ 11 систем по 10 критериям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502920" y="2423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667440" y="2651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52" name="Image 2" descr="preencoded.png"/>
          <p:cNvPicPr/>
          <p:nvPr/>
        </p:nvPicPr>
        <p:blipFill>
          <a:blip r:embed="rId3"/>
          <a:stretch/>
        </p:blipFill>
        <p:spPr>
          <a:xfrm>
            <a:off x="793080" y="2777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11"/>
          <p:cNvSpPr/>
          <p:nvPr/>
        </p:nvSpPr>
        <p:spPr>
          <a:xfrm>
            <a:off x="1325880" y="2514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Обоснованно выбрана система Zabbix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4663440" y="2423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Shape 13"/>
          <p:cNvSpPr/>
          <p:nvPr/>
        </p:nvSpPr>
        <p:spPr>
          <a:xfrm>
            <a:off x="4827960" y="2651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56" name="Image 3" descr="preencoded.png"/>
          <p:cNvPicPr/>
          <p:nvPr/>
        </p:nvPicPr>
        <p:blipFill>
          <a:blip r:embed="rId4"/>
          <a:stretch/>
        </p:blipFill>
        <p:spPr>
          <a:xfrm>
            <a:off x="4953600" y="2777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4"/>
          <p:cNvSpPr/>
          <p:nvPr/>
        </p:nvSpPr>
        <p:spPr>
          <a:xfrm>
            <a:off x="5486400" y="2514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Развёрнута и настроена на отечественной ОС Альт Сервер 10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Shape 15"/>
          <p:cNvSpPr/>
          <p:nvPr/>
        </p:nvSpPr>
        <p:spPr>
          <a:xfrm>
            <a:off x="502920" y="3566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9" name="Shape 16"/>
          <p:cNvSpPr/>
          <p:nvPr/>
        </p:nvSpPr>
        <p:spPr>
          <a:xfrm>
            <a:off x="667440" y="3794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60" name="Image 4" descr="preencoded.png"/>
          <p:cNvPicPr/>
          <p:nvPr/>
        </p:nvPicPr>
        <p:blipFill>
          <a:blip r:embed="rId5"/>
          <a:stretch/>
        </p:blipFill>
        <p:spPr>
          <a:xfrm>
            <a:off x="793080" y="3920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17"/>
          <p:cNvSpPr/>
          <p:nvPr/>
        </p:nvSpPr>
        <p:spPr>
          <a:xfrm>
            <a:off x="1325880" y="3657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Подтверждена работоспособность 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2" name="Shape 18"/>
          <p:cNvSpPr/>
          <p:nvPr/>
        </p:nvSpPr>
        <p:spPr>
          <a:xfrm>
            <a:off x="4663440" y="3566160"/>
            <a:ext cx="4023000" cy="9597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3" name="Shape 19"/>
          <p:cNvSpPr/>
          <p:nvPr/>
        </p:nvSpPr>
        <p:spPr>
          <a:xfrm>
            <a:off x="4827960" y="37947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64" name="Image 5" descr="preencoded.png"/>
          <p:cNvPicPr/>
          <p:nvPr/>
        </p:nvPicPr>
        <p:blipFill>
          <a:blip r:embed="rId6"/>
          <a:stretch/>
        </p:blipFill>
        <p:spPr>
          <a:xfrm>
            <a:off x="4953600" y="392040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20"/>
          <p:cNvSpPr/>
          <p:nvPr/>
        </p:nvSpPr>
        <p:spPr>
          <a:xfrm>
            <a:off x="5486400" y="3657600"/>
            <a:ext cx="3108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533"/>
                </a:solidFill>
                <a:uFillTx/>
                <a:latin typeface="Calibri"/>
                <a:ea typeface="Calibri"/>
              </a:rPr>
              <a:t>Выполнено экономическое обоснование внедрения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0"/>
          <p:cNvSpPr/>
          <p:nvPr/>
        </p:nvSpPr>
        <p:spPr>
          <a:xfrm>
            <a:off x="457200" y="365760"/>
            <a:ext cx="136800" cy="136800"/>
          </a:xfrm>
          <a:prstGeom prst="ellipse">
            <a:avLst/>
          </a:prstGeom>
          <a:solidFill>
            <a:srgbClr val="e94b35">
              <a:alpha val="8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67" name="Shape 1"/>
          <p:cNvSpPr/>
          <p:nvPr/>
        </p:nvSpPr>
        <p:spPr>
          <a:xfrm>
            <a:off x="822960" y="365760"/>
            <a:ext cx="136800" cy="136800"/>
          </a:xfrm>
          <a:prstGeom prst="ellipse">
            <a:avLst/>
          </a:prstGeom>
          <a:solidFill>
            <a:srgbClr val="e94b35">
              <a:alpha val="65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68" name="Shape 2"/>
          <p:cNvSpPr/>
          <p:nvPr/>
        </p:nvSpPr>
        <p:spPr>
          <a:xfrm>
            <a:off x="1188720" y="365760"/>
            <a:ext cx="136800" cy="13680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69" name="Shape 3"/>
          <p:cNvSpPr/>
          <p:nvPr/>
        </p:nvSpPr>
        <p:spPr>
          <a:xfrm>
            <a:off x="1554480" y="365760"/>
            <a:ext cx="136800" cy="136800"/>
          </a:xfrm>
          <a:prstGeom prst="ellipse">
            <a:avLst/>
          </a:prstGeom>
          <a:solidFill>
            <a:srgbClr val="e94b35">
              <a:alpha val="35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0" name="Shape 4"/>
          <p:cNvSpPr/>
          <p:nvPr/>
        </p:nvSpPr>
        <p:spPr>
          <a:xfrm>
            <a:off x="1920240" y="365760"/>
            <a:ext cx="136800" cy="13680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502920" y="18288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trike="noStrike" u="none">
                <a:solidFill>
                  <a:srgbClr val="ffffff"/>
                </a:solidFill>
                <a:uFillTx/>
                <a:latin typeface="Arial Black"/>
                <a:ea typeface="Arial Black"/>
              </a:rPr>
              <a:t>Спасибо за внимание!</a:t>
            </a: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4023360" y="2880360"/>
            <a:ext cx="1096920" cy="5436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3" name="Shape 8"/>
          <p:cNvSpPr/>
          <p:nvPr/>
        </p:nvSpPr>
        <p:spPr>
          <a:xfrm>
            <a:off x="4206240" y="3661560"/>
            <a:ext cx="731160" cy="7311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round/>
          </a:ln>
          <a:effectLst>
            <a:outerShdw algn="bl" blurRad="152280" dir="5400000" dist="381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274" name="Image 0" descr="preencoded.png"/>
          <p:cNvPicPr/>
          <p:nvPr/>
        </p:nvPicPr>
        <p:blipFill>
          <a:blip r:embed="rId1"/>
          <a:stretch/>
        </p:blipFill>
        <p:spPr>
          <a:xfrm>
            <a:off x="4382280" y="384444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"/>
          <p:cNvSpPr/>
          <p:nvPr/>
        </p:nvSpPr>
        <p:spPr>
          <a:xfrm>
            <a:off x="181440" y="4137120"/>
            <a:ext cx="3614040" cy="8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Выполнил студент </a:t>
            </a:r>
            <a:r>
              <a:rPr b="0" lang="ru-RU" sz="18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Моногаров М.А.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c9d4e0"/>
                </a:solidFill>
                <a:uFillTx/>
                <a:latin typeface="Calibri"/>
                <a:ea typeface="Calibri"/>
              </a:rPr>
              <a:t>группы 222СА</a:t>
            </a:r>
            <a:br>
              <a:rPr sz="1300"/>
            </a:b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Arial" pitchFamily="0" charset="1"/>
        <a:cs typeface="Arial" pitchFamily="0" charset="1"/>
      </a:majorFont>
      <a:minorFont>
        <a:latin typeface="Calibri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LibreOffice/24.8.7.2$Linux_X86_64 LibreOffice_project/480$Build-2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2026-05-15T06:17:00Z</dcterms:created>
  <dc:creator>Диплом 222СА</dc:creator>
  <dc:description/>
  <dc:language>ru-RU</dc:language>
  <cp:lastModifiedBy/>
  <dcterms:modified xsi:type="dcterms:W3CDTF">2026-06-10T10:14:24Z</dcterms:modified>
  <cp:revision>89</cp:revision>
  <dc:subject>PptxGenJS Presentation</dc:subject>
  <dc:title>Мониторинг ЛВС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14</vt:i4>
  </property>
  <property fmtid="{D5CDD505-2E9C-101B-9397-08002B2CF9AE}" pid="4" name="PresentationFormat">
    <vt:lpwstr>On-screen Show (4:3)</vt:lpwstr>
  </property>
  <property fmtid="{D5CDD505-2E9C-101B-9397-08002B2CF9AE}" pid="5" name="Slides">
    <vt:i4>14</vt:i4>
  </property>
</Properties>
</file>