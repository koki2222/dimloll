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mc="http://schemas.openxmlformats.org/markup-compatibility/2006" xmlns:c15="http://schemas.microsoft.com/office/drawing/2012/chart" xmlns:c14="http://schemas.microsoft.com/office/drawing/2007/8/2/chart" xmlns:c16r2="http://schemas.microsoft.com/office/drawing/2015/06/chart">
  <c:date1904 val="0"/>
  <c:lang val="ru-RU"/>
  <c:roundedCorners val="1"/>
  <mc:AlternateContent>
    <mc:Choice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Zabbix</c:v>
                </c:pt>
              </c:strCache>
            </c:strRef>
          </c:tx>
          <c:spPr bwMode="auto">
            <a:prstGeom prst="rect">
              <a:avLst/>
            </a:prstGeom>
            <a:solidFill>
              <a:srgbClr val="E94B3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Лицензия</c:v>
                </c:pt>
                <c:pt idx="1">
                  <c:v>Удобство</c:v>
                </c:pt>
                <c:pt idx="2">
                  <c:v>Гибкость</c:v>
                </c:pt>
                <c:pt idx="3">
                  <c:v>Сообщество</c:v>
                </c:pt>
                <c:pt idx="4">
                  <c:v>Импорто-замещение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Prometheus</c:v>
                </c:pt>
              </c:strCache>
            </c:strRef>
          </c:tx>
          <c:spPr bwMode="auto">
            <a:prstGeom prst="rect">
              <a:avLst/>
            </a:prstGeom>
            <a:solidFill>
              <a:srgbClr val="0E7C8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Лицензия</c:v>
                </c:pt>
                <c:pt idx="1">
                  <c:v>Удобство</c:v>
                </c:pt>
                <c:pt idx="2">
                  <c:v>Гибкость</c:v>
                </c:pt>
                <c:pt idx="3">
                  <c:v>Сообщество</c:v>
                </c:pt>
                <c:pt idx="4">
                  <c:v>Импорто-замещение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PRTG</c:v>
                </c:pt>
              </c:strCache>
            </c:strRef>
          </c:tx>
          <c:spPr bwMode="auto">
            <a:prstGeom prst="rect">
              <a:avLst/>
            </a:prstGeom>
            <a:solidFill>
              <a:srgbClr val="F39C1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Лицензия</c:v>
                </c:pt>
                <c:pt idx="1">
                  <c:v>Удобство</c:v>
                </c:pt>
                <c:pt idx="2">
                  <c:v>Гибкость</c:v>
                </c:pt>
                <c:pt idx="3">
                  <c:v>Сообщество</c:v>
                </c:pt>
                <c:pt idx="4">
                  <c:v>Импорто-замещение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</c:ser>
        <c:dLbls>
          <c:showBubbleSize val="0"/>
          <c:showCatName val="0"/>
          <c:showLeaderLines val="0"/>
          <c:showLegendKey val="0"/>
          <c:showPercent val="0"/>
          <c:showSerName val="0"/>
          <c:showVal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5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000000"/>
          <c:min val="0.000000"/>
        </c:scaling>
        <c:delete val="0"/>
        <c:axPos val="l"/>
        <c:majorGridlines>
          <c:spPr bwMode="auto">
            <a:prstGeom prst="rect">
              <a:avLst/>
            </a:prstGeom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 bwMode="auto">
          <a:prstGeom prst="rect">
            <a:avLst/>
          </a:prstGeom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.000000"/>
      </c:valAx>
      <c:spPr bwMode="auto">
        <a:prstGeom prst="rect">
          <a:avLst/>
        </a:prstGeom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A25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 bwMode="auto">
    <a:xfrm rot="0">
      <a:off x="548640" y="1234440"/>
      <a:ext cx="8503920" cy="3566160"/>
    </a:xfrm>
    <a:prstGeom prst="rect">
      <a:avLst/>
    </a:prstGeom>
    <a:solidFill>
      <a:srgbClr val="FFFFFF"/>
    </a:solidFill>
    <a:ln>
      <a:noFill/>
    </a:ln>
    <a:effectLst/>
  </c:spPr>
  <c:externalData r:id="rId1">
    <c:autoUpdate val="1"/>
  </c:externalData>
</c:chartSpace>
</file>

<file path=ppt/embeddings/_rels/Microsoft_Excel_Worksheet1.xlsx.rels><?xml version="1.0" encoding="UTF-8" standalone="yes"?><Relationships xmlns="http://schemas.openxmlformats.org/package/2006/relationships"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131863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52266002" name="Дата 2"/>
          <p:cNvSpPr>
            <a:spLocks noGrp="1"/>
          </p:cNvSpPr>
          <p:nvPr>
            <p:ph type="dt" idx="1"/>
          </p:nvPr>
        </p:nvSpPr>
        <p:spPr bwMode="auto"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90D5EA2-B6E3-424F-B097-50F1946A4700}" type="datetimeFigureOut">
              <a:rPr/>
              <a:t>27.05.2026</a:t>
            </a:fld>
            <a:endParaRPr lang="ru-RU"/>
          </a:p>
        </p:txBody>
      </p:sp>
      <p:sp>
        <p:nvSpPr>
          <p:cNvPr id="1068285088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993722191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38196942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0817292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3C244E2-96F5-4FF2-9B4A-585178DCEEBE}" type="slidenum">
              <a:r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5122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9329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21488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111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6282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12318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3546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46997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0298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694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601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35413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003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4426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73273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660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45181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34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3792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3729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3139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9028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035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4255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5654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6489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8958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63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1113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85384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B1D814-EABB-6C07-5422-418AF363B8C6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071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72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8049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642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2077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028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7387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34286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6048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1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F2A4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859878" name="Shape 0"/>
          <p:cNvSpPr/>
          <p:nvPr/>
        </p:nvSpPr>
        <p:spPr bwMode="auto">
          <a:xfrm>
            <a:off x="7315200" y="274320"/>
            <a:ext cx="164592" cy="164592"/>
          </a:xfrm>
          <a:prstGeom prst="ellipse">
            <a:avLst/>
          </a:prstGeom>
          <a:solidFill>
            <a:srgbClr val="E94B35">
              <a:alpha val="7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415551610" name="Shape 1"/>
          <p:cNvSpPr/>
          <p:nvPr/>
        </p:nvSpPr>
        <p:spPr bwMode="auto">
          <a:xfrm>
            <a:off x="7955280" y="274320"/>
            <a:ext cx="164592" cy="164592"/>
          </a:xfrm>
          <a:prstGeom prst="ellipse">
            <a:avLst/>
          </a:prstGeom>
          <a:solidFill>
            <a:srgbClr val="E94B35">
              <a:alpha val="6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2127408845" name="Shape 2"/>
          <p:cNvSpPr/>
          <p:nvPr/>
        </p:nvSpPr>
        <p:spPr bwMode="auto">
          <a:xfrm>
            <a:off x="8595360" y="274320"/>
            <a:ext cx="164592" cy="164592"/>
          </a:xfrm>
          <a:prstGeom prst="ellipse">
            <a:avLst/>
          </a:prstGeom>
          <a:solidFill>
            <a:srgbClr val="E94B35">
              <a:alpha val="5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2061944277" name="Shape 3"/>
          <p:cNvSpPr/>
          <p:nvPr/>
        </p:nvSpPr>
        <p:spPr bwMode="auto">
          <a:xfrm>
            <a:off x="7315200" y="914400"/>
            <a:ext cx="164592" cy="164592"/>
          </a:xfrm>
          <a:prstGeom prst="ellipse">
            <a:avLst/>
          </a:prstGeom>
          <a:solidFill>
            <a:srgbClr val="E94B35">
              <a:alpha val="4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2045314307" name="Shape 4"/>
          <p:cNvSpPr/>
          <p:nvPr/>
        </p:nvSpPr>
        <p:spPr bwMode="auto">
          <a:xfrm>
            <a:off x="7955280" y="914400"/>
            <a:ext cx="164592" cy="164592"/>
          </a:xfrm>
          <a:prstGeom prst="ellipse">
            <a:avLst/>
          </a:prstGeom>
          <a:solidFill>
            <a:srgbClr val="E94B35">
              <a:alpha val="3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432758076" name="Shape 5"/>
          <p:cNvSpPr/>
          <p:nvPr/>
        </p:nvSpPr>
        <p:spPr bwMode="auto">
          <a:xfrm>
            <a:off x="8595360" y="914400"/>
            <a:ext cx="164592" cy="164592"/>
          </a:xfrm>
          <a:prstGeom prst="ellipse">
            <a:avLst/>
          </a:prstGeom>
          <a:solidFill>
            <a:srgbClr val="E94B35">
              <a:alpha val="2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334781163" name="Shape 6"/>
          <p:cNvSpPr/>
          <p:nvPr/>
        </p:nvSpPr>
        <p:spPr bwMode="auto">
          <a:xfrm>
            <a:off x="7397496" y="356616"/>
            <a:ext cx="640080" cy="640080"/>
          </a:xfrm>
          <a:prstGeom prst="line">
            <a:avLst/>
          </a:prstGeom>
          <a:noFill/>
          <a:ln w="12700">
            <a:solidFill>
              <a:srgbClr val="E94B35">
                <a:alpha val="50000"/>
              </a:srgbClr>
            </a:solidFill>
            <a:prstDash val="solid"/>
          </a:ln>
        </p:spPr>
      </p:sp>
      <p:sp>
        <p:nvSpPr>
          <p:cNvPr id="1195991475" name="Shape 7"/>
          <p:cNvSpPr/>
          <p:nvPr/>
        </p:nvSpPr>
        <p:spPr bwMode="auto">
          <a:xfrm>
            <a:off x="8037576" y="356616"/>
            <a:ext cx="640080" cy="640080"/>
          </a:xfrm>
          <a:prstGeom prst="line">
            <a:avLst/>
          </a:prstGeom>
          <a:noFill/>
          <a:ln w="12700">
            <a:solidFill>
              <a:srgbClr val="E94B35">
                <a:alpha val="50000"/>
              </a:srgbClr>
            </a:solidFill>
            <a:prstDash val="solid"/>
          </a:ln>
        </p:spPr>
      </p:sp>
      <p:sp>
        <p:nvSpPr>
          <p:cNvPr id="543718280" name="Text 8"/>
          <p:cNvSpPr/>
          <p:nvPr/>
        </p:nvSpPr>
        <p:spPr bwMode="auto">
          <a:xfrm>
            <a:off x="502920" y="320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ГБПОУ НСО «Новосибирский политехнический колледж»</a:t>
            </a:r>
            <a:endParaRPr lang="en-US" sz="1100"/>
          </a:p>
        </p:txBody>
      </p:sp>
      <p:sp>
        <p:nvSpPr>
          <p:cNvPr id="174609737" name="Text 9"/>
          <p:cNvSpPr/>
          <p:nvPr/>
        </p:nvSpPr>
        <p:spPr bwMode="auto">
          <a:xfrm>
            <a:off x="50292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800">
                <a:solidFill>
                  <a:srgbClr val="E94B35"/>
                </a:solidFill>
                <a:latin typeface="Arial Black"/>
                <a:ea typeface="Arial Black"/>
                <a:cs typeface="Arial Black"/>
              </a:rPr>
              <a:t>ДИПЛОМНЫЙ ПРОЕКТ</a:t>
            </a:r>
            <a:endParaRPr lang="en-US" sz="1200"/>
          </a:p>
        </p:txBody>
      </p:sp>
      <p:sp>
        <p:nvSpPr>
          <p:cNvPr id="583860974" name="Text 10"/>
          <p:cNvSpPr/>
          <p:nvPr/>
        </p:nvSpPr>
        <p:spPr bwMode="auto">
          <a:xfrm>
            <a:off x="50292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50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Мониторинг</a:t>
            </a:r>
            <a:endParaRPr lang="en-US" sz="5000"/>
          </a:p>
        </p:txBody>
      </p:sp>
      <p:sp>
        <p:nvSpPr>
          <p:cNvPr id="2101064816" name="Text 11"/>
          <p:cNvSpPr/>
          <p:nvPr/>
        </p:nvSpPr>
        <p:spPr bwMode="auto">
          <a:xfrm>
            <a:off x="502920" y="2514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39C12"/>
                </a:solidFill>
                <a:latin typeface="Arial Black"/>
                <a:ea typeface="Arial Black"/>
                <a:cs typeface="Arial Black"/>
              </a:rPr>
              <a:t>локально-вычислительной сети</a:t>
            </a:r>
            <a:endParaRPr lang="en-US" sz="3200"/>
          </a:p>
        </p:txBody>
      </p:sp>
      <p:sp>
        <p:nvSpPr>
          <p:cNvPr id="1913067589" name="Shape 12"/>
          <p:cNvSpPr/>
          <p:nvPr/>
        </p:nvSpPr>
        <p:spPr bwMode="auto">
          <a:xfrm>
            <a:off x="502920" y="3337560"/>
            <a:ext cx="731520" cy="36576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203527991" name="Text 13"/>
          <p:cNvSpPr/>
          <p:nvPr/>
        </p:nvSpPr>
        <p:spPr bwMode="auto">
          <a:xfrm>
            <a:off x="502920" y="3520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9D4E0"/>
                </a:solidFill>
                <a:latin typeface="Calibri"/>
                <a:ea typeface="Calibri"/>
                <a:cs typeface="Calibri"/>
              </a:rPr>
              <a:t>Выполнил студент группы 222СА</a:t>
            </a:r>
            <a:br>
              <a:rPr lang="en-US" sz="1300">
                <a:solidFill>
                  <a:srgbClr val="C9D4E0"/>
                </a:solidFill>
                <a:latin typeface="Calibri"/>
                <a:ea typeface="Calibri"/>
                <a:cs typeface="Calibri"/>
              </a:rPr>
            </a:b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_________________________</a:t>
            </a:r>
            <a:b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1100" i="1">
                <a:solidFill>
                  <a:srgbClr val="C9D4E0"/>
                </a:solidFill>
                <a:latin typeface="Calibri"/>
                <a:ea typeface="Calibri"/>
                <a:cs typeface="Calibri"/>
              </a:rPr>
              <a:t>Специальность 09.02.06 «Сетевое и системное администрирование»</a:t>
            </a:r>
            <a:br>
              <a:rPr lang="en-US" sz="1100" i="1">
                <a:solidFill>
                  <a:srgbClr val="C9D4E0"/>
                </a:solidFill>
                <a:latin typeface="Calibri"/>
                <a:ea typeface="Calibri"/>
                <a:cs typeface="Calibri"/>
              </a:rPr>
            </a:br>
            <a:r>
              <a:rPr lang="en-US"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br>
              <a:rPr lang="en-US"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sz="1200">
                <a:solidFill>
                  <a:srgbClr val="C9D4E0"/>
                </a:solidFill>
                <a:latin typeface="Calibri"/>
                <a:ea typeface="Calibri"/>
                <a:cs typeface="Calibri"/>
              </a:rPr>
              <a:t>Руководитель: Егорова А. А.</a:t>
            </a:r>
            <a:endParaRPr lang="en-US" sz="1300"/>
          </a:p>
        </p:txBody>
      </p:sp>
      <p:sp>
        <p:nvSpPr>
          <p:cNvPr id="1066032282" name="Text 14"/>
          <p:cNvSpPr/>
          <p:nvPr/>
        </p:nvSpPr>
        <p:spPr bwMode="auto"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Новосибирск 2026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6076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683227503" name="Text 1"/>
          <p:cNvSpPr/>
          <p:nvPr/>
        </p:nvSpPr>
        <p:spPr bwMode="auto"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Актуальность</a:t>
            </a:r>
            <a:endParaRPr lang="en-US" sz="2800"/>
          </a:p>
        </p:txBody>
      </p:sp>
      <p:sp>
        <p:nvSpPr>
          <p:cNvPr id="1403281054" name="Text 2"/>
          <p:cNvSpPr/>
          <p:nvPr/>
        </p:nvSpPr>
        <p:spPr bwMode="auto"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Почему мониторинг ЛВС критически важен сегодня</a:t>
            </a:r>
            <a:endParaRPr lang="en-US" sz="1300"/>
          </a:p>
        </p:txBody>
      </p:sp>
      <p:sp>
        <p:nvSpPr>
          <p:cNvPr id="1833350306" name="Shape 3"/>
          <p:cNvSpPr/>
          <p:nvPr/>
        </p:nvSpPr>
        <p:spPr bwMode="auto">
          <a:xfrm>
            <a:off x="50292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23406917" name="Shape 4"/>
          <p:cNvSpPr/>
          <p:nvPr/>
        </p:nvSpPr>
        <p:spPr bwMode="auto">
          <a:xfrm>
            <a:off x="502920" y="1280160"/>
            <a:ext cx="402336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33252625" name="Shape 5"/>
          <p:cNvSpPr/>
          <p:nvPr/>
        </p:nvSpPr>
        <p:spPr bwMode="auto">
          <a:xfrm>
            <a:off x="731520" y="1508759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4762985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1524365932" name="Text 6"/>
          <p:cNvSpPr/>
          <p:nvPr/>
        </p:nvSpPr>
        <p:spPr bwMode="auto">
          <a:xfrm>
            <a:off x="146304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Рост сложности сетей</a:t>
            </a:r>
            <a:endParaRPr lang="en-US" sz="1400"/>
          </a:p>
        </p:txBody>
      </p:sp>
      <p:sp>
        <p:nvSpPr>
          <p:cNvPr id="1971217853" name="Text 7"/>
          <p:cNvSpPr/>
          <p:nvPr/>
        </p:nvSpPr>
        <p:spPr bwMode="auto">
          <a:xfrm>
            <a:off x="73152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Десятки серверов, сотни рабочих мест, гибридные среды</a:t>
            </a:r>
            <a:endParaRPr lang="en-US" sz="1200"/>
          </a:p>
        </p:txBody>
      </p:sp>
      <p:sp>
        <p:nvSpPr>
          <p:cNvPr id="1951934100" name="Shape 8"/>
          <p:cNvSpPr/>
          <p:nvPr/>
        </p:nvSpPr>
        <p:spPr bwMode="auto">
          <a:xfrm>
            <a:off x="466344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106312" name="Shape 9"/>
          <p:cNvSpPr/>
          <p:nvPr/>
        </p:nvSpPr>
        <p:spPr bwMode="auto">
          <a:xfrm>
            <a:off x="4663440" y="1280160"/>
            <a:ext cx="4023360" cy="54864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257921117" name="Shape 10"/>
          <p:cNvSpPr/>
          <p:nvPr/>
        </p:nvSpPr>
        <p:spPr bwMode="auto">
          <a:xfrm>
            <a:off x="4892039" y="1508759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32015152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52060" y="1668780"/>
            <a:ext cx="320040" cy="320040"/>
          </a:xfrm>
          <a:prstGeom prst="rect">
            <a:avLst/>
          </a:prstGeom>
        </p:spPr>
      </p:pic>
      <p:sp>
        <p:nvSpPr>
          <p:cNvPr id="1939232363" name="Text 11"/>
          <p:cNvSpPr/>
          <p:nvPr/>
        </p:nvSpPr>
        <p:spPr bwMode="auto">
          <a:xfrm>
            <a:off x="562356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Цена простоя</a:t>
            </a:r>
            <a:endParaRPr lang="en-US" sz="1400"/>
          </a:p>
        </p:txBody>
      </p:sp>
      <p:sp>
        <p:nvSpPr>
          <p:cNvPr id="51445313" name="Text 12"/>
          <p:cNvSpPr/>
          <p:nvPr/>
        </p:nvSpPr>
        <p:spPr bwMode="auto">
          <a:xfrm>
            <a:off x="4892039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Любой сбой ЛВС останавливает бизнес-процессы</a:t>
            </a:r>
            <a:endParaRPr lang="en-US" sz="1200"/>
          </a:p>
        </p:txBody>
      </p:sp>
      <p:sp>
        <p:nvSpPr>
          <p:cNvPr id="713527403" name="Shape 13"/>
          <p:cNvSpPr/>
          <p:nvPr/>
        </p:nvSpPr>
        <p:spPr bwMode="auto">
          <a:xfrm>
            <a:off x="50292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02360654" name="Shape 14"/>
          <p:cNvSpPr/>
          <p:nvPr/>
        </p:nvSpPr>
        <p:spPr bwMode="auto">
          <a:xfrm>
            <a:off x="502920" y="3063240"/>
            <a:ext cx="4023360" cy="54864"/>
          </a:xfrm>
          <a:prstGeom prst="rect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777541756" name="Shape 15"/>
          <p:cNvSpPr/>
          <p:nvPr/>
        </p:nvSpPr>
        <p:spPr bwMode="auto">
          <a:xfrm>
            <a:off x="731520" y="329184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32319846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91540" y="3451860"/>
            <a:ext cx="320040" cy="320040"/>
          </a:xfrm>
          <a:prstGeom prst="rect">
            <a:avLst/>
          </a:prstGeom>
        </p:spPr>
      </p:pic>
      <p:sp>
        <p:nvSpPr>
          <p:cNvPr id="700850734" name="Text 16"/>
          <p:cNvSpPr/>
          <p:nvPr/>
        </p:nvSpPr>
        <p:spPr bwMode="auto">
          <a:xfrm>
            <a:off x="146304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400" b="1">
                <a:solidFill>
                  <a:srgbClr val="0F2A47"/>
                </a:solidFill>
                <a:latin typeface="Arial Black"/>
              </a:rPr>
              <a:t>Локальные</a:t>
            </a:r>
            <a:r>
              <a:rPr lang="en-US" sz="1400" b="1">
                <a:solidFill>
                  <a:srgbClr val="0F2A47"/>
                </a:solidFill>
                <a:latin typeface="Arial Black"/>
              </a:rPr>
              <a:t> </a:t>
            </a:r>
            <a:r>
              <a:rPr lang="en-US" sz="1400" b="1">
                <a:solidFill>
                  <a:srgbClr val="0F2A47"/>
                </a:solidFill>
                <a:latin typeface="Arial Black"/>
              </a:rPr>
              <a:t>решения</a:t>
            </a:r>
            <a:endParaRPr/>
          </a:p>
        </p:txBody>
      </p:sp>
      <p:sp>
        <p:nvSpPr>
          <p:cNvPr id="1631078565" name="Text 17"/>
          <p:cNvSpPr/>
          <p:nvPr/>
        </p:nvSpPr>
        <p:spPr bwMode="auto">
          <a:xfrm>
            <a:off x="73152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Переход на отечественные ОС из реестра Минцифры</a:t>
            </a:r>
            <a:endParaRPr lang="en-US" sz="1200"/>
          </a:p>
        </p:txBody>
      </p:sp>
      <p:sp>
        <p:nvSpPr>
          <p:cNvPr id="251716652" name="Shape 18"/>
          <p:cNvSpPr/>
          <p:nvPr/>
        </p:nvSpPr>
        <p:spPr bwMode="auto">
          <a:xfrm>
            <a:off x="466344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70402393" name="Shape 19"/>
          <p:cNvSpPr/>
          <p:nvPr/>
        </p:nvSpPr>
        <p:spPr bwMode="auto">
          <a:xfrm>
            <a:off x="4663440" y="3063240"/>
            <a:ext cx="402336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03211769" name="Shape 20"/>
          <p:cNvSpPr/>
          <p:nvPr/>
        </p:nvSpPr>
        <p:spPr bwMode="auto">
          <a:xfrm>
            <a:off x="4892039" y="329184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84836493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052060" y="3451860"/>
            <a:ext cx="320040" cy="320040"/>
          </a:xfrm>
          <a:prstGeom prst="rect">
            <a:avLst/>
          </a:prstGeom>
        </p:spPr>
      </p:pic>
      <p:sp>
        <p:nvSpPr>
          <p:cNvPr id="447205400" name="Text 21"/>
          <p:cNvSpPr/>
          <p:nvPr/>
        </p:nvSpPr>
        <p:spPr bwMode="auto">
          <a:xfrm>
            <a:off x="562356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Превентивный контроль</a:t>
            </a:r>
            <a:endParaRPr lang="en-US" sz="1400"/>
          </a:p>
        </p:txBody>
      </p:sp>
      <p:sp>
        <p:nvSpPr>
          <p:cNvPr id="140812818" name="Text 22"/>
          <p:cNvSpPr/>
          <p:nvPr/>
        </p:nvSpPr>
        <p:spPr bwMode="auto">
          <a:xfrm>
            <a:off x="4892039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Обнаружение проблем до их влияния на пользователей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005012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582237481" name="Text 1"/>
          <p:cNvSpPr/>
          <p:nvPr/>
        </p:nvSpPr>
        <p:spPr bwMode="auto"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Цель и задачи</a:t>
            </a:r>
            <a:endParaRPr lang="en-US" sz="2800"/>
          </a:p>
        </p:txBody>
      </p:sp>
      <p:sp>
        <p:nvSpPr>
          <p:cNvPr id="846629026" name="Text 2"/>
          <p:cNvSpPr/>
          <p:nvPr/>
        </p:nvSpPr>
        <p:spPr bwMode="auto"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Что предстояло сделать</a:t>
            </a:r>
            <a:endParaRPr lang="en-US" sz="1300"/>
          </a:p>
        </p:txBody>
      </p:sp>
      <p:sp>
        <p:nvSpPr>
          <p:cNvPr id="1698701246" name="Shape 3"/>
          <p:cNvSpPr/>
          <p:nvPr/>
        </p:nvSpPr>
        <p:spPr bwMode="auto">
          <a:xfrm>
            <a:off x="502920" y="1280160"/>
            <a:ext cx="8138160" cy="9144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3499495" name="Shape 4"/>
          <p:cNvSpPr/>
          <p:nvPr/>
        </p:nvSpPr>
        <p:spPr bwMode="auto">
          <a:xfrm>
            <a:off x="731520" y="1463040"/>
            <a:ext cx="548640" cy="54864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2204152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68680" y="1600200"/>
            <a:ext cx="274320" cy="274320"/>
          </a:xfrm>
          <a:prstGeom prst="rect">
            <a:avLst/>
          </a:prstGeom>
        </p:spPr>
      </p:pic>
      <p:sp>
        <p:nvSpPr>
          <p:cNvPr id="1911985798" name="Text 5"/>
          <p:cNvSpPr/>
          <p:nvPr/>
        </p:nvSpPr>
        <p:spPr bwMode="auto">
          <a:xfrm>
            <a:off x="14630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spc="600">
                <a:solidFill>
                  <a:srgbClr val="F39C12"/>
                </a:solidFill>
                <a:latin typeface="Arial Black"/>
                <a:ea typeface="Arial Black"/>
                <a:cs typeface="Arial Black"/>
              </a:rPr>
              <a:t>ЦЕЛЬ</a:t>
            </a:r>
            <a:endParaRPr lang="en-US" sz="1100"/>
          </a:p>
        </p:txBody>
      </p:sp>
      <p:sp>
        <p:nvSpPr>
          <p:cNvPr id="847947071" name="Text 6"/>
          <p:cNvSpPr/>
          <p:nvPr/>
        </p:nvSpPr>
        <p:spPr bwMode="auto">
          <a:xfrm>
            <a:off x="1463040" y="1645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Сравнительный анализ систем мониторинга и практическое внедрение Zabbix на отечественной ОС Альт Сервер 10</a:t>
            </a:r>
            <a:endParaRPr lang="en-US" sz="1300"/>
          </a:p>
        </p:txBody>
      </p:sp>
      <p:sp>
        <p:nvSpPr>
          <p:cNvPr id="1061930069" name="Text 7"/>
          <p:cNvSpPr/>
          <p:nvPr/>
        </p:nvSpPr>
        <p:spPr bwMode="auto">
          <a:xfrm>
            <a:off x="5029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600">
                <a:solidFill>
                  <a:srgbClr val="E94B35"/>
                </a:solidFill>
                <a:latin typeface="Arial Black"/>
                <a:ea typeface="Arial Black"/>
                <a:cs typeface="Arial Black"/>
              </a:rPr>
              <a:t>ЗАДАЧИ</a:t>
            </a:r>
            <a:endParaRPr lang="en-US" sz="1200"/>
          </a:p>
        </p:txBody>
      </p:sp>
      <p:sp>
        <p:nvSpPr>
          <p:cNvPr id="1739425558" name="Shape 8"/>
          <p:cNvSpPr/>
          <p:nvPr/>
        </p:nvSpPr>
        <p:spPr bwMode="auto">
          <a:xfrm>
            <a:off x="502920" y="278892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767510539" name="Text 9"/>
          <p:cNvSpPr/>
          <p:nvPr/>
        </p:nvSpPr>
        <p:spPr bwMode="auto">
          <a:xfrm>
            <a:off x="50292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1</a:t>
            </a:r>
            <a:endParaRPr lang="en-US" sz="1800"/>
          </a:p>
        </p:txBody>
      </p:sp>
      <p:sp>
        <p:nvSpPr>
          <p:cNvPr id="844614925" name="Text 10"/>
          <p:cNvSpPr/>
          <p:nvPr/>
        </p:nvSpPr>
        <p:spPr bwMode="auto">
          <a:xfrm>
            <a:off x="114300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Изучить теоретические основы организации и мониторинга ЛВС</a:t>
            </a:r>
            <a:endParaRPr lang="en-US" sz="1200"/>
          </a:p>
        </p:txBody>
      </p:sp>
      <p:sp>
        <p:nvSpPr>
          <p:cNvPr id="1348185412" name="Shape 11"/>
          <p:cNvSpPr/>
          <p:nvPr/>
        </p:nvSpPr>
        <p:spPr bwMode="auto">
          <a:xfrm>
            <a:off x="4663440" y="278892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861279423" name="Text 12"/>
          <p:cNvSpPr/>
          <p:nvPr/>
        </p:nvSpPr>
        <p:spPr bwMode="auto">
          <a:xfrm>
            <a:off x="46634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2</a:t>
            </a:r>
            <a:endParaRPr lang="en-US" sz="1800"/>
          </a:p>
        </p:txBody>
      </p:sp>
      <p:sp>
        <p:nvSpPr>
          <p:cNvPr id="1288112579" name="Text 13"/>
          <p:cNvSpPr/>
          <p:nvPr/>
        </p:nvSpPr>
        <p:spPr bwMode="auto">
          <a:xfrm>
            <a:off x="530352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Сравнить существующие системы мониторинга по 10 критериям</a:t>
            </a:r>
            <a:endParaRPr lang="en-US" sz="1200"/>
          </a:p>
        </p:txBody>
      </p:sp>
      <p:sp>
        <p:nvSpPr>
          <p:cNvPr id="119361992" name="Shape 14"/>
          <p:cNvSpPr/>
          <p:nvPr/>
        </p:nvSpPr>
        <p:spPr bwMode="auto">
          <a:xfrm>
            <a:off x="502920" y="356616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1615848441" name="Text 15"/>
          <p:cNvSpPr/>
          <p:nvPr/>
        </p:nvSpPr>
        <p:spPr bwMode="auto">
          <a:xfrm>
            <a:off x="5029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3</a:t>
            </a:r>
            <a:endParaRPr lang="en-US" sz="1800"/>
          </a:p>
        </p:txBody>
      </p:sp>
      <p:sp>
        <p:nvSpPr>
          <p:cNvPr id="1207990097" name="Text 16"/>
          <p:cNvSpPr/>
          <p:nvPr/>
        </p:nvSpPr>
        <p:spPr bwMode="auto">
          <a:xfrm>
            <a:off x="114300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Обосновать выбор оптимальной системы</a:t>
            </a:r>
            <a:endParaRPr lang="en-US" sz="1200"/>
          </a:p>
        </p:txBody>
      </p:sp>
      <p:sp>
        <p:nvSpPr>
          <p:cNvPr id="1276348699" name="Shape 17"/>
          <p:cNvSpPr/>
          <p:nvPr/>
        </p:nvSpPr>
        <p:spPr bwMode="auto">
          <a:xfrm>
            <a:off x="4663440" y="356616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56192880" name="Text 18"/>
          <p:cNvSpPr/>
          <p:nvPr/>
        </p:nvSpPr>
        <p:spPr bwMode="auto">
          <a:xfrm>
            <a:off x="46634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4</a:t>
            </a:r>
            <a:endParaRPr lang="en-US" sz="1800"/>
          </a:p>
        </p:txBody>
      </p:sp>
      <p:sp>
        <p:nvSpPr>
          <p:cNvPr id="14664803" name="Text 19"/>
          <p:cNvSpPr/>
          <p:nvPr/>
        </p:nvSpPr>
        <p:spPr bwMode="auto">
          <a:xfrm>
            <a:off x="530352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Развернуть и настроить систему на тестовом стенде</a:t>
            </a:r>
            <a:endParaRPr lang="en-US" sz="1200"/>
          </a:p>
        </p:txBody>
      </p:sp>
      <p:sp>
        <p:nvSpPr>
          <p:cNvPr id="1217295527" name="Shape 20"/>
          <p:cNvSpPr/>
          <p:nvPr/>
        </p:nvSpPr>
        <p:spPr bwMode="auto">
          <a:xfrm>
            <a:off x="502920" y="4343400"/>
            <a:ext cx="502920" cy="50292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741655693" name="Text 21"/>
          <p:cNvSpPr/>
          <p:nvPr/>
        </p:nvSpPr>
        <p:spPr bwMode="auto">
          <a:xfrm>
            <a:off x="5029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5</a:t>
            </a:r>
            <a:endParaRPr lang="en-US" sz="1800"/>
          </a:p>
        </p:txBody>
      </p:sp>
      <p:sp>
        <p:nvSpPr>
          <p:cNvPr id="1291853784" name="Text 22"/>
          <p:cNvSpPr/>
          <p:nvPr/>
        </p:nvSpPr>
        <p:spPr bwMode="auto">
          <a:xfrm>
            <a:off x="1143000" y="4297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Выполнить экономическое обоснование проекта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598812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613187856" name="Text 1"/>
          <p:cNvSpPr/>
          <p:nvPr/>
        </p:nvSpPr>
        <p:spPr bwMode="auto"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Что такое ЛВС и её мониторинг</a:t>
            </a:r>
            <a:endParaRPr lang="en-US" sz="2800"/>
          </a:p>
        </p:txBody>
      </p:sp>
      <p:sp>
        <p:nvSpPr>
          <p:cNvPr id="1487352885" name="Text 2"/>
          <p:cNvSpPr/>
          <p:nvPr/>
        </p:nvSpPr>
        <p:spPr bwMode="auto"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Ключевые понятия</a:t>
            </a:r>
            <a:endParaRPr lang="en-US" sz="1300"/>
          </a:p>
        </p:txBody>
      </p:sp>
      <p:sp>
        <p:nvSpPr>
          <p:cNvPr id="432070694" name="Shape 3"/>
          <p:cNvSpPr/>
          <p:nvPr/>
        </p:nvSpPr>
        <p:spPr bwMode="auto">
          <a:xfrm>
            <a:off x="502920" y="1280160"/>
            <a:ext cx="3840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19435264" name="Shape 4"/>
          <p:cNvSpPr/>
          <p:nvPr/>
        </p:nvSpPr>
        <p:spPr bwMode="auto">
          <a:xfrm>
            <a:off x="777240" y="155448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7780151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37260" y="1714500"/>
            <a:ext cx="320040" cy="320040"/>
          </a:xfrm>
          <a:prstGeom prst="rect">
            <a:avLst/>
          </a:prstGeom>
        </p:spPr>
      </p:pic>
      <p:sp>
        <p:nvSpPr>
          <p:cNvPr id="582888979" name="Text 5"/>
          <p:cNvSpPr/>
          <p:nvPr/>
        </p:nvSpPr>
        <p:spPr bwMode="auto">
          <a:xfrm>
            <a:off x="155448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ЛВС</a:t>
            </a:r>
            <a:endParaRPr lang="en-US" sz="1800"/>
          </a:p>
        </p:txBody>
      </p:sp>
      <p:sp>
        <p:nvSpPr>
          <p:cNvPr id="1190385845" name="Text 6"/>
          <p:cNvSpPr/>
          <p:nvPr/>
        </p:nvSpPr>
        <p:spPr bwMode="auto">
          <a:xfrm>
            <a:off x="777240" y="23317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Группа компьютеров и периферийного оборудования, объединённых в пределах ограниченной территории и использующих общие коммуникационные ресурсы.</a:t>
            </a:r>
            <a:endParaRPr lang="en-US" sz="1200"/>
          </a:p>
        </p:txBody>
      </p:sp>
      <p:sp>
        <p:nvSpPr>
          <p:cNvPr id="456221815" name="Shape 7"/>
          <p:cNvSpPr/>
          <p:nvPr/>
        </p:nvSpPr>
        <p:spPr bwMode="auto">
          <a:xfrm>
            <a:off x="777240" y="3520440"/>
            <a:ext cx="3291840" cy="0"/>
          </a:xfrm>
          <a:prstGeom prst="line">
            <a:avLst/>
          </a:prstGeom>
          <a:noFill/>
          <a:ln w="12700">
            <a:solidFill>
              <a:srgbClr val="D6DDE6"/>
            </a:solidFill>
            <a:prstDash val="solid"/>
          </a:ln>
        </p:spPr>
      </p:sp>
      <p:sp>
        <p:nvSpPr>
          <p:cNvPr id="406378537" name="Shape 8"/>
          <p:cNvSpPr/>
          <p:nvPr/>
        </p:nvSpPr>
        <p:spPr bwMode="auto">
          <a:xfrm>
            <a:off x="777240" y="3703320"/>
            <a:ext cx="502920" cy="50292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02982974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02970" y="3829050"/>
            <a:ext cx="251460" cy="251460"/>
          </a:xfrm>
          <a:prstGeom prst="rect">
            <a:avLst/>
          </a:prstGeom>
        </p:spPr>
      </p:pic>
      <p:sp>
        <p:nvSpPr>
          <p:cNvPr id="1705815732" name="Text 9"/>
          <p:cNvSpPr/>
          <p:nvPr/>
        </p:nvSpPr>
        <p:spPr bwMode="auto">
          <a:xfrm>
            <a:off x="1417320" y="3703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Мониторинг — непрерывное наблюдение за состоянием узлов, сервисов и каналов с автоматическим оповещением о проблемах.</a:t>
            </a:r>
            <a:endParaRPr lang="en-US" sz="1100"/>
          </a:p>
        </p:txBody>
      </p:sp>
      <p:sp>
        <p:nvSpPr>
          <p:cNvPr id="1857962535" name="Shape 10"/>
          <p:cNvSpPr/>
          <p:nvPr/>
        </p:nvSpPr>
        <p:spPr bwMode="auto">
          <a:xfrm>
            <a:off x="4663440" y="1280160"/>
            <a:ext cx="4023360" cy="34747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28312549" name="Text 11"/>
          <p:cNvSpPr/>
          <p:nvPr/>
        </p:nvSpPr>
        <p:spPr bwMode="auto">
          <a:xfrm>
            <a:off x="4663440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39C12"/>
                </a:solidFill>
                <a:latin typeface="Arial Black"/>
                <a:ea typeface="Arial Black"/>
                <a:cs typeface="Arial Black"/>
              </a:rPr>
              <a:t>Объекты мониторинга</a:t>
            </a:r>
            <a:endParaRPr lang="en-US" sz="1200"/>
          </a:p>
        </p:txBody>
      </p:sp>
      <p:sp>
        <p:nvSpPr>
          <p:cNvPr id="1622550387" name="Shape 12"/>
          <p:cNvSpPr/>
          <p:nvPr/>
        </p:nvSpPr>
        <p:spPr bwMode="auto">
          <a:xfrm>
            <a:off x="6263640" y="2240280"/>
            <a:ext cx="822960" cy="82296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pic>
        <p:nvPicPr>
          <p:cNvPr id="1524204348" name="Image 2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46520" y="2423160"/>
            <a:ext cx="457200" cy="457200"/>
          </a:xfrm>
          <a:prstGeom prst="rect">
            <a:avLst/>
          </a:prstGeom>
        </p:spPr>
      </p:pic>
      <p:sp>
        <p:nvSpPr>
          <p:cNvPr id="317253920" name="Text 13"/>
          <p:cNvSpPr/>
          <p:nvPr/>
        </p:nvSpPr>
        <p:spPr bwMode="auto">
          <a:xfrm>
            <a:off x="594360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Zabbix</a:t>
            </a:r>
            <a:endParaRPr lang="en-US" sz="1100"/>
          </a:p>
        </p:txBody>
      </p:sp>
      <p:sp>
        <p:nvSpPr>
          <p:cNvPr id="281205941" name="Shape 15"/>
          <p:cNvSpPr/>
          <p:nvPr/>
        </p:nvSpPr>
        <p:spPr bwMode="auto">
          <a:xfrm>
            <a:off x="4937760" y="33832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139511969" name="Image 3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047488" y="3493008"/>
            <a:ext cx="329184" cy="329184"/>
          </a:xfrm>
          <a:prstGeom prst="rect">
            <a:avLst/>
          </a:prstGeom>
        </p:spPr>
      </p:pic>
      <p:sp>
        <p:nvSpPr>
          <p:cNvPr id="1030497970" name="Text 16"/>
          <p:cNvSpPr/>
          <p:nvPr/>
        </p:nvSpPr>
        <p:spPr bwMode="auto">
          <a:xfrm>
            <a:off x="4572000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Сервер</a:t>
            </a:r>
            <a:endParaRPr lang="en-US" sz="900"/>
          </a:p>
        </p:txBody>
      </p:sp>
      <p:sp>
        <p:nvSpPr>
          <p:cNvPr id="1802171381" name="Shape 18"/>
          <p:cNvSpPr/>
          <p:nvPr/>
        </p:nvSpPr>
        <p:spPr bwMode="auto">
          <a:xfrm>
            <a:off x="5852160" y="38404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2064844108" name="Image 4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961888" y="3950208"/>
            <a:ext cx="329184" cy="329184"/>
          </a:xfrm>
          <a:prstGeom prst="rect">
            <a:avLst/>
          </a:prstGeom>
        </p:spPr>
      </p:pic>
      <p:sp>
        <p:nvSpPr>
          <p:cNvPr id="1631806358" name="Text 19"/>
          <p:cNvSpPr/>
          <p:nvPr/>
        </p:nvSpPr>
        <p:spPr bwMode="auto">
          <a:xfrm>
            <a:off x="548640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ПК</a:t>
            </a:r>
            <a:endParaRPr lang="en-US" sz="900"/>
          </a:p>
        </p:txBody>
      </p:sp>
      <p:sp>
        <p:nvSpPr>
          <p:cNvPr id="565011865" name="Shape 21"/>
          <p:cNvSpPr/>
          <p:nvPr/>
        </p:nvSpPr>
        <p:spPr bwMode="auto">
          <a:xfrm>
            <a:off x="6949440" y="38404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1532342194" name="Image 5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7059168" y="3950208"/>
            <a:ext cx="329184" cy="329184"/>
          </a:xfrm>
          <a:prstGeom prst="rect">
            <a:avLst/>
          </a:prstGeom>
        </p:spPr>
      </p:pic>
      <p:sp>
        <p:nvSpPr>
          <p:cNvPr id="2078939000" name="Text 22"/>
          <p:cNvSpPr/>
          <p:nvPr/>
        </p:nvSpPr>
        <p:spPr bwMode="auto">
          <a:xfrm>
            <a:off x="658368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Роутер</a:t>
            </a:r>
            <a:endParaRPr lang="en-US" sz="900"/>
          </a:p>
        </p:txBody>
      </p:sp>
      <p:sp>
        <p:nvSpPr>
          <p:cNvPr id="1206038398" name="Shape 24"/>
          <p:cNvSpPr/>
          <p:nvPr/>
        </p:nvSpPr>
        <p:spPr bwMode="auto">
          <a:xfrm>
            <a:off x="7863840" y="3383280"/>
            <a:ext cx="548640" cy="54864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pic>
        <p:nvPicPr>
          <p:cNvPr id="117714031" name="Image 6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7973568" y="3493008"/>
            <a:ext cx="329184" cy="329184"/>
          </a:xfrm>
          <a:prstGeom prst="rect">
            <a:avLst/>
          </a:prstGeom>
        </p:spPr>
      </p:pic>
      <p:sp>
        <p:nvSpPr>
          <p:cNvPr id="2133052426" name="Text 25"/>
          <p:cNvSpPr/>
          <p:nvPr/>
        </p:nvSpPr>
        <p:spPr bwMode="auto">
          <a:xfrm>
            <a:off x="7498080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Коммутатор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659348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434604670" name="Text 1"/>
          <p:cNvSpPr/>
          <p:nvPr/>
        </p:nvSpPr>
        <p:spPr bwMode="auto"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Обзор систем мониторинга</a:t>
            </a:r>
            <a:endParaRPr lang="en-US" sz="2800"/>
          </a:p>
        </p:txBody>
      </p:sp>
      <p:sp>
        <p:nvSpPr>
          <p:cNvPr id="1495340042" name="Text 2"/>
          <p:cNvSpPr/>
          <p:nvPr/>
        </p:nvSpPr>
        <p:spPr bwMode="auto"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Какие решения рассматривались</a:t>
            </a:r>
            <a:endParaRPr lang="en-US" sz="1300"/>
          </a:p>
        </p:txBody>
      </p:sp>
      <p:sp>
        <p:nvSpPr>
          <p:cNvPr id="353976516" name="Shape 3"/>
          <p:cNvSpPr/>
          <p:nvPr/>
        </p:nvSpPr>
        <p:spPr bwMode="auto">
          <a:xfrm>
            <a:off x="502920" y="1234440"/>
            <a:ext cx="1874520" cy="1554480"/>
          </a:xfrm>
          <a:prstGeom prst="rect">
            <a:avLst/>
          </a:prstGeom>
          <a:solidFill>
            <a:srgbClr val="0F2A47"/>
          </a:solidFill>
          <a:ln w="254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63003039" name="Shape 4"/>
          <p:cNvSpPr/>
          <p:nvPr/>
        </p:nvSpPr>
        <p:spPr bwMode="auto">
          <a:xfrm>
            <a:off x="1120140" y="1417320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91202449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80160" y="1577340"/>
            <a:ext cx="320040" cy="320040"/>
          </a:xfrm>
          <a:prstGeom prst="rect">
            <a:avLst/>
          </a:prstGeom>
        </p:spPr>
      </p:pic>
      <p:sp>
        <p:nvSpPr>
          <p:cNvPr id="1259022661" name="Text 5"/>
          <p:cNvSpPr/>
          <p:nvPr/>
        </p:nvSpPr>
        <p:spPr bwMode="auto">
          <a:xfrm>
            <a:off x="594360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Zabbix</a:t>
            </a:r>
            <a:endParaRPr lang="en-US" sz="1300"/>
          </a:p>
        </p:txBody>
      </p:sp>
      <p:sp>
        <p:nvSpPr>
          <p:cNvPr id="1304150977" name="Text 6"/>
          <p:cNvSpPr/>
          <p:nvPr/>
        </p:nvSpPr>
        <p:spPr bwMode="auto">
          <a:xfrm>
            <a:off x="594360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Свободная</a:t>
            </a:r>
            <a:endParaRPr lang="en-US" sz="1000"/>
          </a:p>
        </p:txBody>
      </p:sp>
      <p:sp>
        <p:nvSpPr>
          <p:cNvPr id="584887071" name="Shape 7"/>
          <p:cNvSpPr/>
          <p:nvPr/>
        </p:nvSpPr>
        <p:spPr bwMode="auto">
          <a:xfrm>
            <a:off x="2542032" y="123444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4404006" name="Shape 8"/>
          <p:cNvSpPr/>
          <p:nvPr/>
        </p:nvSpPr>
        <p:spPr bwMode="auto">
          <a:xfrm>
            <a:off x="3159252" y="141732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85919435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319272" y="1577340"/>
            <a:ext cx="320040" cy="320040"/>
          </a:xfrm>
          <a:prstGeom prst="rect">
            <a:avLst/>
          </a:prstGeom>
        </p:spPr>
      </p:pic>
      <p:sp>
        <p:nvSpPr>
          <p:cNvPr id="351334142" name="Text 9"/>
          <p:cNvSpPr/>
          <p:nvPr/>
        </p:nvSpPr>
        <p:spPr bwMode="auto">
          <a:xfrm>
            <a:off x="2633472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Nagios / Icinga 2</a:t>
            </a:r>
            <a:endParaRPr lang="en-US" sz="1300"/>
          </a:p>
        </p:txBody>
      </p:sp>
      <p:sp>
        <p:nvSpPr>
          <p:cNvPr id="538305398" name="Text 10"/>
          <p:cNvSpPr/>
          <p:nvPr/>
        </p:nvSpPr>
        <p:spPr bwMode="auto">
          <a:xfrm>
            <a:off x="2633472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Свободная</a:t>
            </a:r>
            <a:endParaRPr lang="en-US" sz="1000"/>
          </a:p>
        </p:txBody>
      </p:sp>
      <p:sp>
        <p:nvSpPr>
          <p:cNvPr id="213799984" name="Shape 11"/>
          <p:cNvSpPr/>
          <p:nvPr/>
        </p:nvSpPr>
        <p:spPr bwMode="auto">
          <a:xfrm>
            <a:off x="4581144" y="123444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04128240" name="Shape 12"/>
          <p:cNvSpPr/>
          <p:nvPr/>
        </p:nvSpPr>
        <p:spPr bwMode="auto">
          <a:xfrm>
            <a:off x="5198364" y="141732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14241504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358384" y="1577340"/>
            <a:ext cx="320040" cy="320040"/>
          </a:xfrm>
          <a:prstGeom prst="rect">
            <a:avLst/>
          </a:prstGeom>
        </p:spPr>
      </p:pic>
      <p:sp>
        <p:nvSpPr>
          <p:cNvPr id="679835180" name="Text 13"/>
          <p:cNvSpPr/>
          <p:nvPr/>
        </p:nvSpPr>
        <p:spPr bwMode="auto">
          <a:xfrm>
            <a:off x="4672584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Prometheus</a:t>
            </a:r>
            <a:endParaRPr lang="en-US" sz="1300"/>
          </a:p>
        </p:txBody>
      </p:sp>
      <p:sp>
        <p:nvSpPr>
          <p:cNvPr id="1719172790" name="Text 14"/>
          <p:cNvSpPr/>
          <p:nvPr/>
        </p:nvSpPr>
        <p:spPr bwMode="auto">
          <a:xfrm>
            <a:off x="4672584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Свободная</a:t>
            </a:r>
            <a:endParaRPr lang="en-US" sz="1000"/>
          </a:p>
        </p:txBody>
      </p:sp>
      <p:sp>
        <p:nvSpPr>
          <p:cNvPr id="1342968338" name="Shape 15"/>
          <p:cNvSpPr/>
          <p:nvPr/>
        </p:nvSpPr>
        <p:spPr bwMode="auto">
          <a:xfrm>
            <a:off x="6620255" y="123444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17221382" name="Shape 16"/>
          <p:cNvSpPr/>
          <p:nvPr/>
        </p:nvSpPr>
        <p:spPr bwMode="auto">
          <a:xfrm>
            <a:off x="7237476" y="1417320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15495657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397496" y="1577340"/>
            <a:ext cx="320040" cy="320040"/>
          </a:xfrm>
          <a:prstGeom prst="rect">
            <a:avLst/>
          </a:prstGeom>
        </p:spPr>
      </p:pic>
      <p:sp>
        <p:nvSpPr>
          <p:cNvPr id="1438384368" name="Text 17"/>
          <p:cNvSpPr/>
          <p:nvPr/>
        </p:nvSpPr>
        <p:spPr bwMode="auto">
          <a:xfrm>
            <a:off x="6711696" y="2148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LibreNMS</a:t>
            </a:r>
            <a:endParaRPr lang="en-US" sz="1300"/>
          </a:p>
        </p:txBody>
      </p:sp>
      <p:sp>
        <p:nvSpPr>
          <p:cNvPr id="1503747847" name="Text 18"/>
          <p:cNvSpPr/>
          <p:nvPr/>
        </p:nvSpPr>
        <p:spPr bwMode="auto">
          <a:xfrm>
            <a:off x="6711696" y="24688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Свободная</a:t>
            </a:r>
            <a:endParaRPr lang="en-US" sz="1000"/>
          </a:p>
        </p:txBody>
      </p:sp>
      <p:sp>
        <p:nvSpPr>
          <p:cNvPr id="1528738570" name="Shape 19"/>
          <p:cNvSpPr/>
          <p:nvPr/>
        </p:nvSpPr>
        <p:spPr bwMode="auto">
          <a:xfrm>
            <a:off x="502920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56780616" name="Shape 20"/>
          <p:cNvSpPr/>
          <p:nvPr/>
        </p:nvSpPr>
        <p:spPr bwMode="auto">
          <a:xfrm>
            <a:off x="1120140" y="31546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44908613" name="Image 4" descr="preencoded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280160" y="3314700"/>
            <a:ext cx="320040" cy="320040"/>
          </a:xfrm>
          <a:prstGeom prst="rect">
            <a:avLst/>
          </a:prstGeom>
        </p:spPr>
      </p:pic>
      <p:sp>
        <p:nvSpPr>
          <p:cNvPr id="1221398879" name="Text 21"/>
          <p:cNvSpPr/>
          <p:nvPr/>
        </p:nvSpPr>
        <p:spPr bwMode="auto">
          <a:xfrm>
            <a:off x="594360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PRTG</a:t>
            </a:r>
            <a:endParaRPr lang="en-US" sz="1300"/>
          </a:p>
        </p:txBody>
      </p:sp>
      <p:sp>
        <p:nvSpPr>
          <p:cNvPr id="1202070424" name="Text 22"/>
          <p:cNvSpPr/>
          <p:nvPr/>
        </p:nvSpPr>
        <p:spPr bwMode="auto">
          <a:xfrm>
            <a:off x="594360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Проприет.</a:t>
            </a:r>
            <a:endParaRPr lang="en-US" sz="1000"/>
          </a:p>
        </p:txBody>
      </p:sp>
      <p:sp>
        <p:nvSpPr>
          <p:cNvPr id="772879760" name="Shape 23"/>
          <p:cNvSpPr/>
          <p:nvPr/>
        </p:nvSpPr>
        <p:spPr bwMode="auto">
          <a:xfrm>
            <a:off x="2542032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0786890" name="Shape 24"/>
          <p:cNvSpPr/>
          <p:nvPr/>
        </p:nvSpPr>
        <p:spPr bwMode="auto">
          <a:xfrm>
            <a:off x="3159252" y="31546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4620359" name="Image 5" descr="preencoded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3319272" y="3314700"/>
            <a:ext cx="320040" cy="320040"/>
          </a:xfrm>
          <a:prstGeom prst="rect">
            <a:avLst/>
          </a:prstGeom>
        </p:spPr>
      </p:pic>
      <p:sp>
        <p:nvSpPr>
          <p:cNvPr id="969742865" name="Text 25"/>
          <p:cNvSpPr/>
          <p:nvPr/>
        </p:nvSpPr>
        <p:spPr bwMode="auto">
          <a:xfrm>
            <a:off x="2633472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SolarWinds</a:t>
            </a:r>
            <a:endParaRPr lang="en-US" sz="1300"/>
          </a:p>
        </p:txBody>
      </p:sp>
      <p:sp>
        <p:nvSpPr>
          <p:cNvPr id="1815803600" name="Text 26"/>
          <p:cNvSpPr/>
          <p:nvPr/>
        </p:nvSpPr>
        <p:spPr bwMode="auto">
          <a:xfrm>
            <a:off x="2633472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Проприет.</a:t>
            </a:r>
            <a:endParaRPr lang="en-US" sz="1000"/>
          </a:p>
        </p:txBody>
      </p:sp>
      <p:sp>
        <p:nvSpPr>
          <p:cNvPr id="1128578488" name="Shape 27"/>
          <p:cNvSpPr/>
          <p:nvPr/>
        </p:nvSpPr>
        <p:spPr bwMode="auto">
          <a:xfrm>
            <a:off x="4581144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00136334" name="Shape 28"/>
          <p:cNvSpPr/>
          <p:nvPr/>
        </p:nvSpPr>
        <p:spPr bwMode="auto">
          <a:xfrm>
            <a:off x="5198364" y="3154680"/>
            <a:ext cx="640080" cy="6400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44707397" name="Image 6" descr="preencoded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5358384" y="3314700"/>
            <a:ext cx="320040" cy="320040"/>
          </a:xfrm>
          <a:prstGeom prst="rect">
            <a:avLst/>
          </a:prstGeom>
        </p:spPr>
      </p:pic>
      <p:sp>
        <p:nvSpPr>
          <p:cNvPr id="1992769754" name="Text 29"/>
          <p:cNvSpPr/>
          <p:nvPr/>
        </p:nvSpPr>
        <p:spPr bwMode="auto">
          <a:xfrm>
            <a:off x="4672584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Checkmk</a:t>
            </a:r>
            <a:endParaRPr lang="en-US" sz="1300"/>
          </a:p>
        </p:txBody>
      </p:sp>
      <p:sp>
        <p:nvSpPr>
          <p:cNvPr id="591994674" name="Text 30"/>
          <p:cNvSpPr/>
          <p:nvPr/>
        </p:nvSpPr>
        <p:spPr bwMode="auto">
          <a:xfrm>
            <a:off x="4672584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Проприет.</a:t>
            </a:r>
            <a:endParaRPr lang="en-US" sz="1000"/>
          </a:p>
        </p:txBody>
      </p:sp>
      <p:sp>
        <p:nvSpPr>
          <p:cNvPr id="1908717275" name="Shape 31"/>
          <p:cNvSpPr/>
          <p:nvPr/>
        </p:nvSpPr>
        <p:spPr bwMode="auto">
          <a:xfrm>
            <a:off x="6620255" y="2971800"/>
            <a:ext cx="18745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79142240" name="Shape 32"/>
          <p:cNvSpPr/>
          <p:nvPr/>
        </p:nvSpPr>
        <p:spPr bwMode="auto">
          <a:xfrm>
            <a:off x="7237476" y="315468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04168991" name="Image 7" descr="preencoded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7397496" y="3314700"/>
            <a:ext cx="320040" cy="320040"/>
          </a:xfrm>
          <a:prstGeom prst="rect">
            <a:avLst/>
          </a:prstGeom>
        </p:spPr>
      </p:pic>
      <p:sp>
        <p:nvSpPr>
          <p:cNvPr id="1029362058" name="Text 33"/>
          <p:cNvSpPr/>
          <p:nvPr/>
        </p:nvSpPr>
        <p:spPr bwMode="auto">
          <a:xfrm>
            <a:off x="6711696" y="3886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Datadog</a:t>
            </a:r>
            <a:endParaRPr lang="en-US" sz="1300"/>
          </a:p>
        </p:txBody>
      </p:sp>
      <p:sp>
        <p:nvSpPr>
          <p:cNvPr id="1980045677" name="Text 34"/>
          <p:cNvSpPr/>
          <p:nvPr/>
        </p:nvSpPr>
        <p:spPr bwMode="auto">
          <a:xfrm>
            <a:off x="6711696" y="42062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Облачная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663593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42557957" name="Text 1"/>
          <p:cNvSpPr/>
          <p:nvPr/>
        </p:nvSpPr>
        <p:spPr bwMode="auto"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Сравнительный анализ</a:t>
            </a:r>
            <a:endParaRPr lang="en-US" sz="2800"/>
          </a:p>
        </p:txBody>
      </p:sp>
      <p:sp>
        <p:nvSpPr>
          <p:cNvPr id="570943661" name="Text 2"/>
          <p:cNvSpPr/>
          <p:nvPr/>
        </p:nvSpPr>
        <p:spPr bwMode="auto"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Оценка систем по ключевым критериям (5 — отлично)</a:t>
            </a:r>
            <a:endParaRPr lang="en-US" sz="1300"/>
          </a:p>
        </p:txBody>
      </p:sp>
      <p:graphicFrame>
        <p:nvGraphicFramePr>
          <p:cNvPr id="538662315" name="Chart 0"/>
          <p:cNvGraphicFramePr>
            <a:graphicFrameLocks xmlns:a="http://schemas.openxmlformats.org/drawingml/2006/main"/>
          </p:cNvGraphicFramePr>
          <p:nvPr/>
        </p:nvGraphicFramePr>
        <p:xfrm rot="0">
          <a:off x="548640" y="1234440"/>
          <a:ext cx="85039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33194616" name="Text 3"/>
          <p:cNvSpPr/>
          <p:nvPr/>
        </p:nvSpPr>
        <p:spPr bwMode="auto">
          <a:xfrm>
            <a:off x="502920" y="484632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 i="1">
                <a:solidFill>
                  <a:srgbClr val="E94B35"/>
                </a:solidFill>
                <a:latin typeface="Calibri"/>
                <a:ea typeface="Calibri"/>
                <a:cs typeface="Calibri"/>
              </a:rPr>
              <a:t>Победитель — Zabbix: максимум по лицензии, гибкости и поддержке отечественных платформ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43257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823832515" name="Text 1"/>
          <p:cNvSpPr/>
          <p:nvPr/>
        </p:nvSpPr>
        <p:spPr bwMode="auto"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Почему Zabbix</a:t>
            </a:r>
            <a:endParaRPr lang="en-US" sz="2800"/>
          </a:p>
        </p:txBody>
      </p:sp>
      <p:sp>
        <p:nvSpPr>
          <p:cNvPr id="1639764156" name="Text 2"/>
          <p:cNvSpPr/>
          <p:nvPr/>
        </p:nvSpPr>
        <p:spPr bwMode="auto"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Аргументы в пользу выбора</a:t>
            </a:r>
            <a:endParaRPr lang="en-US" sz="1300"/>
          </a:p>
        </p:txBody>
      </p:sp>
      <p:sp>
        <p:nvSpPr>
          <p:cNvPr id="1808267942" name="Shape 3"/>
          <p:cNvSpPr/>
          <p:nvPr/>
        </p:nvSpPr>
        <p:spPr bwMode="auto">
          <a:xfrm>
            <a:off x="50292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8677927" name="Shape 4"/>
          <p:cNvSpPr/>
          <p:nvPr/>
        </p:nvSpPr>
        <p:spPr bwMode="auto">
          <a:xfrm>
            <a:off x="502920" y="1280160"/>
            <a:ext cx="40233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1159500" name="Shape 5"/>
          <p:cNvSpPr/>
          <p:nvPr/>
        </p:nvSpPr>
        <p:spPr bwMode="auto">
          <a:xfrm>
            <a:off x="731520" y="1508759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0802271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465200898" name="Text 6"/>
          <p:cNvSpPr/>
          <p:nvPr/>
        </p:nvSpPr>
        <p:spPr bwMode="auto">
          <a:xfrm>
            <a:off x="146304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Свободная лицензия GPL v2</a:t>
            </a:r>
            <a:endParaRPr lang="en-US" sz="1400"/>
          </a:p>
        </p:txBody>
      </p:sp>
      <p:sp>
        <p:nvSpPr>
          <p:cNvPr id="759973425" name="Text 7"/>
          <p:cNvSpPr/>
          <p:nvPr/>
        </p:nvSpPr>
        <p:spPr bwMode="auto">
          <a:xfrm>
            <a:off x="731520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Стоимость владения — 0 ₽, нет ограничений на количество узлов</a:t>
            </a:r>
            <a:endParaRPr lang="en-US" sz="1200"/>
          </a:p>
        </p:txBody>
      </p:sp>
      <p:sp>
        <p:nvSpPr>
          <p:cNvPr id="698987790" name="Shape 8"/>
          <p:cNvSpPr/>
          <p:nvPr/>
        </p:nvSpPr>
        <p:spPr bwMode="auto">
          <a:xfrm>
            <a:off x="4663440" y="128016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00305110" name="Shape 9"/>
          <p:cNvSpPr/>
          <p:nvPr/>
        </p:nvSpPr>
        <p:spPr bwMode="auto">
          <a:xfrm>
            <a:off x="4663440" y="1280160"/>
            <a:ext cx="4023360" cy="5486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41411958" name="Shape 10"/>
          <p:cNvSpPr/>
          <p:nvPr/>
        </p:nvSpPr>
        <p:spPr bwMode="auto">
          <a:xfrm>
            <a:off x="4892039" y="1508759"/>
            <a:ext cx="640080" cy="6400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01151156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052060" y="1668780"/>
            <a:ext cx="320040" cy="320040"/>
          </a:xfrm>
          <a:prstGeom prst="rect">
            <a:avLst/>
          </a:prstGeom>
        </p:spPr>
      </p:pic>
      <p:sp>
        <p:nvSpPr>
          <p:cNvPr id="1088964713" name="Text 11"/>
          <p:cNvSpPr/>
          <p:nvPr/>
        </p:nvSpPr>
        <p:spPr bwMode="auto">
          <a:xfrm>
            <a:off x="5623560" y="14813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Гибкая настройка</a:t>
            </a:r>
            <a:endParaRPr lang="en-US" sz="1400"/>
          </a:p>
        </p:txBody>
      </p:sp>
      <p:sp>
        <p:nvSpPr>
          <p:cNvPr id="217870411" name="Text 12"/>
          <p:cNvSpPr/>
          <p:nvPr/>
        </p:nvSpPr>
        <p:spPr bwMode="auto">
          <a:xfrm>
            <a:off x="4892039" y="2240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Шаблоны, триггеры, скрипты — поддержка любых сценариев</a:t>
            </a:r>
            <a:endParaRPr lang="en-US" sz="1200"/>
          </a:p>
        </p:txBody>
      </p:sp>
      <p:sp>
        <p:nvSpPr>
          <p:cNvPr id="2048238217" name="Shape 13"/>
          <p:cNvSpPr/>
          <p:nvPr/>
        </p:nvSpPr>
        <p:spPr bwMode="auto">
          <a:xfrm>
            <a:off x="50292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20192141" name="Shape 14"/>
          <p:cNvSpPr/>
          <p:nvPr/>
        </p:nvSpPr>
        <p:spPr bwMode="auto">
          <a:xfrm>
            <a:off x="502920" y="3063240"/>
            <a:ext cx="4023360" cy="54864"/>
          </a:xfrm>
          <a:prstGeom prst="rect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</p:spPr>
      </p:sp>
      <p:sp>
        <p:nvSpPr>
          <p:cNvPr id="620892915" name="Shape 15"/>
          <p:cNvSpPr/>
          <p:nvPr/>
        </p:nvSpPr>
        <p:spPr bwMode="auto">
          <a:xfrm>
            <a:off x="731520" y="3291840"/>
            <a:ext cx="640080" cy="640080"/>
          </a:xfrm>
          <a:prstGeom prst="ellipse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35698827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91540" y="3451860"/>
            <a:ext cx="320040" cy="320040"/>
          </a:xfrm>
          <a:prstGeom prst="rect">
            <a:avLst/>
          </a:prstGeom>
        </p:spPr>
      </p:pic>
      <p:sp>
        <p:nvSpPr>
          <p:cNvPr id="130036048" name="Text 16"/>
          <p:cNvSpPr/>
          <p:nvPr/>
        </p:nvSpPr>
        <p:spPr bwMode="auto">
          <a:xfrm>
            <a:off x="146304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Все протоколы</a:t>
            </a:r>
            <a:endParaRPr lang="en-US" sz="1400"/>
          </a:p>
        </p:txBody>
      </p:sp>
      <p:sp>
        <p:nvSpPr>
          <p:cNvPr id="2017520325" name="Text 17"/>
          <p:cNvSpPr/>
          <p:nvPr/>
        </p:nvSpPr>
        <p:spPr bwMode="auto">
          <a:xfrm>
            <a:off x="731520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Агент, SNMP, IPMI, JMX, ICMP — единая платформа для всего</a:t>
            </a:r>
            <a:endParaRPr lang="en-US" sz="1200"/>
          </a:p>
        </p:txBody>
      </p:sp>
      <p:sp>
        <p:nvSpPr>
          <p:cNvPr id="1340362062" name="Shape 18"/>
          <p:cNvSpPr/>
          <p:nvPr/>
        </p:nvSpPr>
        <p:spPr bwMode="auto">
          <a:xfrm>
            <a:off x="4663440" y="3063240"/>
            <a:ext cx="40233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28609791" name="Shape 19"/>
          <p:cNvSpPr/>
          <p:nvPr/>
        </p:nvSpPr>
        <p:spPr bwMode="auto">
          <a:xfrm>
            <a:off x="4663440" y="3063240"/>
            <a:ext cx="4023360" cy="54864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705467836" name="Shape 20"/>
          <p:cNvSpPr/>
          <p:nvPr/>
        </p:nvSpPr>
        <p:spPr bwMode="auto">
          <a:xfrm>
            <a:off x="4892039" y="3291840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15100446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052060" y="3451860"/>
            <a:ext cx="320040" cy="320040"/>
          </a:xfrm>
          <a:prstGeom prst="rect">
            <a:avLst/>
          </a:prstGeom>
        </p:spPr>
      </p:pic>
      <p:sp>
        <p:nvSpPr>
          <p:cNvPr id="918704051" name="Text 21"/>
          <p:cNvSpPr/>
          <p:nvPr/>
        </p:nvSpPr>
        <p:spPr bwMode="auto">
          <a:xfrm>
            <a:off x="5623560" y="3264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Поддержка Альт Сервер</a:t>
            </a:r>
            <a:endParaRPr lang="en-US" sz="1400"/>
          </a:p>
        </p:txBody>
      </p:sp>
      <p:sp>
        <p:nvSpPr>
          <p:cNvPr id="1285953033" name="Text 22"/>
          <p:cNvSpPr/>
          <p:nvPr/>
        </p:nvSpPr>
        <p:spPr bwMode="auto">
          <a:xfrm>
            <a:off x="4892039" y="4023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Пакеты в официальном репозитории p10, не нужны сторонние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3850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681440131" name="Text 1"/>
          <p:cNvSpPr/>
          <p:nvPr/>
        </p:nvSpPr>
        <p:spPr bwMode="auto"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Технологический стек</a:t>
            </a:r>
            <a:endParaRPr lang="en-US" sz="2800"/>
          </a:p>
        </p:txBody>
      </p:sp>
      <p:sp>
        <p:nvSpPr>
          <p:cNvPr id="80636078" name="Text 2"/>
          <p:cNvSpPr/>
          <p:nvPr/>
        </p:nvSpPr>
        <p:spPr bwMode="auto"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Программные компоненты решения</a:t>
            </a:r>
            <a:endParaRPr lang="en-US" sz="1300"/>
          </a:p>
        </p:txBody>
      </p:sp>
      <p:sp>
        <p:nvSpPr>
          <p:cNvPr id="2141018650" name="Shape 3"/>
          <p:cNvSpPr/>
          <p:nvPr/>
        </p:nvSpPr>
        <p:spPr bwMode="auto">
          <a:xfrm>
            <a:off x="731520" y="1280160"/>
            <a:ext cx="7680960" cy="77724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92607876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87552" y="1463040"/>
            <a:ext cx="420624" cy="420624"/>
          </a:xfrm>
          <a:prstGeom prst="rect">
            <a:avLst/>
          </a:prstGeom>
        </p:spPr>
      </p:pic>
      <p:sp>
        <p:nvSpPr>
          <p:cNvPr id="30337387" name="Text 4"/>
          <p:cNvSpPr/>
          <p:nvPr/>
        </p:nvSpPr>
        <p:spPr bwMode="auto">
          <a:xfrm>
            <a:off x="164592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Zabbix Server 6.x</a:t>
            </a:r>
            <a:endParaRPr lang="en-US" sz="1600"/>
          </a:p>
        </p:txBody>
      </p:sp>
      <p:sp>
        <p:nvSpPr>
          <p:cNvPr id="369854635" name="Text 5"/>
          <p:cNvSpPr/>
          <p:nvPr/>
        </p:nvSpPr>
        <p:spPr bwMode="auto">
          <a:xfrm>
            <a:off x="164592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Сервер мониторинга + веб-интерфейс</a:t>
            </a:r>
            <a:endParaRPr lang="en-US" sz="1100"/>
          </a:p>
        </p:txBody>
      </p:sp>
      <p:sp>
        <p:nvSpPr>
          <p:cNvPr id="1346728186" name="Shape 6"/>
          <p:cNvSpPr/>
          <p:nvPr/>
        </p:nvSpPr>
        <p:spPr bwMode="auto">
          <a:xfrm>
            <a:off x="6309360" y="152704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9522779" name="Text 7"/>
          <p:cNvSpPr/>
          <p:nvPr/>
        </p:nvSpPr>
        <p:spPr bwMode="auto">
          <a:xfrm>
            <a:off x="6309360" y="15270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GNU GPL v2</a:t>
            </a:r>
            <a:endParaRPr lang="en-US" sz="1000"/>
          </a:p>
        </p:txBody>
      </p:sp>
      <p:sp>
        <p:nvSpPr>
          <p:cNvPr id="1245677122" name="Shape 8"/>
          <p:cNvSpPr/>
          <p:nvPr/>
        </p:nvSpPr>
        <p:spPr bwMode="auto">
          <a:xfrm>
            <a:off x="731520" y="2103120"/>
            <a:ext cx="768096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45088704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87552" y="2286000"/>
            <a:ext cx="420624" cy="420624"/>
          </a:xfrm>
          <a:prstGeom prst="rect">
            <a:avLst/>
          </a:prstGeom>
        </p:spPr>
      </p:pic>
      <p:sp>
        <p:nvSpPr>
          <p:cNvPr id="1999258125" name="Text 9"/>
          <p:cNvSpPr/>
          <p:nvPr/>
        </p:nvSpPr>
        <p:spPr bwMode="auto">
          <a:xfrm>
            <a:off x="1645920" y="21762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Apache HTTP Server</a:t>
            </a:r>
            <a:endParaRPr lang="en-US" sz="1600"/>
          </a:p>
        </p:txBody>
      </p:sp>
      <p:sp>
        <p:nvSpPr>
          <p:cNvPr id="1372553712" name="Text 10"/>
          <p:cNvSpPr/>
          <p:nvPr/>
        </p:nvSpPr>
        <p:spPr bwMode="auto">
          <a:xfrm>
            <a:off x="164592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Веб-сервер (служба httpd2)</a:t>
            </a:r>
            <a:endParaRPr lang="en-US" sz="1100"/>
          </a:p>
        </p:txBody>
      </p:sp>
      <p:sp>
        <p:nvSpPr>
          <p:cNvPr id="257265430" name="Shape 11"/>
          <p:cNvSpPr/>
          <p:nvPr/>
        </p:nvSpPr>
        <p:spPr bwMode="auto">
          <a:xfrm>
            <a:off x="6309360" y="235000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4768760" name="Text 12"/>
          <p:cNvSpPr/>
          <p:nvPr/>
        </p:nvSpPr>
        <p:spPr bwMode="auto">
          <a:xfrm>
            <a:off x="6309360" y="23500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Apache 2.0</a:t>
            </a:r>
            <a:endParaRPr lang="en-US" sz="1000"/>
          </a:p>
        </p:txBody>
      </p:sp>
      <p:sp>
        <p:nvSpPr>
          <p:cNvPr id="470272464" name="Shape 13"/>
          <p:cNvSpPr/>
          <p:nvPr/>
        </p:nvSpPr>
        <p:spPr bwMode="auto">
          <a:xfrm>
            <a:off x="731520" y="2926080"/>
            <a:ext cx="7680960" cy="777240"/>
          </a:xfrm>
          <a:prstGeom prst="rect">
            <a:avLst/>
          </a:prstGeom>
          <a:solidFill>
            <a:srgbClr val="0E7C8A"/>
          </a:solidFill>
          <a:ln w="12700">
            <a:solidFill>
              <a:srgbClr val="0E7C8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59182381" name="Image 2" descr="preencoded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87552" y="3108960"/>
            <a:ext cx="420624" cy="420624"/>
          </a:xfrm>
          <a:prstGeom prst="rect">
            <a:avLst/>
          </a:prstGeom>
        </p:spPr>
      </p:pic>
      <p:sp>
        <p:nvSpPr>
          <p:cNvPr id="176852539" name="Text 14"/>
          <p:cNvSpPr/>
          <p:nvPr/>
        </p:nvSpPr>
        <p:spPr bwMode="auto">
          <a:xfrm>
            <a:off x="1645920" y="2999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PostgreSQL</a:t>
            </a:r>
            <a:endParaRPr lang="en-US" sz="1600"/>
          </a:p>
        </p:txBody>
      </p:sp>
      <p:sp>
        <p:nvSpPr>
          <p:cNvPr id="2065338849" name="Text 15"/>
          <p:cNvSpPr/>
          <p:nvPr/>
        </p:nvSpPr>
        <p:spPr bwMode="auto">
          <a:xfrm>
            <a:off x="1645920" y="3337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СУБД для хранения метрик</a:t>
            </a:r>
            <a:endParaRPr lang="en-US" sz="1100"/>
          </a:p>
        </p:txBody>
      </p:sp>
      <p:sp>
        <p:nvSpPr>
          <p:cNvPr id="1183274969" name="Shape 16"/>
          <p:cNvSpPr/>
          <p:nvPr/>
        </p:nvSpPr>
        <p:spPr bwMode="auto">
          <a:xfrm>
            <a:off x="6309360" y="317296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3633210" name="Text 17"/>
          <p:cNvSpPr/>
          <p:nvPr/>
        </p:nvSpPr>
        <p:spPr bwMode="auto">
          <a:xfrm>
            <a:off x="6309360" y="3172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PostgreSQL License</a:t>
            </a:r>
            <a:endParaRPr lang="en-US" sz="1000"/>
          </a:p>
        </p:txBody>
      </p:sp>
      <p:sp>
        <p:nvSpPr>
          <p:cNvPr id="1403178278" name="Shape 18"/>
          <p:cNvSpPr/>
          <p:nvPr/>
        </p:nvSpPr>
        <p:spPr bwMode="auto">
          <a:xfrm>
            <a:off x="731520" y="3749040"/>
            <a:ext cx="7680960" cy="7772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11779024" name="Image 3" descr="preencoded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987552" y="3931920"/>
            <a:ext cx="420624" cy="420624"/>
          </a:xfrm>
          <a:prstGeom prst="rect">
            <a:avLst/>
          </a:prstGeom>
        </p:spPr>
      </p:pic>
      <p:sp>
        <p:nvSpPr>
          <p:cNvPr id="1116635676" name="Text 19"/>
          <p:cNvSpPr/>
          <p:nvPr/>
        </p:nvSpPr>
        <p:spPr bwMode="auto">
          <a:xfrm>
            <a:off x="1645920" y="3822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Альт Сервер 10</a:t>
            </a:r>
            <a:endParaRPr lang="en-US" sz="1600"/>
          </a:p>
        </p:txBody>
      </p:sp>
      <p:sp>
        <p:nvSpPr>
          <p:cNvPr id="527664263" name="Text 20"/>
          <p:cNvSpPr/>
          <p:nvPr/>
        </p:nvSpPr>
        <p:spPr bwMode="auto">
          <a:xfrm>
            <a:off x="1645920" y="4160519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ОС от ООО «Базальт СПО», реестр Минцифры</a:t>
            </a:r>
            <a:endParaRPr lang="en-US" sz="1100"/>
          </a:p>
        </p:txBody>
      </p:sp>
      <p:sp>
        <p:nvSpPr>
          <p:cNvPr id="1264816144" name="Shape 21"/>
          <p:cNvSpPr/>
          <p:nvPr/>
        </p:nvSpPr>
        <p:spPr bwMode="auto">
          <a:xfrm>
            <a:off x="6309360" y="3995928"/>
            <a:ext cx="1920240" cy="29260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53703003" name="Text 22"/>
          <p:cNvSpPr/>
          <p:nvPr/>
        </p:nvSpPr>
        <p:spPr bwMode="auto">
          <a:xfrm>
            <a:off x="6309360" y="39959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GNU GPL / свободное ПО</a:t>
            </a:r>
            <a:endParaRPr lang="en-US" sz="1000"/>
          </a:p>
        </p:txBody>
      </p:sp>
      <p:sp>
        <p:nvSpPr>
          <p:cNvPr id="855275969" name="Text 23"/>
          <p:cNvSpPr/>
          <p:nvPr/>
        </p:nvSpPr>
        <p:spPr bwMode="auto"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Весь стек — свободное и бесплатное ПО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648494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375239181" name="Text 1"/>
          <p:cNvSpPr/>
          <p:nvPr/>
        </p:nvSpPr>
        <p:spPr bwMode="auto"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ru-RU" sz="2800" b="1" i="0" u="none" strike="noStrike" cap="none" spc="0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Архитектура тестового стенда</a:t>
            </a:r>
            <a:endParaRPr lang="en-US" sz="2800"/>
          </a:p>
        </p:txBody>
      </p:sp>
      <p:sp>
        <p:nvSpPr>
          <p:cNvPr id="566564208" name=""/>
          <p:cNvSpPr/>
          <p:nvPr/>
        </p:nvSpPr>
        <p:spPr bwMode="auto">
          <a:xfrm flipH="0" flipV="0">
            <a:off x="6296263" y="1454241"/>
            <a:ext cx="2373593" cy="2560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just"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схеме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изображены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следующее: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endParaRPr/>
          </a:p>
          <a:p>
            <a:pPr marL="283879" indent="-283879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Сервер Zabbix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(192.168.100.1/24)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endParaRPr/>
          </a:p>
          <a:p>
            <a:pPr marL="283879" indent="-283879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Клиет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(192.168.100.2/24)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endParaRPr/>
          </a:p>
          <a:p>
            <a:pPr marL="283879" indent="-283879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Маршрутизатор 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(192.168.100.3/24)</a:t>
            </a: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​</a:t>
            </a:r>
            <a:endParaRPr/>
          </a:p>
          <a:p>
            <a:pPr marL="283879" indent="-283879" algn="just">
              <a:buFont typeface="Arial"/>
              <a:buChar char="•"/>
              <a:defRPr/>
            </a:pPr>
            <a:r>
              <a:rPr sz="1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Выход в интернет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816537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044644278" name="Text 1"/>
          <p:cNvSpPr/>
          <p:nvPr/>
        </p:nvSpPr>
        <p:spPr bwMode="auto"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 i="0" u="none" strike="noStrike" cap="none" spc="0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Проверка работоспособности</a:t>
            </a:r>
            <a:endParaRPr lang="en-US" sz="2800"/>
          </a:p>
        </p:txBody>
      </p:sp>
      <p:pic>
        <p:nvPicPr>
          <p:cNvPr id="66995649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64591" y="1184114"/>
            <a:ext cx="4427958" cy="2775269"/>
          </a:xfrm>
          <a:prstGeom prst="rect">
            <a:avLst/>
          </a:prstGeom>
        </p:spPr>
      </p:pic>
      <p:pic>
        <p:nvPicPr>
          <p:cNvPr id="97427326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669240" y="1184114"/>
            <a:ext cx="4423222" cy="2768416"/>
          </a:xfrm>
          <a:prstGeom prst="rect">
            <a:avLst/>
          </a:prstGeom>
        </p:spPr>
      </p:pic>
      <p:sp>
        <p:nvSpPr>
          <p:cNvPr id="1419848075" name="Text 2"/>
          <p:cNvSpPr/>
          <p:nvPr/>
        </p:nvSpPr>
        <p:spPr bwMode="auto"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ru-RU" sz="1300">
                <a:solidFill>
                  <a:schemeClr val="bg1">
                    <a:lumMod val="65000"/>
                  </a:schemeClr>
                </a:solidFill>
              </a:rPr>
              <a:t>Мониторинг состояния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784016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180062753" name="Text 1"/>
          <p:cNvSpPr/>
          <p:nvPr/>
        </p:nvSpPr>
        <p:spPr bwMode="auto"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Экономическое обоснование</a:t>
            </a:r>
            <a:endParaRPr lang="en-US" sz="2800"/>
          </a:p>
        </p:txBody>
      </p:sp>
      <p:sp>
        <p:nvSpPr>
          <p:cNvPr id="691236630" name="Text 2"/>
          <p:cNvSpPr/>
          <p:nvPr/>
        </p:nvSpPr>
        <p:spPr bwMode="auto"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Затраты на внедрение</a:t>
            </a:r>
            <a:endParaRPr lang="en-US" sz="1300"/>
          </a:p>
        </p:txBody>
      </p:sp>
      <p:sp>
        <p:nvSpPr>
          <p:cNvPr id="1278288664" name="Shape 3"/>
          <p:cNvSpPr/>
          <p:nvPr/>
        </p:nvSpPr>
        <p:spPr bwMode="auto">
          <a:xfrm>
            <a:off x="165528" y="1273274"/>
            <a:ext cx="3128240" cy="32918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58439565" name="Shape 4"/>
          <p:cNvSpPr/>
          <p:nvPr/>
        </p:nvSpPr>
        <p:spPr bwMode="auto">
          <a:xfrm>
            <a:off x="439848" y="1554479"/>
            <a:ext cx="571224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91003818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99868" y="1714498"/>
            <a:ext cx="278727" cy="320040"/>
          </a:xfrm>
          <a:prstGeom prst="rect">
            <a:avLst/>
          </a:prstGeom>
        </p:spPr>
      </p:pic>
      <p:sp>
        <p:nvSpPr>
          <p:cNvPr id="844928550" name="Text 5"/>
          <p:cNvSpPr/>
          <p:nvPr/>
        </p:nvSpPr>
        <p:spPr bwMode="auto">
          <a:xfrm>
            <a:off x="1217088" y="1547594"/>
            <a:ext cx="2130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Программное обеспечение</a:t>
            </a:r>
            <a:endParaRPr lang="en-US" sz="1300"/>
          </a:p>
        </p:txBody>
      </p:sp>
      <p:sp>
        <p:nvSpPr>
          <p:cNvPr id="1871646371" name="Text 6"/>
          <p:cNvSpPr/>
          <p:nvPr/>
        </p:nvSpPr>
        <p:spPr bwMode="auto">
          <a:xfrm>
            <a:off x="1217088" y="1913354"/>
            <a:ext cx="2130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C9D4E0"/>
                </a:solidFill>
                <a:latin typeface="Calibri"/>
                <a:ea typeface="Calibri"/>
                <a:cs typeface="Calibri"/>
              </a:rPr>
              <a:t>Альт Сервер · PostgreSQL · Apache · Zabbix — всё свободное</a:t>
            </a:r>
            <a:endParaRPr lang="en-US" sz="1000"/>
          </a:p>
        </p:txBody>
      </p:sp>
      <p:sp>
        <p:nvSpPr>
          <p:cNvPr id="1829270898" name="Text 7"/>
          <p:cNvSpPr/>
          <p:nvPr/>
        </p:nvSpPr>
        <p:spPr bwMode="auto">
          <a:xfrm>
            <a:off x="165528" y="2599154"/>
            <a:ext cx="312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0" b="1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0 ₽</a:t>
            </a:r>
            <a:endParaRPr lang="en-US" sz="9000"/>
          </a:p>
        </p:txBody>
      </p:sp>
      <p:sp>
        <p:nvSpPr>
          <p:cNvPr id="97311468" name="Text 8"/>
          <p:cNvSpPr/>
          <p:nvPr/>
        </p:nvSpPr>
        <p:spPr bwMode="auto">
          <a:xfrm>
            <a:off x="165528" y="4016474"/>
            <a:ext cx="312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F39C12"/>
                </a:solidFill>
                <a:latin typeface="Calibri"/>
                <a:ea typeface="Calibri"/>
                <a:cs typeface="Calibri"/>
              </a:rPr>
              <a:t>Лицензионных отчислений нет</a:t>
            </a:r>
            <a:endParaRPr lang="en-US" sz="1100"/>
          </a:p>
        </p:txBody>
      </p:sp>
      <p:sp>
        <p:nvSpPr>
          <p:cNvPr id="44407177" name="Shape 9"/>
          <p:cNvSpPr/>
          <p:nvPr/>
        </p:nvSpPr>
        <p:spPr bwMode="auto">
          <a:xfrm>
            <a:off x="3297624" y="1259503"/>
            <a:ext cx="3050571" cy="327807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8983672" name="Shape 10"/>
          <p:cNvSpPr/>
          <p:nvPr/>
        </p:nvSpPr>
        <p:spPr bwMode="auto">
          <a:xfrm>
            <a:off x="3571944" y="1526938"/>
            <a:ext cx="640080" cy="64008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8628269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731964" y="1686958"/>
            <a:ext cx="320040" cy="320040"/>
          </a:xfrm>
          <a:prstGeom prst="rect">
            <a:avLst/>
          </a:prstGeom>
        </p:spPr>
      </p:pic>
      <p:sp>
        <p:nvSpPr>
          <p:cNvPr id="1848623712" name="Text 11"/>
          <p:cNvSpPr/>
          <p:nvPr/>
        </p:nvSpPr>
        <p:spPr bwMode="auto">
          <a:xfrm>
            <a:off x="4349184" y="152693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Работы специалиста</a:t>
            </a:r>
            <a:endParaRPr lang="en-US" sz="1300"/>
          </a:p>
        </p:txBody>
      </p:sp>
      <p:sp>
        <p:nvSpPr>
          <p:cNvPr id="596740056" name="Text 12"/>
          <p:cNvSpPr/>
          <p:nvPr/>
        </p:nvSpPr>
        <p:spPr bwMode="auto">
          <a:xfrm>
            <a:off x="4349184" y="189269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1000" i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20 </a:t>
            </a:r>
            <a:r>
              <a:rPr lang="en-US" sz="1000" i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человеко-часов</a:t>
            </a:r>
            <a:r>
              <a:rPr lang="en-US" sz="1000" i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 × 1500 ₽/</a:t>
            </a:r>
            <a:r>
              <a:rPr lang="en-US" sz="1000" i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час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506729024" name="Text 13"/>
          <p:cNvSpPr/>
          <p:nvPr/>
        </p:nvSpPr>
        <p:spPr bwMode="auto">
          <a:xfrm>
            <a:off x="2856949" y="2454557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5400" b="1">
                <a:solidFill>
                  <a:srgbClr val="E94B35"/>
                </a:solidFill>
                <a:latin typeface="Arial Black"/>
                <a:ea typeface="Arial Black"/>
                <a:cs typeface="Arial Black"/>
              </a:rPr>
              <a:t>30000 </a:t>
            </a:r>
            <a:r>
              <a:rPr lang="en-US" sz="5400" b="1">
                <a:solidFill>
                  <a:srgbClr val="E94B35"/>
                </a:solidFill>
                <a:latin typeface="Arial Black"/>
                <a:ea typeface="Arial Black"/>
                <a:cs typeface="Arial Black"/>
              </a:rPr>
              <a:t>₽</a:t>
            </a:r>
            <a:endParaRPr lang="en-US" sz="5400">
              <a:latin typeface="Arial Black"/>
            </a:endParaRPr>
          </a:p>
        </p:txBody>
      </p:sp>
      <p:sp>
        <p:nvSpPr>
          <p:cNvPr id="432490609" name="Text 14"/>
          <p:cNvSpPr/>
          <p:nvPr/>
        </p:nvSpPr>
        <p:spPr bwMode="auto">
          <a:xfrm>
            <a:off x="2856949" y="39889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i="1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Единоразовые затраты на внедрение</a:t>
            </a:r>
            <a:endParaRPr lang="en-US" sz="1100"/>
          </a:p>
        </p:txBody>
      </p:sp>
      <p:sp>
        <p:nvSpPr>
          <p:cNvPr id="642490548" name="Shape 3"/>
          <p:cNvSpPr/>
          <p:nvPr/>
        </p:nvSpPr>
        <p:spPr bwMode="auto">
          <a:xfrm>
            <a:off x="6348744" y="1273274"/>
            <a:ext cx="2797734" cy="32918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88607206" name="Text 5"/>
          <p:cNvSpPr/>
          <p:nvPr/>
        </p:nvSpPr>
        <p:spPr bwMode="auto">
          <a:xfrm>
            <a:off x="6787491" y="1554479"/>
            <a:ext cx="213038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300" b="1">
                <a:solidFill>
                  <a:srgbClr val="FFFFFF"/>
                </a:solidFill>
                <a:latin typeface="Arial Black"/>
              </a:rPr>
              <a:t>Стоимость</a:t>
            </a:r>
            <a:r>
              <a:rPr lang="en-US" sz="1300" b="1">
                <a:solidFill>
                  <a:srgbClr val="FFFFFF"/>
                </a:solidFill>
                <a:latin typeface="Arial Black"/>
              </a:rPr>
              <a:t> </a:t>
            </a:r>
            <a:r>
              <a:rPr lang="en-US" sz="1300" b="1">
                <a:solidFill>
                  <a:srgbClr val="FFFFFF"/>
                </a:solidFill>
                <a:latin typeface="Arial Black"/>
              </a:rPr>
              <a:t>оборудования</a:t>
            </a:r>
            <a:endParaRPr/>
          </a:p>
        </p:txBody>
      </p:sp>
      <p:sp>
        <p:nvSpPr>
          <p:cNvPr id="1051297276" name="TextBox 22"/>
          <p:cNvSpPr txBox="1"/>
          <p:nvPr/>
        </p:nvSpPr>
        <p:spPr bwMode="auto">
          <a:xfrm>
            <a:off x="6431097" y="2688803"/>
            <a:ext cx="2630276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4400" b="1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30000</a:t>
            </a:r>
            <a:r>
              <a:rPr lang="en-US" sz="4400" b="1" i="0" u="none" strike="noStrike">
                <a:solidFill>
                  <a:srgbClr val="10B981"/>
                </a:solidFill>
                <a:latin typeface="Arial Black"/>
                <a:ea typeface="Arial Black"/>
                <a:cs typeface="Arial Black"/>
              </a:rPr>
              <a:t> ₽</a:t>
            </a:r>
            <a:endParaRPr lang="ru-RU" sz="4400"/>
          </a:p>
          <a:p>
            <a:pPr algn="ctr">
              <a:defRPr/>
            </a:pPr>
            <a:endParaRPr lang="ru-RU"/>
          </a:p>
        </p:txBody>
      </p:sp>
      <p:sp>
        <p:nvSpPr>
          <p:cNvPr id="994251356" name="TextBox 23"/>
          <p:cNvSpPr txBox="1"/>
          <p:nvPr/>
        </p:nvSpPr>
        <p:spPr bwMode="auto">
          <a:xfrm>
            <a:off x="6431096" y="4017714"/>
            <a:ext cx="2547651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1100" b="0" i="1" u="none" strike="noStrike">
                <a:solidFill>
                  <a:srgbClr val="ED7D31"/>
                </a:solidFill>
                <a:latin typeface="Calibri"/>
                <a:ea typeface="Calibri"/>
                <a:cs typeface="Calibri"/>
              </a:rPr>
              <a:t>Единоразовые затраты на внедрение</a:t>
            </a:r>
            <a:endParaRPr lang="ru-RU">
              <a:solidFill>
                <a:srgbClr val="ED7D31"/>
              </a:solidFill>
            </a:endParaRPr>
          </a:p>
          <a:p>
            <a:pPr algn="ctr">
              <a:defRPr/>
            </a:pPr>
            <a:endParaRPr lang="ru-RU">
              <a:solidFill>
                <a:srgbClr val="ED7D3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4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558871" name="Shape 0"/>
          <p:cNvSpPr/>
          <p:nvPr/>
        </p:nvSpPr>
        <p:spPr bwMode="auto">
          <a:xfrm>
            <a:off x="0" y="0"/>
            <a:ext cx="164592" cy="5143500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603617892" name="Text 1"/>
          <p:cNvSpPr/>
          <p:nvPr/>
        </p:nvSpPr>
        <p:spPr bwMode="auto">
          <a:xfrm>
            <a:off x="502920" y="2560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2A47"/>
                </a:solidFill>
                <a:latin typeface="Arial Black"/>
                <a:ea typeface="Arial Black"/>
                <a:cs typeface="Arial Black"/>
              </a:rPr>
              <a:t>Выводы</a:t>
            </a:r>
            <a:endParaRPr lang="en-US" sz="2800"/>
          </a:p>
        </p:txBody>
      </p:sp>
      <p:sp>
        <p:nvSpPr>
          <p:cNvPr id="1137206879" name="Text 2"/>
          <p:cNvSpPr/>
          <p:nvPr/>
        </p:nvSpPr>
        <p:spPr bwMode="auto">
          <a:xfrm>
            <a:off x="50292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785"/>
                </a:solidFill>
                <a:latin typeface="Calibri"/>
                <a:ea typeface="Calibri"/>
                <a:cs typeface="Calibri"/>
              </a:rPr>
              <a:t>Цели и задачи дипломного проекта выполнены</a:t>
            </a:r>
            <a:endParaRPr lang="en-US" sz="1300"/>
          </a:p>
        </p:txBody>
      </p:sp>
      <p:sp>
        <p:nvSpPr>
          <p:cNvPr id="2018166004" name="Shape 3"/>
          <p:cNvSpPr/>
          <p:nvPr/>
        </p:nvSpPr>
        <p:spPr bwMode="auto">
          <a:xfrm>
            <a:off x="502920" y="1280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92066834" name="Shape 4"/>
          <p:cNvSpPr/>
          <p:nvPr/>
        </p:nvSpPr>
        <p:spPr bwMode="auto">
          <a:xfrm>
            <a:off x="667512" y="1508759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559273597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3242" y="1634490"/>
            <a:ext cx="251460" cy="251460"/>
          </a:xfrm>
          <a:prstGeom prst="rect">
            <a:avLst/>
          </a:prstGeom>
        </p:spPr>
      </p:pic>
      <p:sp>
        <p:nvSpPr>
          <p:cNvPr id="205928337" name="Text 5"/>
          <p:cNvSpPr/>
          <p:nvPr/>
        </p:nvSpPr>
        <p:spPr bwMode="auto">
          <a:xfrm>
            <a:off x="1325880" y="1371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Изучены теоретические основы организации и мониторинга ЛВС</a:t>
            </a:r>
            <a:endParaRPr lang="en-US" sz="1200"/>
          </a:p>
        </p:txBody>
      </p:sp>
      <p:sp>
        <p:nvSpPr>
          <p:cNvPr id="1090684285" name="Shape 6"/>
          <p:cNvSpPr/>
          <p:nvPr/>
        </p:nvSpPr>
        <p:spPr bwMode="auto">
          <a:xfrm>
            <a:off x="4663440" y="1280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48253451" name="Shape 7"/>
          <p:cNvSpPr/>
          <p:nvPr/>
        </p:nvSpPr>
        <p:spPr bwMode="auto">
          <a:xfrm>
            <a:off x="4828032" y="1508759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11344916" name="Image 1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53762" y="1634490"/>
            <a:ext cx="251460" cy="251460"/>
          </a:xfrm>
          <a:prstGeom prst="rect">
            <a:avLst/>
          </a:prstGeom>
        </p:spPr>
      </p:pic>
      <p:sp>
        <p:nvSpPr>
          <p:cNvPr id="2046543356" name="Text 8"/>
          <p:cNvSpPr/>
          <p:nvPr/>
        </p:nvSpPr>
        <p:spPr bwMode="auto">
          <a:xfrm>
            <a:off x="5486400" y="1371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Проведён сравнительный анализ 11 систем по 10 критериям</a:t>
            </a:r>
            <a:endParaRPr lang="en-US" sz="1200"/>
          </a:p>
        </p:txBody>
      </p:sp>
      <p:sp>
        <p:nvSpPr>
          <p:cNvPr id="449411904" name="Shape 9"/>
          <p:cNvSpPr/>
          <p:nvPr/>
        </p:nvSpPr>
        <p:spPr bwMode="auto">
          <a:xfrm>
            <a:off x="502920" y="2423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42561183" name="Shape 10"/>
          <p:cNvSpPr/>
          <p:nvPr/>
        </p:nvSpPr>
        <p:spPr bwMode="auto">
          <a:xfrm>
            <a:off x="667512" y="2651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353618868" name="Image 2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3242" y="2777490"/>
            <a:ext cx="251460" cy="251460"/>
          </a:xfrm>
          <a:prstGeom prst="rect">
            <a:avLst/>
          </a:prstGeom>
        </p:spPr>
      </p:pic>
      <p:sp>
        <p:nvSpPr>
          <p:cNvPr id="889018533" name="Text 11"/>
          <p:cNvSpPr/>
          <p:nvPr/>
        </p:nvSpPr>
        <p:spPr bwMode="auto">
          <a:xfrm>
            <a:off x="132588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Обоснованно выбрана система Zabbix</a:t>
            </a:r>
            <a:endParaRPr lang="en-US" sz="1200"/>
          </a:p>
        </p:txBody>
      </p:sp>
      <p:sp>
        <p:nvSpPr>
          <p:cNvPr id="1887676230" name="Shape 12"/>
          <p:cNvSpPr/>
          <p:nvPr/>
        </p:nvSpPr>
        <p:spPr bwMode="auto">
          <a:xfrm>
            <a:off x="4663440" y="2423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04086494" name="Shape 13"/>
          <p:cNvSpPr/>
          <p:nvPr/>
        </p:nvSpPr>
        <p:spPr bwMode="auto">
          <a:xfrm>
            <a:off x="4828032" y="2651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89635809" name="Image 3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53762" y="2777490"/>
            <a:ext cx="251460" cy="251460"/>
          </a:xfrm>
          <a:prstGeom prst="rect">
            <a:avLst/>
          </a:prstGeom>
        </p:spPr>
      </p:pic>
      <p:sp>
        <p:nvSpPr>
          <p:cNvPr id="423345502" name="Text 14"/>
          <p:cNvSpPr/>
          <p:nvPr/>
        </p:nvSpPr>
        <p:spPr bwMode="auto">
          <a:xfrm>
            <a:off x="548640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Развёрнута и настроена на отечественной ОС Альт Сервер 10</a:t>
            </a:r>
            <a:endParaRPr lang="en-US" sz="1200"/>
          </a:p>
        </p:txBody>
      </p:sp>
      <p:sp>
        <p:nvSpPr>
          <p:cNvPr id="1856704811" name="Shape 15"/>
          <p:cNvSpPr/>
          <p:nvPr/>
        </p:nvSpPr>
        <p:spPr bwMode="auto">
          <a:xfrm>
            <a:off x="502920" y="3566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3199367" name="Shape 16"/>
          <p:cNvSpPr/>
          <p:nvPr/>
        </p:nvSpPr>
        <p:spPr bwMode="auto">
          <a:xfrm>
            <a:off x="667512" y="3794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23767590" name="Image 4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93242" y="3920490"/>
            <a:ext cx="251460" cy="251460"/>
          </a:xfrm>
          <a:prstGeom prst="rect">
            <a:avLst/>
          </a:prstGeom>
        </p:spPr>
      </p:pic>
      <p:sp>
        <p:nvSpPr>
          <p:cNvPr id="1637615232" name="Text 17"/>
          <p:cNvSpPr/>
          <p:nvPr/>
        </p:nvSpPr>
        <p:spPr bwMode="auto">
          <a:xfrm>
            <a:off x="1325880" y="3657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Подтверждена работоспособность </a:t>
            </a:r>
            <a:endParaRPr lang="en-US" sz="1200"/>
          </a:p>
        </p:txBody>
      </p:sp>
      <p:sp>
        <p:nvSpPr>
          <p:cNvPr id="1162962561" name="Shape 18"/>
          <p:cNvSpPr/>
          <p:nvPr/>
        </p:nvSpPr>
        <p:spPr bwMode="auto">
          <a:xfrm>
            <a:off x="4663440" y="35661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DE6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9027681" name="Shape 19"/>
          <p:cNvSpPr/>
          <p:nvPr/>
        </p:nvSpPr>
        <p:spPr bwMode="auto">
          <a:xfrm>
            <a:off x="4828032" y="37947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97917811" name="Image 5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953762" y="3920490"/>
            <a:ext cx="251460" cy="251460"/>
          </a:xfrm>
          <a:prstGeom prst="rect">
            <a:avLst/>
          </a:prstGeom>
        </p:spPr>
      </p:pic>
      <p:sp>
        <p:nvSpPr>
          <p:cNvPr id="1615913716" name="Text 20"/>
          <p:cNvSpPr/>
          <p:nvPr/>
        </p:nvSpPr>
        <p:spPr bwMode="auto">
          <a:xfrm>
            <a:off x="5486400" y="3657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A2533"/>
                </a:solidFill>
                <a:latin typeface="Calibri"/>
                <a:ea typeface="Calibri"/>
                <a:cs typeface="Calibri"/>
              </a:rPr>
              <a:t>Выполнено экономическое обоснование внедрения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0F2A4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9015293" name="Shape 0"/>
          <p:cNvSpPr/>
          <p:nvPr/>
        </p:nvSpPr>
        <p:spPr bwMode="auto">
          <a:xfrm>
            <a:off x="457200" y="365760"/>
            <a:ext cx="137160" cy="137160"/>
          </a:xfrm>
          <a:prstGeom prst="ellipse">
            <a:avLst/>
          </a:prstGeom>
          <a:solidFill>
            <a:srgbClr val="E94B35">
              <a:alpha val="8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774386936" name="Shape 1"/>
          <p:cNvSpPr/>
          <p:nvPr/>
        </p:nvSpPr>
        <p:spPr bwMode="auto">
          <a:xfrm>
            <a:off x="822960" y="365760"/>
            <a:ext cx="137160" cy="137160"/>
          </a:xfrm>
          <a:prstGeom prst="ellipse">
            <a:avLst/>
          </a:prstGeom>
          <a:solidFill>
            <a:srgbClr val="E94B35">
              <a:alpha val="65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183316951" name="Shape 2"/>
          <p:cNvSpPr/>
          <p:nvPr/>
        </p:nvSpPr>
        <p:spPr bwMode="auto">
          <a:xfrm>
            <a:off x="1188720" y="365760"/>
            <a:ext cx="137160" cy="137160"/>
          </a:xfrm>
          <a:prstGeom prst="ellipse">
            <a:avLst/>
          </a:prstGeom>
          <a:solidFill>
            <a:srgbClr val="E94B35">
              <a:alpha val="5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286526486" name="Shape 3"/>
          <p:cNvSpPr/>
          <p:nvPr/>
        </p:nvSpPr>
        <p:spPr bwMode="auto">
          <a:xfrm>
            <a:off x="1554480" y="365760"/>
            <a:ext cx="137160" cy="137160"/>
          </a:xfrm>
          <a:prstGeom prst="ellipse">
            <a:avLst/>
          </a:prstGeom>
          <a:solidFill>
            <a:srgbClr val="E94B35">
              <a:alpha val="35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6558971" name="Shape 4"/>
          <p:cNvSpPr/>
          <p:nvPr/>
        </p:nvSpPr>
        <p:spPr bwMode="auto">
          <a:xfrm>
            <a:off x="1920240" y="365760"/>
            <a:ext cx="137160" cy="137160"/>
          </a:xfrm>
          <a:prstGeom prst="ellipse">
            <a:avLst/>
          </a:prstGeom>
          <a:solidFill>
            <a:srgbClr val="E94B35">
              <a:alpha val="20000"/>
            </a:srgbClr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215446933" name="Text 5"/>
          <p:cNvSpPr/>
          <p:nvPr/>
        </p:nvSpPr>
        <p:spPr bwMode="auto">
          <a:xfrm>
            <a:off x="50292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Спасибо за внимание!</a:t>
            </a:r>
            <a:endParaRPr lang="en-US" sz="4400"/>
          </a:p>
        </p:txBody>
      </p:sp>
      <p:sp>
        <p:nvSpPr>
          <p:cNvPr id="1605232098" name="Shape 6"/>
          <p:cNvSpPr/>
          <p:nvPr/>
        </p:nvSpPr>
        <p:spPr bwMode="auto">
          <a:xfrm>
            <a:off x="4023360" y="2880360"/>
            <a:ext cx="1097280" cy="54864"/>
          </a:xfrm>
          <a:prstGeom prst="rect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</p:spPr>
      </p:sp>
      <p:sp>
        <p:nvSpPr>
          <p:cNvPr id="1822698356" name="Shape 8"/>
          <p:cNvSpPr/>
          <p:nvPr/>
        </p:nvSpPr>
        <p:spPr bwMode="auto">
          <a:xfrm>
            <a:off x="4206240" y="3661456"/>
            <a:ext cx="731520" cy="731520"/>
          </a:xfrm>
          <a:prstGeom prst="ellipse">
            <a:avLst/>
          </a:prstGeom>
          <a:solidFill>
            <a:srgbClr val="E94B35"/>
          </a:solidFill>
          <a:ln w="12700">
            <a:solidFill>
              <a:srgbClr val="E94B35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49343774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382234" y="3844336"/>
            <a:ext cx="365760" cy="365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Мониторинг ЛВС</dc:title>
  <dc:subject>PptxGenJS Presentation</dc:subject>
  <dc:creator>Диплом 222СА</dc:creator>
  <cp:lastModifiedBy/>
  <cp:revision>85</cp:revision>
  <dcterms:created xsi:type="dcterms:W3CDTF">2026-05-15T06:17:00Z</dcterms:created>
  <dcterms:modified xsi:type="dcterms:W3CDTF">2026-06-05T03:44:44Z</dcterms:modified>
</cp:coreProperties>
</file>