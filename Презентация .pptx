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1"/>
  <mc:AlternateContent>
    <mc:Choice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Zabbix</c:v>
                </c:pt>
              </c:strCache>
            </c:strRef>
          </c:tx>
          <c:spPr bwMode="auto">
            <a:prstGeom prst="rect">
              <a:avLst/>
            </a:prstGeom>
            <a:solidFill>
              <a:srgbClr val="E94B35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Prometheus</c:v>
                </c:pt>
              </c:strCache>
            </c:strRef>
          </c:tx>
          <c:spPr bwMode="auto">
            <a:prstGeom prst="rect">
              <a:avLst/>
            </a:prstGeom>
            <a:solidFill>
              <a:srgbClr val="0E7C8A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PRTG</c:v>
                </c:pt>
              </c:strCache>
            </c:strRef>
          </c:tx>
          <c:spPr bwMode="auto">
            <a:prstGeom prst="rect">
              <a:avLst/>
            </a:prstGeom>
            <a:solidFill>
              <a:srgbClr val="F39C12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Лицензия</c:v>
                </c:pt>
                <c:pt idx="1">
                  <c:v>Удобство</c:v>
                </c:pt>
                <c:pt idx="2">
                  <c:v>Гибкость</c:v>
                </c:pt>
                <c:pt idx="3">
                  <c:v>Сообщество</c:v>
                </c:pt>
                <c:pt idx="4">
                  <c:v>Импорто-замещение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5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1A2533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 bwMode="auto">
    <a:xfrm rot="0">
      <a:off x="548640" y="1234440"/>
      <a:ext cx="8503920" cy="3566160"/>
    </a:xfrm>
    <a:prstGeom prst="rect">
      <a:avLst/>
    </a:prstGeom>
    <a:solidFill>
      <a:srgbClr val="FFFFFF"/>
    </a:solidFill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961104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76763225" name="Дата 2"/>
          <p:cNvSpPr>
            <a:spLocks noGrp="1"/>
          </p:cNvSpPr>
          <p:nvPr>
            <p:ph type="dt" idx="1"/>
          </p:nvPr>
        </p:nvSpPr>
        <p:spPr bwMode="auto"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90D5EA2-B6E3-424F-B097-50F1946A4700}" type="datetimeFigureOut">
              <a:rPr/>
              <a:t>27.05.2026</a:t>
            </a:fld>
            <a:endParaRPr lang="ru-RU"/>
          </a:p>
        </p:txBody>
      </p:sp>
      <p:sp>
        <p:nvSpPr>
          <p:cNvPr id="2029038532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521250115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7681970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6290091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D3C244E2-96F5-4FF2-9B4A-585178DCEEBE}" type="slidenum">
              <a:r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6909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9068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5886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58352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2524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09862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4697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353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2643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4674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8917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66437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2815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3745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5350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9052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5179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5737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08998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03617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0708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624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435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702777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0403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1243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75647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1079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0017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86068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B1D814-EABB-6C07-5422-418AF363B8C6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528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0779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5494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714996-0ABC-1AEA-BFA8-73D783D4BD7E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2215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8632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6034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2418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5558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3196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51089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9759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6678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1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7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Relationship Id="rId4" Type="http://schemas.openxmlformats.org/officeDocument/2006/relationships/image" Target="../media/image2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0F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463612" name="Shape 0"/>
          <p:cNvSpPr/>
          <p:nvPr/>
        </p:nvSpPr>
        <p:spPr bwMode="auto">
          <a:xfrm>
            <a:off x="7315200" y="274320"/>
            <a:ext cx="164592" cy="164592"/>
          </a:xfrm>
          <a:prstGeom prst="ellipse">
            <a:avLst/>
          </a:prstGeom>
          <a:solidFill>
            <a:srgbClr val="E94B35">
              <a:alpha val="7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905499494" name="Shape 1"/>
          <p:cNvSpPr/>
          <p:nvPr/>
        </p:nvSpPr>
        <p:spPr bwMode="auto">
          <a:xfrm>
            <a:off x="7955280" y="274320"/>
            <a:ext cx="164592" cy="164592"/>
          </a:xfrm>
          <a:prstGeom prst="ellipse">
            <a:avLst/>
          </a:prstGeom>
          <a:solidFill>
            <a:srgbClr val="E94B35">
              <a:alpha val="6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876916041" name="Shape 2"/>
          <p:cNvSpPr/>
          <p:nvPr/>
        </p:nvSpPr>
        <p:spPr bwMode="auto">
          <a:xfrm>
            <a:off x="8595360" y="274320"/>
            <a:ext cx="164592" cy="164592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96128596" name="Shape 3"/>
          <p:cNvSpPr/>
          <p:nvPr/>
        </p:nvSpPr>
        <p:spPr bwMode="auto">
          <a:xfrm>
            <a:off x="7315200" y="914400"/>
            <a:ext cx="164592" cy="164592"/>
          </a:xfrm>
          <a:prstGeom prst="ellipse">
            <a:avLst/>
          </a:prstGeom>
          <a:solidFill>
            <a:srgbClr val="E94B35">
              <a:alpha val="4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075245546" name="Shape 4"/>
          <p:cNvSpPr/>
          <p:nvPr/>
        </p:nvSpPr>
        <p:spPr bwMode="auto">
          <a:xfrm>
            <a:off x="7955280" y="914400"/>
            <a:ext cx="164592" cy="164592"/>
          </a:xfrm>
          <a:prstGeom prst="ellipse">
            <a:avLst/>
          </a:prstGeom>
          <a:solidFill>
            <a:srgbClr val="E94B35">
              <a:alpha val="3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637017700" name="Shape 5"/>
          <p:cNvSpPr/>
          <p:nvPr/>
        </p:nvSpPr>
        <p:spPr bwMode="auto">
          <a:xfrm>
            <a:off x="8595360" y="914400"/>
            <a:ext cx="164592" cy="164592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468996299" name="Shape 6"/>
          <p:cNvSpPr/>
          <p:nvPr/>
        </p:nvSpPr>
        <p:spPr bwMode="auto">
          <a:xfrm>
            <a:off x="7397496" y="356616"/>
            <a:ext cx="640080" cy="640080"/>
          </a:xfrm>
          <a:prstGeom prst="line">
            <a:avLst/>
          </a:prstGeom>
          <a:noFill/>
          <a:ln w="12700">
            <a:solidFill>
              <a:srgbClr val="E94B35">
                <a:alpha val="50000"/>
              </a:srgbClr>
            </a:solidFill>
            <a:prstDash val="solid"/>
          </a:ln>
        </p:spPr>
      </p:sp>
      <p:sp>
        <p:nvSpPr>
          <p:cNvPr id="2066173544" name="Shape 7"/>
          <p:cNvSpPr/>
          <p:nvPr/>
        </p:nvSpPr>
        <p:spPr bwMode="auto">
          <a:xfrm>
            <a:off x="8037576" y="356616"/>
            <a:ext cx="640080" cy="640080"/>
          </a:xfrm>
          <a:prstGeom prst="line">
            <a:avLst/>
          </a:prstGeom>
          <a:noFill/>
          <a:ln w="12700">
            <a:solidFill>
              <a:srgbClr val="E94B35">
                <a:alpha val="50000"/>
              </a:srgbClr>
            </a:solidFill>
            <a:prstDash val="solid"/>
          </a:ln>
        </p:spPr>
      </p:sp>
      <p:sp>
        <p:nvSpPr>
          <p:cNvPr id="962227714" name="Text 8"/>
          <p:cNvSpPr/>
          <p:nvPr/>
        </p:nvSpPr>
        <p:spPr bwMode="auto">
          <a:xfrm>
            <a:off x="502920" y="3200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ГБПОУ НСО «Новосибирский политехнический колледж»</a:t>
            </a:r>
            <a:endParaRPr lang="en-US" sz="1100"/>
          </a:p>
        </p:txBody>
      </p:sp>
      <p:sp>
        <p:nvSpPr>
          <p:cNvPr id="558921808" name="Text 9"/>
          <p:cNvSpPr/>
          <p:nvPr/>
        </p:nvSpPr>
        <p:spPr bwMode="auto"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800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ДИПЛОМН</a:t>
            </a:r>
            <a:r>
              <a:rPr lang="ru-RU" sz="1200" b="1" spc="799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АЯ</a:t>
            </a:r>
            <a:r>
              <a:rPr lang="en-US" sz="1200" b="1" spc="799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 </a:t>
            </a:r>
            <a:r>
              <a:rPr lang="ru-RU" sz="1200" b="1" spc="799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РАБОТА</a:t>
            </a:r>
            <a:endParaRPr lang="en-US" sz="1200"/>
          </a:p>
        </p:txBody>
      </p:sp>
      <p:sp>
        <p:nvSpPr>
          <p:cNvPr id="1802942349" name="Text 10"/>
          <p:cNvSpPr/>
          <p:nvPr/>
        </p:nvSpPr>
        <p:spPr bwMode="auto">
          <a:xfrm>
            <a:off x="502920" y="1691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50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Мониторинг</a:t>
            </a:r>
            <a:endParaRPr lang="en-US" sz="5000"/>
          </a:p>
        </p:txBody>
      </p:sp>
      <p:sp>
        <p:nvSpPr>
          <p:cNvPr id="1699552769" name="Text 11"/>
          <p:cNvSpPr/>
          <p:nvPr/>
        </p:nvSpPr>
        <p:spPr bwMode="auto">
          <a:xfrm>
            <a:off x="50292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локально-вычислительной сети</a:t>
            </a:r>
            <a:endParaRPr lang="en-US" sz="3200"/>
          </a:p>
        </p:txBody>
      </p:sp>
      <p:sp>
        <p:nvSpPr>
          <p:cNvPr id="1369102860" name="Shape 12"/>
          <p:cNvSpPr/>
          <p:nvPr/>
        </p:nvSpPr>
        <p:spPr bwMode="auto">
          <a:xfrm>
            <a:off x="502920" y="3337560"/>
            <a:ext cx="731520" cy="36576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468635365" name="Text 13"/>
          <p:cNvSpPr/>
          <p:nvPr/>
        </p:nvSpPr>
        <p:spPr bwMode="auto">
          <a:xfrm>
            <a:off x="50292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Выполнил студент </a:t>
            </a:r>
            <a:r>
              <a:rPr lang="ru-RU" sz="13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Моногаров М.А.</a:t>
            </a:r>
            <a:endParaRPr lang="en-US" sz="1300">
              <a:solidFill>
                <a:srgbClr val="C9D4E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  <a:defRPr/>
            </a:pPr>
            <a:r>
              <a:rPr lang="en-US" sz="13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группы 222СА</a:t>
            </a:r>
            <a:b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r>
              <a:rPr lang="en-US" sz="11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Специальность 09.02.06 «Сетевое и системное администрирование»</a:t>
            </a:r>
            <a:br>
              <a:rPr lang="en-US" sz="11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</a:br>
            <a:r>
              <a:rPr lang="en-US"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br>
              <a:rPr lang="en-US"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</a:br>
            <a:r>
              <a:rPr lang="en-US" sz="1200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Руководитель: Егорова А. А.</a:t>
            </a:r>
            <a:endParaRPr lang="en-US" sz="1300"/>
          </a:p>
        </p:txBody>
      </p:sp>
      <p:sp>
        <p:nvSpPr>
          <p:cNvPr id="123847373" name="Text 14"/>
          <p:cNvSpPr/>
          <p:nvPr/>
        </p:nvSpPr>
        <p:spPr bwMode="auto">
          <a:xfrm>
            <a:off x="50292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Новосибирск 2026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3386923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047161146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Актуальность</a:t>
            </a:r>
            <a:endParaRPr lang="en-US" sz="2800"/>
          </a:p>
        </p:txBody>
      </p:sp>
      <p:sp>
        <p:nvSpPr>
          <p:cNvPr id="1729161929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Почему мониторинг ЛВС критически важен сегодня</a:t>
            </a:r>
            <a:endParaRPr lang="en-US" sz="1300"/>
          </a:p>
        </p:txBody>
      </p:sp>
      <p:sp>
        <p:nvSpPr>
          <p:cNvPr id="85893048" name="Shape 3"/>
          <p:cNvSpPr/>
          <p:nvPr/>
        </p:nvSpPr>
        <p:spPr bwMode="auto">
          <a:xfrm>
            <a:off x="50292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2662020" name="Shape 4"/>
          <p:cNvSpPr/>
          <p:nvPr/>
        </p:nvSpPr>
        <p:spPr bwMode="auto">
          <a:xfrm>
            <a:off x="502920" y="1280160"/>
            <a:ext cx="4023360" cy="5486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1700101470" name="Shape 5"/>
          <p:cNvSpPr/>
          <p:nvPr/>
        </p:nvSpPr>
        <p:spPr bwMode="auto">
          <a:xfrm>
            <a:off x="731520" y="1508759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4693640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525212917" name="Text 6"/>
          <p:cNvSpPr/>
          <p:nvPr/>
        </p:nvSpPr>
        <p:spPr bwMode="auto">
          <a:xfrm>
            <a:off x="146304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Рост сложности сетей</a:t>
            </a:r>
            <a:endParaRPr lang="en-US" sz="1400"/>
          </a:p>
        </p:txBody>
      </p:sp>
      <p:sp>
        <p:nvSpPr>
          <p:cNvPr id="712390155" name="Text 7"/>
          <p:cNvSpPr/>
          <p:nvPr/>
        </p:nvSpPr>
        <p:spPr bwMode="auto">
          <a:xfrm>
            <a:off x="73152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Десятки серверов, сотни рабочих мест, гибридные среды</a:t>
            </a:r>
            <a:endParaRPr lang="en-US" sz="1200"/>
          </a:p>
        </p:txBody>
      </p:sp>
      <p:sp>
        <p:nvSpPr>
          <p:cNvPr id="331576640" name="Shape 8"/>
          <p:cNvSpPr/>
          <p:nvPr/>
        </p:nvSpPr>
        <p:spPr bwMode="auto">
          <a:xfrm>
            <a:off x="466344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40888178" name="Shape 9"/>
          <p:cNvSpPr/>
          <p:nvPr/>
        </p:nvSpPr>
        <p:spPr bwMode="auto">
          <a:xfrm>
            <a:off x="4663440" y="1280160"/>
            <a:ext cx="402336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98218354" name="Shape 10"/>
          <p:cNvSpPr/>
          <p:nvPr/>
        </p:nvSpPr>
        <p:spPr bwMode="auto">
          <a:xfrm>
            <a:off x="4892039" y="1508759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2086659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52060" y="1668780"/>
            <a:ext cx="320040" cy="320040"/>
          </a:xfrm>
          <a:prstGeom prst="rect">
            <a:avLst/>
          </a:prstGeom>
        </p:spPr>
      </p:pic>
      <p:sp>
        <p:nvSpPr>
          <p:cNvPr id="1340155624" name="Text 11"/>
          <p:cNvSpPr/>
          <p:nvPr/>
        </p:nvSpPr>
        <p:spPr bwMode="auto">
          <a:xfrm>
            <a:off x="562356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Цена простоя</a:t>
            </a:r>
            <a:endParaRPr lang="en-US" sz="1400"/>
          </a:p>
        </p:txBody>
      </p:sp>
      <p:sp>
        <p:nvSpPr>
          <p:cNvPr id="219139397" name="Text 12"/>
          <p:cNvSpPr/>
          <p:nvPr/>
        </p:nvSpPr>
        <p:spPr bwMode="auto">
          <a:xfrm>
            <a:off x="4892039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Любой сбой ЛВС останавливает бизнес-процессы</a:t>
            </a:r>
            <a:endParaRPr lang="en-US" sz="1200"/>
          </a:p>
        </p:txBody>
      </p:sp>
      <p:sp>
        <p:nvSpPr>
          <p:cNvPr id="1919339770" name="Shape 13"/>
          <p:cNvSpPr/>
          <p:nvPr/>
        </p:nvSpPr>
        <p:spPr bwMode="auto">
          <a:xfrm>
            <a:off x="50292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80454958" name="Shape 14"/>
          <p:cNvSpPr/>
          <p:nvPr/>
        </p:nvSpPr>
        <p:spPr bwMode="auto">
          <a:xfrm>
            <a:off x="502920" y="3063240"/>
            <a:ext cx="4023360" cy="54864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485390296" name="Shape 15"/>
          <p:cNvSpPr/>
          <p:nvPr/>
        </p:nvSpPr>
        <p:spPr bwMode="auto">
          <a:xfrm>
            <a:off x="731520" y="329184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9662680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1540" y="3451860"/>
            <a:ext cx="320040" cy="320040"/>
          </a:xfrm>
          <a:prstGeom prst="rect">
            <a:avLst/>
          </a:prstGeom>
        </p:spPr>
      </p:pic>
      <p:sp>
        <p:nvSpPr>
          <p:cNvPr id="462649084" name="Text 16"/>
          <p:cNvSpPr/>
          <p:nvPr/>
        </p:nvSpPr>
        <p:spPr bwMode="auto">
          <a:xfrm>
            <a:off x="146304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</a:rPr>
              <a:t>Локальные</a:t>
            </a:r>
            <a:r>
              <a:rPr lang="en-US" sz="1400" b="1">
                <a:solidFill>
                  <a:srgbClr val="0F2A47"/>
                </a:solidFill>
                <a:latin typeface="Arial Black"/>
              </a:rPr>
              <a:t> </a:t>
            </a:r>
            <a:r>
              <a:rPr lang="en-US" sz="1400" b="1">
                <a:solidFill>
                  <a:srgbClr val="0F2A47"/>
                </a:solidFill>
                <a:latin typeface="Arial Black"/>
              </a:rPr>
              <a:t>решения</a:t>
            </a:r>
            <a:endParaRPr/>
          </a:p>
        </p:txBody>
      </p:sp>
      <p:sp>
        <p:nvSpPr>
          <p:cNvPr id="1734177637" name="Text 17"/>
          <p:cNvSpPr/>
          <p:nvPr/>
        </p:nvSpPr>
        <p:spPr bwMode="auto">
          <a:xfrm>
            <a:off x="73152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Переход на отечественные ОС из реестра Минцифры</a:t>
            </a:r>
            <a:endParaRPr lang="en-US" sz="1200"/>
          </a:p>
        </p:txBody>
      </p:sp>
      <p:sp>
        <p:nvSpPr>
          <p:cNvPr id="905851693" name="Shape 18"/>
          <p:cNvSpPr/>
          <p:nvPr/>
        </p:nvSpPr>
        <p:spPr bwMode="auto">
          <a:xfrm>
            <a:off x="466344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95382623" name="Shape 19"/>
          <p:cNvSpPr/>
          <p:nvPr/>
        </p:nvSpPr>
        <p:spPr bwMode="auto">
          <a:xfrm>
            <a:off x="4663440" y="3063240"/>
            <a:ext cx="402336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81020727" name="Shape 20"/>
          <p:cNvSpPr/>
          <p:nvPr/>
        </p:nvSpPr>
        <p:spPr bwMode="auto">
          <a:xfrm>
            <a:off x="4892039" y="329184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8614611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52060" y="3451860"/>
            <a:ext cx="320040" cy="320040"/>
          </a:xfrm>
          <a:prstGeom prst="rect">
            <a:avLst/>
          </a:prstGeom>
        </p:spPr>
      </p:pic>
      <p:sp>
        <p:nvSpPr>
          <p:cNvPr id="536677472" name="Text 21"/>
          <p:cNvSpPr/>
          <p:nvPr/>
        </p:nvSpPr>
        <p:spPr bwMode="auto">
          <a:xfrm>
            <a:off x="562356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Превентивный контроль</a:t>
            </a:r>
            <a:endParaRPr lang="en-US" sz="1400"/>
          </a:p>
        </p:txBody>
      </p:sp>
      <p:sp>
        <p:nvSpPr>
          <p:cNvPr id="1423556863" name="Text 22"/>
          <p:cNvSpPr/>
          <p:nvPr/>
        </p:nvSpPr>
        <p:spPr bwMode="auto">
          <a:xfrm>
            <a:off x="4892039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Обнаружение проблем до их влияния на пользователей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49207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72647289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Цель и задачи</a:t>
            </a:r>
            <a:endParaRPr lang="en-US" sz="2800"/>
          </a:p>
        </p:txBody>
      </p:sp>
      <p:sp>
        <p:nvSpPr>
          <p:cNvPr id="127020551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Что предстояло сделать</a:t>
            </a:r>
            <a:endParaRPr lang="en-US" sz="1300"/>
          </a:p>
        </p:txBody>
      </p:sp>
      <p:sp>
        <p:nvSpPr>
          <p:cNvPr id="1577919203" name="Shape 3"/>
          <p:cNvSpPr/>
          <p:nvPr/>
        </p:nvSpPr>
        <p:spPr bwMode="auto">
          <a:xfrm>
            <a:off x="502920" y="1280160"/>
            <a:ext cx="8138160" cy="91440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3759695" name="Shape 4"/>
          <p:cNvSpPr/>
          <p:nvPr/>
        </p:nvSpPr>
        <p:spPr bwMode="auto">
          <a:xfrm>
            <a:off x="731520" y="1463040"/>
            <a:ext cx="548640" cy="54864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430913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600200"/>
            <a:ext cx="274320" cy="274320"/>
          </a:xfrm>
          <a:prstGeom prst="rect">
            <a:avLst/>
          </a:prstGeom>
        </p:spPr>
      </p:pic>
      <p:sp>
        <p:nvSpPr>
          <p:cNvPr id="537963908" name="Text 5"/>
          <p:cNvSpPr/>
          <p:nvPr/>
        </p:nvSpPr>
        <p:spPr bwMode="auto">
          <a:xfrm>
            <a:off x="146304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600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ЦЕЛЬ</a:t>
            </a:r>
            <a:endParaRPr lang="en-US" sz="1100"/>
          </a:p>
        </p:txBody>
      </p:sp>
      <p:sp>
        <p:nvSpPr>
          <p:cNvPr id="1251113074" name="Text 6"/>
          <p:cNvSpPr/>
          <p:nvPr/>
        </p:nvSpPr>
        <p:spPr bwMode="auto">
          <a:xfrm>
            <a:off x="1463040" y="1645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Сравнительный анализ систем мониторинга и практическое внедрение Zabbix на отечественной ОС Альт Сервер 10</a:t>
            </a:r>
            <a:endParaRPr lang="en-US" sz="1300"/>
          </a:p>
        </p:txBody>
      </p:sp>
      <p:sp>
        <p:nvSpPr>
          <p:cNvPr id="1051612291" name="Text 7"/>
          <p:cNvSpPr/>
          <p:nvPr/>
        </p:nvSpPr>
        <p:spPr bwMode="auto">
          <a:xfrm>
            <a:off x="502920" y="2423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600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ЗАДАЧИ</a:t>
            </a:r>
            <a:endParaRPr lang="en-US" sz="1200"/>
          </a:p>
        </p:txBody>
      </p:sp>
      <p:sp>
        <p:nvSpPr>
          <p:cNvPr id="778200915" name="Shape 8"/>
          <p:cNvSpPr/>
          <p:nvPr/>
        </p:nvSpPr>
        <p:spPr bwMode="auto">
          <a:xfrm>
            <a:off x="502920" y="278892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163073181" name="Text 9"/>
          <p:cNvSpPr/>
          <p:nvPr/>
        </p:nvSpPr>
        <p:spPr bwMode="auto">
          <a:xfrm>
            <a:off x="50292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1</a:t>
            </a:r>
            <a:endParaRPr lang="en-US" sz="1800"/>
          </a:p>
        </p:txBody>
      </p:sp>
      <p:sp>
        <p:nvSpPr>
          <p:cNvPr id="117950818" name="Text 10"/>
          <p:cNvSpPr/>
          <p:nvPr/>
        </p:nvSpPr>
        <p:spPr bwMode="auto">
          <a:xfrm>
            <a:off x="114300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Изучить теоретические основы организации и мониторинга ЛВС</a:t>
            </a:r>
            <a:endParaRPr lang="en-US" sz="1200"/>
          </a:p>
        </p:txBody>
      </p:sp>
      <p:sp>
        <p:nvSpPr>
          <p:cNvPr id="892442098" name="Shape 11"/>
          <p:cNvSpPr/>
          <p:nvPr/>
        </p:nvSpPr>
        <p:spPr bwMode="auto">
          <a:xfrm>
            <a:off x="4663440" y="278892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202678764" name="Text 12"/>
          <p:cNvSpPr/>
          <p:nvPr/>
        </p:nvSpPr>
        <p:spPr bwMode="auto">
          <a:xfrm>
            <a:off x="46634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2</a:t>
            </a:r>
            <a:endParaRPr lang="en-US" sz="1800"/>
          </a:p>
        </p:txBody>
      </p:sp>
      <p:sp>
        <p:nvSpPr>
          <p:cNvPr id="1812871055" name="Text 13"/>
          <p:cNvSpPr/>
          <p:nvPr/>
        </p:nvSpPr>
        <p:spPr bwMode="auto">
          <a:xfrm>
            <a:off x="530352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Сравнить существующие системы мониторинга по 10 критериям</a:t>
            </a:r>
            <a:endParaRPr lang="en-US" sz="1200"/>
          </a:p>
        </p:txBody>
      </p:sp>
      <p:sp>
        <p:nvSpPr>
          <p:cNvPr id="310120548" name="Shape 14"/>
          <p:cNvSpPr/>
          <p:nvPr/>
        </p:nvSpPr>
        <p:spPr bwMode="auto">
          <a:xfrm>
            <a:off x="502920" y="356616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635020982" name="Text 15"/>
          <p:cNvSpPr/>
          <p:nvPr/>
        </p:nvSpPr>
        <p:spPr bwMode="auto">
          <a:xfrm>
            <a:off x="50292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3</a:t>
            </a:r>
            <a:endParaRPr lang="en-US" sz="1800"/>
          </a:p>
        </p:txBody>
      </p:sp>
      <p:sp>
        <p:nvSpPr>
          <p:cNvPr id="1884300559" name="Text 16"/>
          <p:cNvSpPr/>
          <p:nvPr/>
        </p:nvSpPr>
        <p:spPr bwMode="auto">
          <a:xfrm>
            <a:off x="114300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Обосновать выбор оптимальной системы</a:t>
            </a:r>
            <a:endParaRPr lang="en-US" sz="1200"/>
          </a:p>
        </p:txBody>
      </p:sp>
      <p:sp>
        <p:nvSpPr>
          <p:cNvPr id="1313766804" name="Shape 17"/>
          <p:cNvSpPr/>
          <p:nvPr/>
        </p:nvSpPr>
        <p:spPr bwMode="auto">
          <a:xfrm>
            <a:off x="4663440" y="356616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2013275343" name="Text 18"/>
          <p:cNvSpPr/>
          <p:nvPr/>
        </p:nvSpPr>
        <p:spPr bwMode="auto">
          <a:xfrm>
            <a:off x="46634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4</a:t>
            </a:r>
            <a:endParaRPr lang="en-US" sz="1800"/>
          </a:p>
        </p:txBody>
      </p:sp>
      <p:sp>
        <p:nvSpPr>
          <p:cNvPr id="1692677394" name="Text 19"/>
          <p:cNvSpPr/>
          <p:nvPr/>
        </p:nvSpPr>
        <p:spPr bwMode="auto">
          <a:xfrm>
            <a:off x="530352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Развернуть и настроить систему на тестовом стенде</a:t>
            </a:r>
            <a:endParaRPr lang="en-US" sz="1200"/>
          </a:p>
        </p:txBody>
      </p:sp>
      <p:sp>
        <p:nvSpPr>
          <p:cNvPr id="930662395" name="Shape 20"/>
          <p:cNvSpPr/>
          <p:nvPr/>
        </p:nvSpPr>
        <p:spPr bwMode="auto">
          <a:xfrm>
            <a:off x="502920" y="4343400"/>
            <a:ext cx="502920" cy="50292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1080580774" name="Text 21"/>
          <p:cNvSpPr/>
          <p:nvPr/>
        </p:nvSpPr>
        <p:spPr bwMode="auto">
          <a:xfrm>
            <a:off x="50292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5</a:t>
            </a:r>
            <a:endParaRPr lang="en-US" sz="1800"/>
          </a:p>
        </p:txBody>
      </p:sp>
      <p:sp>
        <p:nvSpPr>
          <p:cNvPr id="898472149" name="Text 22"/>
          <p:cNvSpPr/>
          <p:nvPr/>
        </p:nvSpPr>
        <p:spPr bwMode="auto">
          <a:xfrm>
            <a:off x="1143000" y="4297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Выполнить экономическое обоснование проекта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760313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928589862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Что такое ЛВС и её мониторинг</a:t>
            </a:r>
            <a:endParaRPr lang="en-US" sz="2800"/>
          </a:p>
        </p:txBody>
      </p:sp>
      <p:sp>
        <p:nvSpPr>
          <p:cNvPr id="916243475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Ключевые понятия</a:t>
            </a:r>
            <a:endParaRPr lang="en-US" sz="1300"/>
          </a:p>
        </p:txBody>
      </p:sp>
      <p:sp>
        <p:nvSpPr>
          <p:cNvPr id="1645860644" name="Shape 3"/>
          <p:cNvSpPr/>
          <p:nvPr/>
        </p:nvSpPr>
        <p:spPr bwMode="auto">
          <a:xfrm>
            <a:off x="502920" y="128016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35787932" name="Shape 4"/>
          <p:cNvSpPr/>
          <p:nvPr/>
        </p:nvSpPr>
        <p:spPr bwMode="auto">
          <a:xfrm>
            <a:off x="777240" y="155448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5540698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37260" y="1714500"/>
            <a:ext cx="320040" cy="320040"/>
          </a:xfrm>
          <a:prstGeom prst="rect">
            <a:avLst/>
          </a:prstGeom>
        </p:spPr>
      </p:pic>
      <p:sp>
        <p:nvSpPr>
          <p:cNvPr id="1172286464" name="Text 5"/>
          <p:cNvSpPr/>
          <p:nvPr/>
        </p:nvSpPr>
        <p:spPr bwMode="auto">
          <a:xfrm>
            <a:off x="155448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ЛВС</a:t>
            </a:r>
            <a:endParaRPr lang="en-US" sz="1800"/>
          </a:p>
        </p:txBody>
      </p:sp>
      <p:sp>
        <p:nvSpPr>
          <p:cNvPr id="807622930" name="Text 6"/>
          <p:cNvSpPr/>
          <p:nvPr/>
        </p:nvSpPr>
        <p:spPr bwMode="auto">
          <a:xfrm>
            <a:off x="777240" y="23317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Группа компьютеров и периферийного оборудования, объединённых в пределах ограниченной территории и использующих общие коммуникационные ресурсы.</a:t>
            </a:r>
            <a:endParaRPr lang="en-US" sz="1200"/>
          </a:p>
        </p:txBody>
      </p:sp>
      <p:sp>
        <p:nvSpPr>
          <p:cNvPr id="507473871" name="Shape 7"/>
          <p:cNvSpPr/>
          <p:nvPr/>
        </p:nvSpPr>
        <p:spPr bwMode="auto">
          <a:xfrm>
            <a:off x="777240" y="3520440"/>
            <a:ext cx="3291840" cy="0"/>
          </a:xfrm>
          <a:prstGeom prst="line">
            <a:avLst/>
          </a:prstGeom>
          <a:noFill/>
          <a:ln w="12700">
            <a:solidFill>
              <a:srgbClr val="D6DDE6"/>
            </a:solidFill>
            <a:prstDash val="solid"/>
          </a:ln>
        </p:spPr>
      </p:sp>
      <p:sp>
        <p:nvSpPr>
          <p:cNvPr id="570970285" name="Shape 8"/>
          <p:cNvSpPr/>
          <p:nvPr/>
        </p:nvSpPr>
        <p:spPr bwMode="auto">
          <a:xfrm>
            <a:off x="777240" y="3703320"/>
            <a:ext cx="502920" cy="5029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4490951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02970" y="3829050"/>
            <a:ext cx="251460" cy="251460"/>
          </a:xfrm>
          <a:prstGeom prst="rect">
            <a:avLst/>
          </a:prstGeom>
        </p:spPr>
      </p:pic>
      <p:sp>
        <p:nvSpPr>
          <p:cNvPr id="1746956371" name="Text 9"/>
          <p:cNvSpPr/>
          <p:nvPr/>
        </p:nvSpPr>
        <p:spPr bwMode="auto">
          <a:xfrm>
            <a:off x="1417320" y="37033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Мониторинг — непрерывное наблюдение за состоянием узлов, сервисов и каналов с автоматическим оповещением о проблемах.</a:t>
            </a:r>
            <a:endParaRPr lang="en-US" sz="1100"/>
          </a:p>
        </p:txBody>
      </p:sp>
      <p:sp>
        <p:nvSpPr>
          <p:cNvPr id="274243283" name="Shape 10"/>
          <p:cNvSpPr/>
          <p:nvPr/>
        </p:nvSpPr>
        <p:spPr bwMode="auto">
          <a:xfrm>
            <a:off x="4663440" y="1280160"/>
            <a:ext cx="4023360" cy="347472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82344417" name="Text 11"/>
          <p:cNvSpPr/>
          <p:nvPr/>
        </p:nvSpPr>
        <p:spPr bwMode="auto">
          <a:xfrm>
            <a:off x="4663440" y="1417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39C12"/>
                </a:solidFill>
                <a:latin typeface="Arial Black"/>
                <a:ea typeface="Arial Black"/>
                <a:cs typeface="Arial Black"/>
              </a:rPr>
              <a:t>Объекты мониторинга</a:t>
            </a:r>
            <a:endParaRPr lang="en-US" sz="1200"/>
          </a:p>
        </p:txBody>
      </p:sp>
      <p:sp>
        <p:nvSpPr>
          <p:cNvPr id="281117644" name="Shape 12"/>
          <p:cNvSpPr/>
          <p:nvPr/>
        </p:nvSpPr>
        <p:spPr bwMode="auto">
          <a:xfrm>
            <a:off x="6263640" y="2240280"/>
            <a:ext cx="822960" cy="82296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pic>
        <p:nvPicPr>
          <p:cNvPr id="926687106" name="Image 2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446520" y="2423160"/>
            <a:ext cx="457200" cy="457200"/>
          </a:xfrm>
          <a:prstGeom prst="rect">
            <a:avLst/>
          </a:prstGeom>
        </p:spPr>
      </p:pic>
      <p:sp>
        <p:nvSpPr>
          <p:cNvPr id="1245084727" name="Text 13"/>
          <p:cNvSpPr/>
          <p:nvPr/>
        </p:nvSpPr>
        <p:spPr bwMode="auto">
          <a:xfrm>
            <a:off x="594360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</a:t>
            </a:r>
            <a:endParaRPr lang="en-US" sz="1100"/>
          </a:p>
        </p:txBody>
      </p:sp>
      <p:sp>
        <p:nvSpPr>
          <p:cNvPr id="1148890733" name="Shape 15"/>
          <p:cNvSpPr/>
          <p:nvPr/>
        </p:nvSpPr>
        <p:spPr bwMode="auto">
          <a:xfrm>
            <a:off x="4937760" y="33832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1662080180" name="Image 3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047488" y="3493008"/>
            <a:ext cx="329184" cy="329184"/>
          </a:xfrm>
          <a:prstGeom prst="rect">
            <a:avLst/>
          </a:prstGeom>
        </p:spPr>
      </p:pic>
      <p:sp>
        <p:nvSpPr>
          <p:cNvPr id="1088260839" name="Text 16"/>
          <p:cNvSpPr/>
          <p:nvPr/>
        </p:nvSpPr>
        <p:spPr bwMode="auto">
          <a:xfrm>
            <a:off x="4572000" y="39776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Сервер</a:t>
            </a:r>
            <a:endParaRPr lang="en-US" sz="900"/>
          </a:p>
        </p:txBody>
      </p:sp>
      <p:sp>
        <p:nvSpPr>
          <p:cNvPr id="548786523" name="Shape 18"/>
          <p:cNvSpPr/>
          <p:nvPr/>
        </p:nvSpPr>
        <p:spPr bwMode="auto">
          <a:xfrm>
            <a:off x="5852160" y="38404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1496671569" name="Image 4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961888" y="3950208"/>
            <a:ext cx="329184" cy="329184"/>
          </a:xfrm>
          <a:prstGeom prst="rect">
            <a:avLst/>
          </a:prstGeom>
        </p:spPr>
      </p:pic>
      <p:sp>
        <p:nvSpPr>
          <p:cNvPr id="1690448597" name="Text 19"/>
          <p:cNvSpPr/>
          <p:nvPr/>
        </p:nvSpPr>
        <p:spPr bwMode="auto">
          <a:xfrm>
            <a:off x="5486400" y="4434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ПК</a:t>
            </a:r>
            <a:endParaRPr lang="en-US" sz="900"/>
          </a:p>
        </p:txBody>
      </p:sp>
      <p:sp>
        <p:nvSpPr>
          <p:cNvPr id="351228942" name="Shape 21"/>
          <p:cNvSpPr/>
          <p:nvPr/>
        </p:nvSpPr>
        <p:spPr bwMode="auto">
          <a:xfrm>
            <a:off x="6949440" y="38404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2116695421" name="Image 5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7059168" y="3950208"/>
            <a:ext cx="329184" cy="329184"/>
          </a:xfrm>
          <a:prstGeom prst="rect">
            <a:avLst/>
          </a:prstGeom>
        </p:spPr>
      </p:pic>
      <p:sp>
        <p:nvSpPr>
          <p:cNvPr id="302703754" name="Text 22"/>
          <p:cNvSpPr/>
          <p:nvPr/>
        </p:nvSpPr>
        <p:spPr bwMode="auto">
          <a:xfrm>
            <a:off x="6583680" y="4434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Роутер</a:t>
            </a:r>
            <a:endParaRPr lang="en-US" sz="900"/>
          </a:p>
        </p:txBody>
      </p:sp>
      <p:sp>
        <p:nvSpPr>
          <p:cNvPr id="602236838" name="Shape 24"/>
          <p:cNvSpPr/>
          <p:nvPr/>
        </p:nvSpPr>
        <p:spPr bwMode="auto">
          <a:xfrm>
            <a:off x="7863840" y="3383280"/>
            <a:ext cx="548640" cy="54864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pic>
        <p:nvPicPr>
          <p:cNvPr id="113935503" name="Image 6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7973568" y="3493008"/>
            <a:ext cx="329184" cy="329184"/>
          </a:xfrm>
          <a:prstGeom prst="rect">
            <a:avLst/>
          </a:prstGeom>
        </p:spPr>
      </p:pic>
      <p:sp>
        <p:nvSpPr>
          <p:cNvPr id="1663771172" name="Text 25"/>
          <p:cNvSpPr/>
          <p:nvPr/>
        </p:nvSpPr>
        <p:spPr bwMode="auto">
          <a:xfrm>
            <a:off x="7498080" y="39776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Коммутатор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410287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7213554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Обзор систем мониторинга</a:t>
            </a:r>
            <a:endParaRPr lang="en-US" sz="2800"/>
          </a:p>
        </p:txBody>
      </p:sp>
      <p:sp>
        <p:nvSpPr>
          <p:cNvPr id="138032912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Какие решения рассматривались</a:t>
            </a:r>
            <a:endParaRPr lang="en-US" sz="1300"/>
          </a:p>
        </p:txBody>
      </p:sp>
      <p:sp>
        <p:nvSpPr>
          <p:cNvPr id="490329186" name="Shape 3"/>
          <p:cNvSpPr/>
          <p:nvPr/>
        </p:nvSpPr>
        <p:spPr bwMode="auto">
          <a:xfrm>
            <a:off x="502920" y="1234440"/>
            <a:ext cx="1874520" cy="1554480"/>
          </a:xfrm>
          <a:prstGeom prst="rect">
            <a:avLst/>
          </a:prstGeom>
          <a:solidFill>
            <a:srgbClr val="0F2A47"/>
          </a:solidFill>
          <a:ln w="254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77485402" name="Shape 4"/>
          <p:cNvSpPr/>
          <p:nvPr/>
        </p:nvSpPr>
        <p:spPr bwMode="auto">
          <a:xfrm>
            <a:off x="1120140" y="1417320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1431951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80160" y="1577340"/>
            <a:ext cx="320040" cy="320040"/>
          </a:xfrm>
          <a:prstGeom prst="rect">
            <a:avLst/>
          </a:prstGeom>
        </p:spPr>
      </p:pic>
      <p:sp>
        <p:nvSpPr>
          <p:cNvPr id="622695704" name="Text 5"/>
          <p:cNvSpPr/>
          <p:nvPr/>
        </p:nvSpPr>
        <p:spPr bwMode="auto">
          <a:xfrm>
            <a:off x="594360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</a:t>
            </a:r>
            <a:endParaRPr lang="en-US" sz="1300"/>
          </a:p>
        </p:txBody>
      </p:sp>
      <p:sp>
        <p:nvSpPr>
          <p:cNvPr id="436004240" name="Text 6"/>
          <p:cNvSpPr/>
          <p:nvPr/>
        </p:nvSpPr>
        <p:spPr bwMode="auto">
          <a:xfrm>
            <a:off x="594360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F39C12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1921293994" name="Shape 7"/>
          <p:cNvSpPr/>
          <p:nvPr/>
        </p:nvSpPr>
        <p:spPr bwMode="auto">
          <a:xfrm>
            <a:off x="2542032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56905985" name="Shape 8"/>
          <p:cNvSpPr/>
          <p:nvPr/>
        </p:nvSpPr>
        <p:spPr bwMode="auto">
          <a:xfrm>
            <a:off x="3159252" y="141732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4560236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319272" y="1577340"/>
            <a:ext cx="320040" cy="320040"/>
          </a:xfrm>
          <a:prstGeom prst="rect">
            <a:avLst/>
          </a:prstGeom>
        </p:spPr>
      </p:pic>
      <p:sp>
        <p:nvSpPr>
          <p:cNvPr id="1967992611" name="Text 9"/>
          <p:cNvSpPr/>
          <p:nvPr/>
        </p:nvSpPr>
        <p:spPr bwMode="auto">
          <a:xfrm>
            <a:off x="2633472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Nagios / Icinga 2</a:t>
            </a:r>
            <a:endParaRPr lang="en-US" sz="1300"/>
          </a:p>
        </p:txBody>
      </p:sp>
      <p:sp>
        <p:nvSpPr>
          <p:cNvPr id="1971791916" name="Text 10"/>
          <p:cNvSpPr/>
          <p:nvPr/>
        </p:nvSpPr>
        <p:spPr bwMode="auto">
          <a:xfrm>
            <a:off x="2633472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1976613758" name="Shape 11"/>
          <p:cNvSpPr/>
          <p:nvPr/>
        </p:nvSpPr>
        <p:spPr bwMode="auto">
          <a:xfrm>
            <a:off x="4581144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91791317" name="Shape 12"/>
          <p:cNvSpPr/>
          <p:nvPr/>
        </p:nvSpPr>
        <p:spPr bwMode="auto">
          <a:xfrm>
            <a:off x="5198364" y="141732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98743170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358384" y="1577340"/>
            <a:ext cx="320040" cy="320040"/>
          </a:xfrm>
          <a:prstGeom prst="rect">
            <a:avLst/>
          </a:prstGeom>
        </p:spPr>
      </p:pic>
      <p:sp>
        <p:nvSpPr>
          <p:cNvPr id="240172622" name="Text 13"/>
          <p:cNvSpPr/>
          <p:nvPr/>
        </p:nvSpPr>
        <p:spPr bwMode="auto">
          <a:xfrm>
            <a:off x="4672584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Prometheus</a:t>
            </a:r>
            <a:endParaRPr lang="en-US" sz="1300"/>
          </a:p>
        </p:txBody>
      </p:sp>
      <p:sp>
        <p:nvSpPr>
          <p:cNvPr id="659984755" name="Text 14"/>
          <p:cNvSpPr/>
          <p:nvPr/>
        </p:nvSpPr>
        <p:spPr bwMode="auto">
          <a:xfrm>
            <a:off x="4672584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431913370" name="Shape 15"/>
          <p:cNvSpPr/>
          <p:nvPr/>
        </p:nvSpPr>
        <p:spPr bwMode="auto">
          <a:xfrm>
            <a:off x="6620255" y="123444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6630648" name="Shape 16"/>
          <p:cNvSpPr/>
          <p:nvPr/>
        </p:nvSpPr>
        <p:spPr bwMode="auto">
          <a:xfrm>
            <a:off x="7237476" y="1417320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94494508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7397496" y="1577340"/>
            <a:ext cx="320040" cy="320040"/>
          </a:xfrm>
          <a:prstGeom prst="rect">
            <a:avLst/>
          </a:prstGeom>
        </p:spPr>
      </p:pic>
      <p:sp>
        <p:nvSpPr>
          <p:cNvPr id="1033331493" name="Text 17"/>
          <p:cNvSpPr/>
          <p:nvPr/>
        </p:nvSpPr>
        <p:spPr bwMode="auto">
          <a:xfrm>
            <a:off x="6711696" y="2148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LibreNMS</a:t>
            </a:r>
            <a:endParaRPr lang="en-US" sz="1300"/>
          </a:p>
        </p:txBody>
      </p:sp>
      <p:sp>
        <p:nvSpPr>
          <p:cNvPr id="262405748" name="Text 18"/>
          <p:cNvSpPr/>
          <p:nvPr/>
        </p:nvSpPr>
        <p:spPr bwMode="auto">
          <a:xfrm>
            <a:off x="6711696" y="246888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Свободная</a:t>
            </a:r>
            <a:endParaRPr lang="en-US" sz="1000"/>
          </a:p>
        </p:txBody>
      </p:sp>
      <p:sp>
        <p:nvSpPr>
          <p:cNvPr id="650260330" name="Shape 19"/>
          <p:cNvSpPr/>
          <p:nvPr/>
        </p:nvSpPr>
        <p:spPr bwMode="auto">
          <a:xfrm>
            <a:off x="502920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4269260" name="Shape 20"/>
          <p:cNvSpPr/>
          <p:nvPr/>
        </p:nvSpPr>
        <p:spPr bwMode="auto">
          <a:xfrm>
            <a:off x="1120140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55308518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1280160" y="3314700"/>
            <a:ext cx="320040" cy="320040"/>
          </a:xfrm>
          <a:prstGeom prst="rect">
            <a:avLst/>
          </a:prstGeom>
        </p:spPr>
      </p:pic>
      <p:sp>
        <p:nvSpPr>
          <p:cNvPr id="322786611" name="Text 21"/>
          <p:cNvSpPr/>
          <p:nvPr/>
        </p:nvSpPr>
        <p:spPr bwMode="auto">
          <a:xfrm>
            <a:off x="594360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PRTG</a:t>
            </a:r>
            <a:endParaRPr lang="en-US" sz="1300"/>
          </a:p>
        </p:txBody>
      </p:sp>
      <p:sp>
        <p:nvSpPr>
          <p:cNvPr id="1475705624" name="Text 22"/>
          <p:cNvSpPr/>
          <p:nvPr/>
        </p:nvSpPr>
        <p:spPr bwMode="auto">
          <a:xfrm>
            <a:off x="594360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1132144579" name="Shape 23"/>
          <p:cNvSpPr/>
          <p:nvPr/>
        </p:nvSpPr>
        <p:spPr bwMode="auto">
          <a:xfrm>
            <a:off x="2542032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96829724" name="Shape 24"/>
          <p:cNvSpPr/>
          <p:nvPr/>
        </p:nvSpPr>
        <p:spPr bwMode="auto">
          <a:xfrm>
            <a:off x="3159252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9364569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3319272" y="3314700"/>
            <a:ext cx="320040" cy="320040"/>
          </a:xfrm>
          <a:prstGeom prst="rect">
            <a:avLst/>
          </a:prstGeom>
        </p:spPr>
      </p:pic>
      <p:sp>
        <p:nvSpPr>
          <p:cNvPr id="543406006" name="Text 25"/>
          <p:cNvSpPr/>
          <p:nvPr/>
        </p:nvSpPr>
        <p:spPr bwMode="auto">
          <a:xfrm>
            <a:off x="2633472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SolarWinds</a:t>
            </a:r>
            <a:endParaRPr lang="en-US" sz="1300"/>
          </a:p>
        </p:txBody>
      </p:sp>
      <p:sp>
        <p:nvSpPr>
          <p:cNvPr id="1433053959" name="Text 26"/>
          <p:cNvSpPr/>
          <p:nvPr/>
        </p:nvSpPr>
        <p:spPr bwMode="auto">
          <a:xfrm>
            <a:off x="2633472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1038428951" name="Shape 27"/>
          <p:cNvSpPr/>
          <p:nvPr/>
        </p:nvSpPr>
        <p:spPr bwMode="auto">
          <a:xfrm>
            <a:off x="4581144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69623255" name="Shape 28"/>
          <p:cNvSpPr/>
          <p:nvPr/>
        </p:nvSpPr>
        <p:spPr bwMode="auto">
          <a:xfrm>
            <a:off x="5198364" y="315468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67270700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358384" y="3314700"/>
            <a:ext cx="320040" cy="320040"/>
          </a:xfrm>
          <a:prstGeom prst="rect">
            <a:avLst/>
          </a:prstGeom>
        </p:spPr>
      </p:pic>
      <p:sp>
        <p:nvSpPr>
          <p:cNvPr id="1369443392" name="Text 29"/>
          <p:cNvSpPr/>
          <p:nvPr/>
        </p:nvSpPr>
        <p:spPr bwMode="auto">
          <a:xfrm>
            <a:off x="4672584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Checkmk</a:t>
            </a:r>
            <a:endParaRPr lang="en-US" sz="1300"/>
          </a:p>
        </p:txBody>
      </p:sp>
      <p:sp>
        <p:nvSpPr>
          <p:cNvPr id="1539534058" name="Text 30"/>
          <p:cNvSpPr/>
          <p:nvPr/>
        </p:nvSpPr>
        <p:spPr bwMode="auto">
          <a:xfrm>
            <a:off x="4672584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Проприет.</a:t>
            </a:r>
            <a:endParaRPr lang="en-US" sz="1000"/>
          </a:p>
        </p:txBody>
      </p:sp>
      <p:sp>
        <p:nvSpPr>
          <p:cNvPr id="256088262" name="Shape 31"/>
          <p:cNvSpPr/>
          <p:nvPr/>
        </p:nvSpPr>
        <p:spPr bwMode="auto">
          <a:xfrm>
            <a:off x="6620255" y="2971800"/>
            <a:ext cx="187452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09593193" name="Shape 32"/>
          <p:cNvSpPr/>
          <p:nvPr/>
        </p:nvSpPr>
        <p:spPr bwMode="auto">
          <a:xfrm>
            <a:off x="7237476" y="315468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40371248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7397496" y="3314700"/>
            <a:ext cx="320040" cy="320040"/>
          </a:xfrm>
          <a:prstGeom prst="rect">
            <a:avLst/>
          </a:prstGeom>
        </p:spPr>
      </p:pic>
      <p:sp>
        <p:nvSpPr>
          <p:cNvPr id="1676617050" name="Text 33"/>
          <p:cNvSpPr/>
          <p:nvPr/>
        </p:nvSpPr>
        <p:spPr bwMode="auto">
          <a:xfrm>
            <a:off x="6711696" y="3886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Datadog</a:t>
            </a:r>
            <a:endParaRPr lang="en-US" sz="1300"/>
          </a:p>
        </p:txBody>
      </p:sp>
      <p:sp>
        <p:nvSpPr>
          <p:cNvPr id="1048446888" name="Text 34"/>
          <p:cNvSpPr/>
          <p:nvPr/>
        </p:nvSpPr>
        <p:spPr bwMode="auto">
          <a:xfrm>
            <a:off x="6711696" y="4206240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Облачная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390316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39266442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Сравнительный анализ</a:t>
            </a:r>
            <a:endParaRPr lang="en-US" sz="2800"/>
          </a:p>
        </p:txBody>
      </p:sp>
      <p:sp>
        <p:nvSpPr>
          <p:cNvPr id="1500711037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Оценка систем по ключевым критериям (5 — отлично)</a:t>
            </a:r>
            <a:endParaRPr lang="en-US" sz="1300"/>
          </a:p>
        </p:txBody>
      </p:sp>
      <p:graphicFrame>
        <p:nvGraphicFramePr>
          <p:cNvPr id="873094541" name="Chart 0"/>
          <p:cNvGraphicFramePr>
            <a:graphicFrameLocks xmlns:a="http://schemas.openxmlformats.org/drawingml/2006/main"/>
          </p:cNvGraphicFramePr>
          <p:nvPr/>
        </p:nvGraphicFramePr>
        <p:xfrm rot="0">
          <a:off x="548640" y="1234440"/>
          <a:ext cx="85039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46839791" name="Text 3"/>
          <p:cNvSpPr/>
          <p:nvPr/>
        </p:nvSpPr>
        <p:spPr bwMode="auto">
          <a:xfrm>
            <a:off x="502920" y="4846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i="1">
                <a:solidFill>
                  <a:srgbClr val="E94B35"/>
                </a:solidFill>
                <a:latin typeface="Calibri"/>
                <a:ea typeface="Calibri"/>
                <a:cs typeface="Calibri"/>
              </a:rPr>
              <a:t>Победитель — Zabbix: максимум по лицензии, гибкости и поддержке отечественных платформ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6177252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041879771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Почему Zabbix</a:t>
            </a:r>
            <a:endParaRPr lang="en-US" sz="2800"/>
          </a:p>
        </p:txBody>
      </p:sp>
      <p:sp>
        <p:nvSpPr>
          <p:cNvPr id="1929712056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Аргументы в пользу выбора</a:t>
            </a:r>
            <a:endParaRPr lang="en-US" sz="1300"/>
          </a:p>
        </p:txBody>
      </p:sp>
      <p:sp>
        <p:nvSpPr>
          <p:cNvPr id="912357361" name="Shape 3"/>
          <p:cNvSpPr/>
          <p:nvPr/>
        </p:nvSpPr>
        <p:spPr bwMode="auto">
          <a:xfrm>
            <a:off x="50292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23542034" name="Shape 4"/>
          <p:cNvSpPr/>
          <p:nvPr/>
        </p:nvSpPr>
        <p:spPr bwMode="auto">
          <a:xfrm>
            <a:off x="502920" y="1280160"/>
            <a:ext cx="40233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9968380" name="Shape 5"/>
          <p:cNvSpPr/>
          <p:nvPr/>
        </p:nvSpPr>
        <p:spPr bwMode="auto">
          <a:xfrm>
            <a:off x="731520" y="1508759"/>
            <a:ext cx="640080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1847710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1714947166" name="Text 6"/>
          <p:cNvSpPr/>
          <p:nvPr/>
        </p:nvSpPr>
        <p:spPr bwMode="auto">
          <a:xfrm>
            <a:off x="146304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Свободная лицензия GPL v2</a:t>
            </a:r>
            <a:endParaRPr lang="en-US" sz="1400"/>
          </a:p>
        </p:txBody>
      </p:sp>
      <p:sp>
        <p:nvSpPr>
          <p:cNvPr id="382056365" name="Text 7"/>
          <p:cNvSpPr/>
          <p:nvPr/>
        </p:nvSpPr>
        <p:spPr bwMode="auto">
          <a:xfrm>
            <a:off x="73152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Стоимость владения — 0 ₽, нет ограничений на количество узлов</a:t>
            </a:r>
            <a:endParaRPr lang="en-US" sz="1200"/>
          </a:p>
        </p:txBody>
      </p:sp>
      <p:sp>
        <p:nvSpPr>
          <p:cNvPr id="1155074966" name="Shape 8"/>
          <p:cNvSpPr/>
          <p:nvPr/>
        </p:nvSpPr>
        <p:spPr bwMode="auto">
          <a:xfrm>
            <a:off x="4663440" y="128016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21318961" name="Shape 9"/>
          <p:cNvSpPr/>
          <p:nvPr/>
        </p:nvSpPr>
        <p:spPr bwMode="auto">
          <a:xfrm>
            <a:off x="4663440" y="1280160"/>
            <a:ext cx="4023360" cy="54864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1216954477" name="Shape 10"/>
          <p:cNvSpPr/>
          <p:nvPr/>
        </p:nvSpPr>
        <p:spPr bwMode="auto">
          <a:xfrm>
            <a:off x="4892039" y="1508759"/>
            <a:ext cx="640080" cy="640080"/>
          </a:xfrm>
          <a:prstGeom prst="ellipse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765555076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52060" y="1668780"/>
            <a:ext cx="320040" cy="320040"/>
          </a:xfrm>
          <a:prstGeom prst="rect">
            <a:avLst/>
          </a:prstGeom>
        </p:spPr>
      </p:pic>
      <p:sp>
        <p:nvSpPr>
          <p:cNvPr id="150576868" name="Text 11"/>
          <p:cNvSpPr/>
          <p:nvPr/>
        </p:nvSpPr>
        <p:spPr bwMode="auto">
          <a:xfrm>
            <a:off x="5623560" y="14813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Гибкая настройка</a:t>
            </a:r>
            <a:endParaRPr lang="en-US" sz="1400"/>
          </a:p>
        </p:txBody>
      </p:sp>
      <p:sp>
        <p:nvSpPr>
          <p:cNvPr id="1775151672" name="Text 12"/>
          <p:cNvSpPr/>
          <p:nvPr/>
        </p:nvSpPr>
        <p:spPr bwMode="auto">
          <a:xfrm>
            <a:off x="4892039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Шаблоны, триггеры, скрипты — поддержка любых сценариев</a:t>
            </a:r>
            <a:endParaRPr lang="en-US" sz="1200"/>
          </a:p>
        </p:txBody>
      </p:sp>
      <p:sp>
        <p:nvSpPr>
          <p:cNvPr id="440318474" name="Shape 13"/>
          <p:cNvSpPr/>
          <p:nvPr/>
        </p:nvSpPr>
        <p:spPr bwMode="auto">
          <a:xfrm>
            <a:off x="50292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1886431" name="Shape 14"/>
          <p:cNvSpPr/>
          <p:nvPr/>
        </p:nvSpPr>
        <p:spPr bwMode="auto">
          <a:xfrm>
            <a:off x="502920" y="3063240"/>
            <a:ext cx="4023360" cy="54864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</p:spPr>
      </p:sp>
      <p:sp>
        <p:nvSpPr>
          <p:cNvPr id="2063613986" name="Shape 15"/>
          <p:cNvSpPr/>
          <p:nvPr/>
        </p:nvSpPr>
        <p:spPr bwMode="auto">
          <a:xfrm>
            <a:off x="731520" y="3291840"/>
            <a:ext cx="640080" cy="640080"/>
          </a:xfrm>
          <a:prstGeom prst="ellipse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86753661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91540" y="3451860"/>
            <a:ext cx="320040" cy="320040"/>
          </a:xfrm>
          <a:prstGeom prst="rect">
            <a:avLst/>
          </a:prstGeom>
        </p:spPr>
      </p:pic>
      <p:sp>
        <p:nvSpPr>
          <p:cNvPr id="758018481" name="Text 16"/>
          <p:cNvSpPr/>
          <p:nvPr/>
        </p:nvSpPr>
        <p:spPr bwMode="auto">
          <a:xfrm>
            <a:off x="146304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Все протоколы</a:t>
            </a:r>
            <a:endParaRPr lang="en-US" sz="1400"/>
          </a:p>
        </p:txBody>
      </p:sp>
      <p:sp>
        <p:nvSpPr>
          <p:cNvPr id="1932727345" name="Text 17"/>
          <p:cNvSpPr/>
          <p:nvPr/>
        </p:nvSpPr>
        <p:spPr bwMode="auto">
          <a:xfrm>
            <a:off x="731520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Агент, SNMP, IPMI, JMX, ICMP — единая платформа для всего</a:t>
            </a:r>
            <a:endParaRPr lang="en-US" sz="1200"/>
          </a:p>
        </p:txBody>
      </p:sp>
      <p:sp>
        <p:nvSpPr>
          <p:cNvPr id="1147426322" name="Shape 18"/>
          <p:cNvSpPr/>
          <p:nvPr/>
        </p:nvSpPr>
        <p:spPr bwMode="auto">
          <a:xfrm>
            <a:off x="4663440" y="3063240"/>
            <a:ext cx="40233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59960054" name="Shape 19"/>
          <p:cNvSpPr/>
          <p:nvPr/>
        </p:nvSpPr>
        <p:spPr bwMode="auto">
          <a:xfrm>
            <a:off x="4663440" y="3063240"/>
            <a:ext cx="402336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65386631" name="Shape 20"/>
          <p:cNvSpPr/>
          <p:nvPr/>
        </p:nvSpPr>
        <p:spPr bwMode="auto">
          <a:xfrm>
            <a:off x="4892039" y="3291840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5443886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052060" y="3451860"/>
            <a:ext cx="320040" cy="320040"/>
          </a:xfrm>
          <a:prstGeom prst="rect">
            <a:avLst/>
          </a:prstGeom>
        </p:spPr>
      </p:pic>
      <p:sp>
        <p:nvSpPr>
          <p:cNvPr id="1346015015" name="Text 21"/>
          <p:cNvSpPr/>
          <p:nvPr/>
        </p:nvSpPr>
        <p:spPr bwMode="auto">
          <a:xfrm>
            <a:off x="5623560" y="326440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Поддержка Альт Сервер</a:t>
            </a:r>
            <a:endParaRPr lang="en-US" sz="1400"/>
          </a:p>
        </p:txBody>
      </p:sp>
      <p:sp>
        <p:nvSpPr>
          <p:cNvPr id="1819758090" name="Text 22"/>
          <p:cNvSpPr/>
          <p:nvPr/>
        </p:nvSpPr>
        <p:spPr bwMode="auto">
          <a:xfrm>
            <a:off x="4892039" y="4023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Пакеты в официальном репозитории p10, не нужны сторонние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323983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608003837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Технологический стек</a:t>
            </a:r>
            <a:endParaRPr lang="en-US" sz="2800"/>
          </a:p>
        </p:txBody>
      </p:sp>
      <p:sp>
        <p:nvSpPr>
          <p:cNvPr id="1068651265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Программные компоненты решения</a:t>
            </a:r>
            <a:endParaRPr lang="en-US" sz="1300"/>
          </a:p>
        </p:txBody>
      </p:sp>
      <p:sp>
        <p:nvSpPr>
          <p:cNvPr id="703773205" name="Shape 3"/>
          <p:cNvSpPr/>
          <p:nvPr/>
        </p:nvSpPr>
        <p:spPr bwMode="auto">
          <a:xfrm>
            <a:off x="731520" y="1280160"/>
            <a:ext cx="7680960" cy="77724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8533061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87552" y="1463040"/>
            <a:ext cx="420624" cy="420624"/>
          </a:xfrm>
          <a:prstGeom prst="rect">
            <a:avLst/>
          </a:prstGeom>
        </p:spPr>
      </p:pic>
      <p:sp>
        <p:nvSpPr>
          <p:cNvPr id="1942884310" name="Text 4"/>
          <p:cNvSpPr/>
          <p:nvPr/>
        </p:nvSpPr>
        <p:spPr bwMode="auto">
          <a:xfrm>
            <a:off x="164592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Zabbix Server 6.x</a:t>
            </a:r>
            <a:endParaRPr lang="en-US" sz="1600"/>
          </a:p>
        </p:txBody>
      </p:sp>
      <p:sp>
        <p:nvSpPr>
          <p:cNvPr id="884069955" name="Text 5"/>
          <p:cNvSpPr/>
          <p:nvPr/>
        </p:nvSpPr>
        <p:spPr bwMode="auto">
          <a:xfrm>
            <a:off x="1645920" y="1691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Сервер мониторинга + веб-интерфейс</a:t>
            </a:r>
            <a:endParaRPr lang="en-US" sz="1100"/>
          </a:p>
        </p:txBody>
      </p:sp>
      <p:sp>
        <p:nvSpPr>
          <p:cNvPr id="296399453" name="Shape 6"/>
          <p:cNvSpPr/>
          <p:nvPr/>
        </p:nvSpPr>
        <p:spPr bwMode="auto">
          <a:xfrm>
            <a:off x="6309360" y="152704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1670812" name="Text 7"/>
          <p:cNvSpPr/>
          <p:nvPr/>
        </p:nvSpPr>
        <p:spPr bwMode="auto">
          <a:xfrm>
            <a:off x="6309360" y="15270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GNU GPL v2</a:t>
            </a:r>
            <a:endParaRPr lang="en-US" sz="1000"/>
          </a:p>
        </p:txBody>
      </p:sp>
      <p:sp>
        <p:nvSpPr>
          <p:cNvPr id="1409796084" name="Shape 8"/>
          <p:cNvSpPr/>
          <p:nvPr/>
        </p:nvSpPr>
        <p:spPr bwMode="auto">
          <a:xfrm>
            <a:off x="731520" y="2103120"/>
            <a:ext cx="7680960" cy="77724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2556314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87552" y="2286000"/>
            <a:ext cx="420624" cy="420624"/>
          </a:xfrm>
          <a:prstGeom prst="rect">
            <a:avLst/>
          </a:prstGeom>
        </p:spPr>
      </p:pic>
      <p:sp>
        <p:nvSpPr>
          <p:cNvPr id="737509490" name="Text 9"/>
          <p:cNvSpPr/>
          <p:nvPr/>
        </p:nvSpPr>
        <p:spPr bwMode="auto">
          <a:xfrm>
            <a:off x="1645920" y="21762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Apache HTTP Server</a:t>
            </a:r>
            <a:endParaRPr lang="en-US" sz="1600"/>
          </a:p>
        </p:txBody>
      </p:sp>
      <p:sp>
        <p:nvSpPr>
          <p:cNvPr id="1127156283" name="Text 10"/>
          <p:cNvSpPr/>
          <p:nvPr/>
        </p:nvSpPr>
        <p:spPr bwMode="auto">
          <a:xfrm>
            <a:off x="164592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Веб-сервер (служба httpd2)</a:t>
            </a:r>
            <a:endParaRPr lang="en-US" sz="1100"/>
          </a:p>
        </p:txBody>
      </p:sp>
      <p:sp>
        <p:nvSpPr>
          <p:cNvPr id="515850099" name="Shape 11"/>
          <p:cNvSpPr/>
          <p:nvPr/>
        </p:nvSpPr>
        <p:spPr bwMode="auto">
          <a:xfrm>
            <a:off x="6309360" y="235000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8012065" name="Text 12"/>
          <p:cNvSpPr/>
          <p:nvPr/>
        </p:nvSpPr>
        <p:spPr bwMode="auto">
          <a:xfrm>
            <a:off x="6309360" y="235000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Apache 2.0</a:t>
            </a:r>
            <a:endParaRPr lang="en-US" sz="1000"/>
          </a:p>
        </p:txBody>
      </p:sp>
      <p:sp>
        <p:nvSpPr>
          <p:cNvPr id="448593588" name="Shape 13"/>
          <p:cNvSpPr/>
          <p:nvPr/>
        </p:nvSpPr>
        <p:spPr bwMode="auto">
          <a:xfrm>
            <a:off x="731520" y="2926080"/>
            <a:ext cx="7680960" cy="777240"/>
          </a:xfrm>
          <a:prstGeom prst="rect">
            <a:avLst/>
          </a:prstGeom>
          <a:solidFill>
            <a:srgbClr val="0E7C8A"/>
          </a:solidFill>
          <a:ln w="12700">
            <a:solidFill>
              <a:srgbClr val="0E7C8A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0961793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87552" y="3108960"/>
            <a:ext cx="420624" cy="420624"/>
          </a:xfrm>
          <a:prstGeom prst="rect">
            <a:avLst/>
          </a:prstGeom>
        </p:spPr>
      </p:pic>
      <p:sp>
        <p:nvSpPr>
          <p:cNvPr id="652622857" name="Text 14"/>
          <p:cNvSpPr/>
          <p:nvPr/>
        </p:nvSpPr>
        <p:spPr bwMode="auto">
          <a:xfrm>
            <a:off x="1645920" y="29992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PostgreSQL</a:t>
            </a:r>
            <a:endParaRPr lang="en-US" sz="1600"/>
          </a:p>
        </p:txBody>
      </p:sp>
      <p:sp>
        <p:nvSpPr>
          <p:cNvPr id="940210181" name="Text 15"/>
          <p:cNvSpPr/>
          <p:nvPr/>
        </p:nvSpPr>
        <p:spPr bwMode="auto">
          <a:xfrm>
            <a:off x="1645920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СУБД для хранения метрик</a:t>
            </a:r>
            <a:endParaRPr lang="en-US" sz="1100"/>
          </a:p>
        </p:txBody>
      </p:sp>
      <p:sp>
        <p:nvSpPr>
          <p:cNvPr id="1949826963" name="Shape 16"/>
          <p:cNvSpPr/>
          <p:nvPr/>
        </p:nvSpPr>
        <p:spPr bwMode="auto">
          <a:xfrm>
            <a:off x="6309360" y="317296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553090" name="Text 17"/>
          <p:cNvSpPr/>
          <p:nvPr/>
        </p:nvSpPr>
        <p:spPr bwMode="auto">
          <a:xfrm>
            <a:off x="6309360" y="317296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PostgreSQL License</a:t>
            </a:r>
            <a:endParaRPr lang="en-US" sz="1000"/>
          </a:p>
        </p:txBody>
      </p:sp>
      <p:sp>
        <p:nvSpPr>
          <p:cNvPr id="1850339526" name="Shape 18"/>
          <p:cNvSpPr/>
          <p:nvPr/>
        </p:nvSpPr>
        <p:spPr bwMode="auto">
          <a:xfrm>
            <a:off x="731520" y="3749040"/>
            <a:ext cx="7680960" cy="7772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1462049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87552" y="3931920"/>
            <a:ext cx="420624" cy="420624"/>
          </a:xfrm>
          <a:prstGeom prst="rect">
            <a:avLst/>
          </a:prstGeom>
        </p:spPr>
      </p:pic>
      <p:sp>
        <p:nvSpPr>
          <p:cNvPr id="1090591727" name="Text 19"/>
          <p:cNvSpPr/>
          <p:nvPr/>
        </p:nvSpPr>
        <p:spPr bwMode="auto">
          <a:xfrm>
            <a:off x="1645920" y="38221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Альт Сервер 10</a:t>
            </a:r>
            <a:endParaRPr lang="en-US" sz="1600"/>
          </a:p>
        </p:txBody>
      </p:sp>
      <p:sp>
        <p:nvSpPr>
          <p:cNvPr id="3939186" name="Text 20"/>
          <p:cNvSpPr/>
          <p:nvPr/>
        </p:nvSpPr>
        <p:spPr bwMode="auto">
          <a:xfrm>
            <a:off x="1645920" y="4160519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ОС от ООО «Базальт СПО», реестр Минцифры</a:t>
            </a:r>
            <a:endParaRPr lang="en-US" sz="1100"/>
          </a:p>
        </p:txBody>
      </p:sp>
      <p:sp>
        <p:nvSpPr>
          <p:cNvPr id="1837473834" name="Shape 21"/>
          <p:cNvSpPr/>
          <p:nvPr/>
        </p:nvSpPr>
        <p:spPr bwMode="auto">
          <a:xfrm>
            <a:off x="6309360" y="3995928"/>
            <a:ext cx="1920240" cy="29260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12192206" name="Text 22"/>
          <p:cNvSpPr/>
          <p:nvPr/>
        </p:nvSpPr>
        <p:spPr bwMode="auto">
          <a:xfrm>
            <a:off x="6309360" y="399592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GNU GPL / свободное ПО</a:t>
            </a:r>
            <a:endParaRPr lang="en-US" sz="1000"/>
          </a:p>
        </p:txBody>
      </p:sp>
      <p:sp>
        <p:nvSpPr>
          <p:cNvPr id="245758843" name="Text 23"/>
          <p:cNvSpPr/>
          <p:nvPr/>
        </p:nvSpPr>
        <p:spPr bwMode="auto">
          <a:xfrm>
            <a:off x="502920" y="4754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Весь стек — свободное и бесплатное ПО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336093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670576986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ru-RU" sz="2800" b="1" i="0" u="none" strike="noStrike" cap="none" spc="0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Архитектура тестового стенда</a:t>
            </a:r>
            <a:endParaRPr lang="en-US" sz="2800"/>
          </a:p>
        </p:txBody>
      </p:sp>
      <p:sp>
        <p:nvSpPr>
          <p:cNvPr id="2120044183" name=""/>
          <p:cNvSpPr/>
          <p:nvPr/>
        </p:nvSpPr>
        <p:spPr bwMode="auto">
          <a:xfrm flipH="0" flipV="0">
            <a:off x="6402096" y="1454240"/>
            <a:ext cx="2373593" cy="2560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just"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схеме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изображены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следующее: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Сервер Zabbix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(192.168.100.1/24)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Клиет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(192.168.100.2/24)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Маршрутизатор 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(192.168.100.3/24)</a:t>
            </a: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​</a:t>
            </a:r>
            <a:endParaRPr/>
          </a:p>
          <a:p>
            <a:pPr marL="283879" indent="-283879" algn="just">
              <a:buFont typeface="Arial"/>
              <a:buChar char="•"/>
              <a:defRPr/>
            </a:pPr>
            <a:r>
              <a:rPr sz="18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Выход в интернет</a:t>
            </a:r>
            <a:endParaRPr/>
          </a:p>
        </p:txBody>
      </p:sp>
      <p:pic>
        <p:nvPicPr>
          <p:cNvPr id="121938762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98562" y="909637"/>
            <a:ext cx="3529635" cy="40226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962466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653497228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 i="0" u="none" strike="noStrike" cap="none" spc="0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Проверка работоспособности</a:t>
            </a:r>
            <a:endParaRPr lang="en-US" sz="2800"/>
          </a:p>
        </p:txBody>
      </p:sp>
      <p:pic>
        <p:nvPicPr>
          <p:cNvPr id="145051588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4591" y="1184114"/>
            <a:ext cx="4427958" cy="2775269"/>
          </a:xfrm>
          <a:prstGeom prst="rect">
            <a:avLst/>
          </a:prstGeom>
        </p:spPr>
      </p:pic>
      <p:pic>
        <p:nvPicPr>
          <p:cNvPr id="579141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669240" y="1184114"/>
            <a:ext cx="4423222" cy="2768416"/>
          </a:xfrm>
          <a:prstGeom prst="rect">
            <a:avLst/>
          </a:prstGeom>
        </p:spPr>
      </p:pic>
      <p:sp>
        <p:nvSpPr>
          <p:cNvPr id="153618344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ru-RU" sz="1300">
                <a:solidFill>
                  <a:schemeClr val="bg1">
                    <a:lumMod val="65000"/>
                  </a:schemeClr>
                </a:solidFill>
              </a:rPr>
              <a:t>Мониторинг состояния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814874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068200585" name="Text 1"/>
          <p:cNvSpPr/>
          <p:nvPr/>
        </p:nvSpPr>
        <p:spPr bwMode="auto">
          <a:xfrm>
            <a:off x="960279" y="18459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ru-RU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Дашборд</a:t>
            </a:r>
            <a:endParaRPr lang="en-US" sz="2800"/>
          </a:p>
        </p:txBody>
      </p:sp>
      <p:pic>
        <p:nvPicPr>
          <p:cNvPr id="135589897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60279" y="804672"/>
            <a:ext cx="7223441" cy="43388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983593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18680783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Экономическое обоснование</a:t>
            </a:r>
            <a:endParaRPr lang="en-US" sz="2800"/>
          </a:p>
        </p:txBody>
      </p:sp>
      <p:sp>
        <p:nvSpPr>
          <p:cNvPr id="731522470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Затраты на внедрение</a:t>
            </a:r>
            <a:endParaRPr lang="en-US" sz="1300"/>
          </a:p>
        </p:txBody>
      </p:sp>
      <p:sp>
        <p:nvSpPr>
          <p:cNvPr id="1969122865" name="Shape 3"/>
          <p:cNvSpPr/>
          <p:nvPr/>
        </p:nvSpPr>
        <p:spPr bwMode="auto">
          <a:xfrm>
            <a:off x="165528" y="1273274"/>
            <a:ext cx="3128240" cy="32918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22567854" name="Shape 4"/>
          <p:cNvSpPr/>
          <p:nvPr/>
        </p:nvSpPr>
        <p:spPr bwMode="auto">
          <a:xfrm>
            <a:off x="439848" y="1554479"/>
            <a:ext cx="571224" cy="6400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6895184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9868" y="1714498"/>
            <a:ext cx="278727" cy="320040"/>
          </a:xfrm>
          <a:prstGeom prst="rect">
            <a:avLst/>
          </a:prstGeom>
        </p:spPr>
      </p:pic>
      <p:sp>
        <p:nvSpPr>
          <p:cNvPr id="1624815220" name="Text 5"/>
          <p:cNvSpPr/>
          <p:nvPr/>
        </p:nvSpPr>
        <p:spPr bwMode="auto">
          <a:xfrm>
            <a:off x="1217088" y="1547594"/>
            <a:ext cx="21303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Программное обеспечение</a:t>
            </a:r>
            <a:endParaRPr lang="en-US" sz="1300"/>
          </a:p>
        </p:txBody>
      </p:sp>
      <p:sp>
        <p:nvSpPr>
          <p:cNvPr id="1802039941" name="Text 6"/>
          <p:cNvSpPr/>
          <p:nvPr/>
        </p:nvSpPr>
        <p:spPr bwMode="auto">
          <a:xfrm>
            <a:off x="1217088" y="1913354"/>
            <a:ext cx="21303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Альт Сервер · PostgreSQL · Apache · Zabbix — всё свободное</a:t>
            </a:r>
            <a:endParaRPr lang="en-US" sz="1000"/>
          </a:p>
        </p:txBody>
      </p:sp>
      <p:sp>
        <p:nvSpPr>
          <p:cNvPr id="571831560" name="Text 7"/>
          <p:cNvSpPr/>
          <p:nvPr/>
        </p:nvSpPr>
        <p:spPr bwMode="auto">
          <a:xfrm>
            <a:off x="169383" y="2454556"/>
            <a:ext cx="3128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8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15000 ₽</a:t>
            </a:r>
            <a:endParaRPr lang="en-US" sz="9000"/>
          </a:p>
        </p:txBody>
      </p:sp>
      <p:sp>
        <p:nvSpPr>
          <p:cNvPr id="1580119182" name="Text 8"/>
          <p:cNvSpPr/>
          <p:nvPr/>
        </p:nvSpPr>
        <p:spPr bwMode="auto">
          <a:xfrm>
            <a:off x="165528" y="4016474"/>
            <a:ext cx="312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F39C12"/>
                </a:solidFill>
                <a:latin typeface="Calibri"/>
                <a:ea typeface="Calibri"/>
                <a:cs typeface="Calibri"/>
              </a:rPr>
              <a:t>Лицензионных отчислений нет</a:t>
            </a:r>
            <a:endParaRPr lang="en-US" sz="1100"/>
          </a:p>
        </p:txBody>
      </p:sp>
      <p:sp>
        <p:nvSpPr>
          <p:cNvPr id="1685634468" name="Shape 9"/>
          <p:cNvSpPr/>
          <p:nvPr/>
        </p:nvSpPr>
        <p:spPr bwMode="auto">
          <a:xfrm>
            <a:off x="3297624" y="1259503"/>
            <a:ext cx="3050571" cy="327807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14915184" name="Shape 10"/>
          <p:cNvSpPr/>
          <p:nvPr/>
        </p:nvSpPr>
        <p:spPr bwMode="auto">
          <a:xfrm>
            <a:off x="3571944" y="1526938"/>
            <a:ext cx="640080" cy="64008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9685320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31964" y="1686958"/>
            <a:ext cx="320040" cy="320040"/>
          </a:xfrm>
          <a:prstGeom prst="rect">
            <a:avLst/>
          </a:prstGeom>
        </p:spPr>
      </p:pic>
      <p:sp>
        <p:nvSpPr>
          <p:cNvPr id="80667094" name="Text 11"/>
          <p:cNvSpPr/>
          <p:nvPr/>
        </p:nvSpPr>
        <p:spPr bwMode="auto">
          <a:xfrm>
            <a:off x="4349184" y="152693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Работы специалиста</a:t>
            </a:r>
            <a:endParaRPr lang="en-US" sz="1300"/>
          </a:p>
        </p:txBody>
      </p:sp>
      <p:sp>
        <p:nvSpPr>
          <p:cNvPr id="1772146168" name="Text 12"/>
          <p:cNvSpPr/>
          <p:nvPr/>
        </p:nvSpPr>
        <p:spPr bwMode="auto">
          <a:xfrm>
            <a:off x="4349184" y="189269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20 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человеко-часов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 × 1500 ₽/</a:t>
            </a:r>
            <a:r>
              <a:rPr lang="en-US" sz="10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час</a:t>
            </a:r>
            <a:endParaRPr lang="en-US" sz="1000">
              <a:latin typeface="Calibri"/>
              <a:ea typeface="Calibri"/>
              <a:cs typeface="Calibri"/>
            </a:endParaRPr>
          </a:p>
        </p:txBody>
      </p:sp>
      <p:sp>
        <p:nvSpPr>
          <p:cNvPr id="1041488993" name="Text 13"/>
          <p:cNvSpPr/>
          <p:nvPr/>
        </p:nvSpPr>
        <p:spPr bwMode="auto">
          <a:xfrm>
            <a:off x="2856949" y="2454557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5400" b="1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30000 </a:t>
            </a:r>
            <a:r>
              <a:rPr lang="en-US" sz="5400" b="1">
                <a:solidFill>
                  <a:srgbClr val="E94B35"/>
                </a:solidFill>
                <a:latin typeface="Arial Black"/>
                <a:ea typeface="Arial Black"/>
                <a:cs typeface="Arial Black"/>
              </a:rPr>
              <a:t>₽</a:t>
            </a:r>
            <a:endParaRPr lang="en-US" sz="5400">
              <a:latin typeface="Arial Black"/>
            </a:endParaRPr>
          </a:p>
        </p:txBody>
      </p:sp>
      <p:sp>
        <p:nvSpPr>
          <p:cNvPr id="207915173" name="Text 14"/>
          <p:cNvSpPr/>
          <p:nvPr/>
        </p:nvSpPr>
        <p:spPr bwMode="auto">
          <a:xfrm>
            <a:off x="2856949" y="39889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Единоразовые затраты на внедрение</a:t>
            </a:r>
            <a:endParaRPr lang="en-US" sz="1100"/>
          </a:p>
        </p:txBody>
      </p:sp>
      <p:sp>
        <p:nvSpPr>
          <p:cNvPr id="1543947690" name="Shape 3"/>
          <p:cNvSpPr/>
          <p:nvPr/>
        </p:nvSpPr>
        <p:spPr bwMode="auto">
          <a:xfrm>
            <a:off x="6348744" y="1273274"/>
            <a:ext cx="2797734" cy="3291840"/>
          </a:xfrm>
          <a:prstGeom prst="rect">
            <a:avLst/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26954697" name="Text 5"/>
          <p:cNvSpPr/>
          <p:nvPr/>
        </p:nvSpPr>
        <p:spPr bwMode="auto">
          <a:xfrm flipH="0" flipV="0">
            <a:off x="6787490" y="1554478"/>
            <a:ext cx="2130386" cy="54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/>
            </a:pPr>
            <a:r>
              <a:rPr lang="en-US" sz="1300" b="1">
                <a:solidFill>
                  <a:srgbClr val="FFFFFF"/>
                </a:solidFill>
                <a:latin typeface="Arial Black"/>
              </a:rPr>
              <a:t>Стоимость</a:t>
            </a:r>
            <a:r>
              <a:rPr lang="en-US" sz="1300" b="1">
                <a:solidFill>
                  <a:srgbClr val="FFFFFF"/>
                </a:solidFill>
                <a:latin typeface="Arial Black"/>
              </a:rPr>
              <a:t> </a:t>
            </a:r>
            <a:r>
              <a:rPr lang="en-US" sz="1300" b="1">
                <a:solidFill>
                  <a:srgbClr val="FFFFFF"/>
                </a:solidFill>
                <a:latin typeface="Arial Black"/>
              </a:rPr>
              <a:t>оборудования </a:t>
            </a:r>
            <a:r>
              <a:rPr lang="ru-RU" sz="1300" b="1">
                <a:solidFill>
                  <a:srgbClr val="FFFFFF"/>
                </a:solidFill>
                <a:latin typeface="Arial Black"/>
              </a:rPr>
              <a:t>и лицензии</a:t>
            </a:r>
            <a:endParaRPr/>
          </a:p>
        </p:txBody>
      </p:sp>
      <p:sp>
        <p:nvSpPr>
          <p:cNvPr id="1756206790" name="TextBox 22"/>
          <p:cNvSpPr txBox="1"/>
          <p:nvPr/>
        </p:nvSpPr>
        <p:spPr bwMode="auto">
          <a:xfrm>
            <a:off x="6431096" y="2688802"/>
            <a:ext cx="2632435" cy="10366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sz="44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3</a:t>
            </a:r>
            <a:r>
              <a:rPr lang="ru-RU" sz="44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62</a:t>
            </a:r>
            <a:r>
              <a:rPr lang="en-US" sz="4400" b="1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00</a:t>
            </a:r>
            <a:r>
              <a:rPr lang="en-US" sz="4400" b="1" i="0" u="none" strike="noStrike">
                <a:solidFill>
                  <a:srgbClr val="10B981"/>
                </a:solidFill>
                <a:latin typeface="Arial Black"/>
                <a:ea typeface="Arial Black"/>
                <a:cs typeface="Arial Black"/>
              </a:rPr>
              <a:t> ₽</a:t>
            </a:r>
            <a:endParaRPr lang="ru-RU" sz="4400"/>
          </a:p>
          <a:p>
            <a:pPr algn="ctr">
              <a:defRPr/>
            </a:pPr>
            <a:endParaRPr lang="ru-RU"/>
          </a:p>
        </p:txBody>
      </p:sp>
      <p:sp>
        <p:nvSpPr>
          <p:cNvPr id="1991388140" name="TextBox 23"/>
          <p:cNvSpPr txBox="1"/>
          <p:nvPr/>
        </p:nvSpPr>
        <p:spPr bwMode="auto">
          <a:xfrm>
            <a:off x="6431095" y="4017713"/>
            <a:ext cx="2557010" cy="7013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/>
            <a:spAutoFit/>
          </a:bodyPr>
          <a:lstStyle/>
          <a:p>
            <a:pPr>
              <a:defRPr/>
            </a:pPr>
            <a:r>
              <a:rPr lang="en-US" sz="1100" b="0" i="1" u="none" strike="noStrike">
                <a:solidFill>
                  <a:srgbClr val="ED7D31"/>
                </a:solidFill>
                <a:latin typeface="Calibri"/>
                <a:ea typeface="Calibri"/>
                <a:cs typeface="Calibri"/>
              </a:rPr>
              <a:t>Единоразовые затраты на внедрение</a:t>
            </a:r>
            <a:r>
              <a:rPr lang="ru-RU" sz="1100" b="0" i="1" u="none" strike="noStrike">
                <a:solidFill>
                  <a:srgbClr val="ED7D31"/>
                </a:solidFill>
                <a:latin typeface="Calibri"/>
                <a:ea typeface="Calibri"/>
                <a:cs typeface="Calibri"/>
              </a:rPr>
              <a:t>, кроме лицензии</a:t>
            </a:r>
            <a:endParaRPr lang="ru-RU">
              <a:solidFill>
                <a:srgbClr val="ED7D31"/>
              </a:solidFill>
            </a:endParaRPr>
          </a:p>
          <a:p>
            <a:pPr algn="ctr">
              <a:defRPr/>
            </a:pPr>
            <a:endParaRPr lang="ru-RU">
              <a:solidFill>
                <a:srgbClr val="ED7D3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4F7FB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006655" name="Shape 0"/>
          <p:cNvSpPr/>
          <p:nvPr/>
        </p:nvSpPr>
        <p:spPr bwMode="auto">
          <a:xfrm>
            <a:off x="0" y="0"/>
            <a:ext cx="164592" cy="5143500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80863827" name="Text 1"/>
          <p:cNvSpPr/>
          <p:nvPr/>
        </p:nvSpPr>
        <p:spPr bwMode="auto">
          <a:xfrm>
            <a:off x="502920" y="2560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800" b="1">
                <a:solidFill>
                  <a:srgbClr val="0F2A47"/>
                </a:solidFill>
                <a:latin typeface="Arial Black"/>
                <a:ea typeface="Arial Black"/>
                <a:cs typeface="Arial Black"/>
              </a:rPr>
              <a:t>Выводы</a:t>
            </a:r>
            <a:endParaRPr lang="en-US" sz="2800"/>
          </a:p>
        </p:txBody>
      </p:sp>
      <p:sp>
        <p:nvSpPr>
          <p:cNvPr id="1147506202" name="Text 2"/>
          <p:cNvSpPr/>
          <p:nvPr/>
        </p:nvSpPr>
        <p:spPr bwMode="auto">
          <a:xfrm>
            <a:off x="50292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6B7785"/>
                </a:solidFill>
                <a:latin typeface="Calibri"/>
                <a:ea typeface="Calibri"/>
                <a:cs typeface="Calibri"/>
              </a:rPr>
              <a:t>Цели и задачи дипломного проекта выполнены</a:t>
            </a:r>
            <a:endParaRPr lang="en-US" sz="1300"/>
          </a:p>
        </p:txBody>
      </p:sp>
      <p:sp>
        <p:nvSpPr>
          <p:cNvPr id="1610682891" name="Shape 3"/>
          <p:cNvSpPr/>
          <p:nvPr/>
        </p:nvSpPr>
        <p:spPr bwMode="auto">
          <a:xfrm>
            <a:off x="502920" y="1280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18357190" name="Shape 4"/>
          <p:cNvSpPr/>
          <p:nvPr/>
        </p:nvSpPr>
        <p:spPr bwMode="auto">
          <a:xfrm>
            <a:off x="667512" y="1508759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6007578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1634490"/>
            <a:ext cx="251460" cy="251460"/>
          </a:xfrm>
          <a:prstGeom prst="rect">
            <a:avLst/>
          </a:prstGeom>
        </p:spPr>
      </p:pic>
      <p:sp>
        <p:nvSpPr>
          <p:cNvPr id="979798663" name="Text 5"/>
          <p:cNvSpPr/>
          <p:nvPr/>
        </p:nvSpPr>
        <p:spPr bwMode="auto">
          <a:xfrm>
            <a:off x="132588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Изучены теоретические основы организации и мониторинга ЛВС</a:t>
            </a:r>
            <a:endParaRPr lang="en-US" sz="1200"/>
          </a:p>
        </p:txBody>
      </p:sp>
      <p:sp>
        <p:nvSpPr>
          <p:cNvPr id="1576322823" name="Shape 6"/>
          <p:cNvSpPr/>
          <p:nvPr/>
        </p:nvSpPr>
        <p:spPr bwMode="auto">
          <a:xfrm>
            <a:off x="4663440" y="1280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62933095" name="Shape 7"/>
          <p:cNvSpPr/>
          <p:nvPr/>
        </p:nvSpPr>
        <p:spPr bwMode="auto">
          <a:xfrm>
            <a:off x="4828032" y="1508759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3312440" name="Image 1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1634490"/>
            <a:ext cx="251460" cy="251460"/>
          </a:xfrm>
          <a:prstGeom prst="rect">
            <a:avLst/>
          </a:prstGeom>
        </p:spPr>
      </p:pic>
      <p:sp>
        <p:nvSpPr>
          <p:cNvPr id="1639021309" name="Text 8"/>
          <p:cNvSpPr/>
          <p:nvPr/>
        </p:nvSpPr>
        <p:spPr bwMode="auto">
          <a:xfrm>
            <a:off x="5486400" y="1371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Проведён сравнительный анализ 11 систем по 10 критериям</a:t>
            </a:r>
            <a:endParaRPr lang="en-US" sz="1200"/>
          </a:p>
        </p:txBody>
      </p:sp>
      <p:sp>
        <p:nvSpPr>
          <p:cNvPr id="1125208322" name="Shape 9"/>
          <p:cNvSpPr/>
          <p:nvPr/>
        </p:nvSpPr>
        <p:spPr bwMode="auto">
          <a:xfrm>
            <a:off x="502920" y="2423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31905294" name="Shape 10"/>
          <p:cNvSpPr/>
          <p:nvPr/>
        </p:nvSpPr>
        <p:spPr bwMode="auto">
          <a:xfrm>
            <a:off x="667512" y="2651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589924383" name="Image 2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2777490"/>
            <a:ext cx="251460" cy="251460"/>
          </a:xfrm>
          <a:prstGeom prst="rect">
            <a:avLst/>
          </a:prstGeom>
        </p:spPr>
      </p:pic>
      <p:sp>
        <p:nvSpPr>
          <p:cNvPr id="598395524" name="Text 11"/>
          <p:cNvSpPr/>
          <p:nvPr/>
        </p:nvSpPr>
        <p:spPr bwMode="auto">
          <a:xfrm>
            <a:off x="1325880" y="2514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Обоснованно выбрана система Zabbix</a:t>
            </a:r>
            <a:endParaRPr lang="en-US" sz="1200"/>
          </a:p>
        </p:txBody>
      </p:sp>
      <p:sp>
        <p:nvSpPr>
          <p:cNvPr id="1362968863" name="Shape 12"/>
          <p:cNvSpPr/>
          <p:nvPr/>
        </p:nvSpPr>
        <p:spPr bwMode="auto">
          <a:xfrm>
            <a:off x="4663440" y="2423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06670541" name="Shape 13"/>
          <p:cNvSpPr/>
          <p:nvPr/>
        </p:nvSpPr>
        <p:spPr bwMode="auto">
          <a:xfrm>
            <a:off x="4828032" y="2651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37944736" name="Image 3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2777490"/>
            <a:ext cx="251460" cy="251460"/>
          </a:xfrm>
          <a:prstGeom prst="rect">
            <a:avLst/>
          </a:prstGeom>
        </p:spPr>
      </p:pic>
      <p:sp>
        <p:nvSpPr>
          <p:cNvPr id="2112165212" name="Text 14"/>
          <p:cNvSpPr/>
          <p:nvPr/>
        </p:nvSpPr>
        <p:spPr bwMode="auto">
          <a:xfrm>
            <a:off x="5486400" y="2514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Развёрнута и настроена на отечественной ОС Альт Сервер 10</a:t>
            </a:r>
            <a:endParaRPr lang="en-US" sz="1200"/>
          </a:p>
        </p:txBody>
      </p:sp>
      <p:sp>
        <p:nvSpPr>
          <p:cNvPr id="494437858" name="Shape 15"/>
          <p:cNvSpPr/>
          <p:nvPr/>
        </p:nvSpPr>
        <p:spPr bwMode="auto">
          <a:xfrm>
            <a:off x="50292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28117810" name="Shape 16"/>
          <p:cNvSpPr/>
          <p:nvPr/>
        </p:nvSpPr>
        <p:spPr bwMode="auto">
          <a:xfrm>
            <a:off x="667512" y="3794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06292439" name="Image 4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93242" y="3920490"/>
            <a:ext cx="251460" cy="251460"/>
          </a:xfrm>
          <a:prstGeom prst="rect">
            <a:avLst/>
          </a:prstGeom>
        </p:spPr>
      </p:pic>
      <p:sp>
        <p:nvSpPr>
          <p:cNvPr id="1621006332" name="Text 17"/>
          <p:cNvSpPr/>
          <p:nvPr/>
        </p:nvSpPr>
        <p:spPr bwMode="auto">
          <a:xfrm>
            <a:off x="13258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Подтверждена работоспособность </a:t>
            </a:r>
            <a:endParaRPr lang="en-US" sz="1200"/>
          </a:p>
        </p:txBody>
      </p:sp>
      <p:sp>
        <p:nvSpPr>
          <p:cNvPr id="643233349" name="Shape 18"/>
          <p:cNvSpPr/>
          <p:nvPr/>
        </p:nvSpPr>
        <p:spPr bwMode="auto">
          <a:xfrm>
            <a:off x="466344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6DDE6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55347706" name="Shape 19"/>
          <p:cNvSpPr/>
          <p:nvPr/>
        </p:nvSpPr>
        <p:spPr bwMode="auto">
          <a:xfrm>
            <a:off x="4828032" y="3794760"/>
            <a:ext cx="502920" cy="50292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794858578" name="Image 5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953762" y="3920490"/>
            <a:ext cx="251460" cy="251460"/>
          </a:xfrm>
          <a:prstGeom prst="rect">
            <a:avLst/>
          </a:prstGeom>
        </p:spPr>
      </p:pic>
      <p:sp>
        <p:nvSpPr>
          <p:cNvPr id="1356450867" name="Text 20"/>
          <p:cNvSpPr/>
          <p:nvPr/>
        </p:nvSpPr>
        <p:spPr bwMode="auto">
          <a:xfrm>
            <a:off x="548640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A2533"/>
                </a:solidFill>
                <a:latin typeface="Calibri"/>
                <a:ea typeface="Calibri"/>
                <a:cs typeface="Calibri"/>
              </a:rPr>
              <a:t>Выполнено экономическое обоснование внедрения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0F2A4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314555" name="Shape 0"/>
          <p:cNvSpPr/>
          <p:nvPr/>
        </p:nvSpPr>
        <p:spPr bwMode="auto">
          <a:xfrm>
            <a:off x="457200" y="365760"/>
            <a:ext cx="137160" cy="137160"/>
          </a:xfrm>
          <a:prstGeom prst="ellipse">
            <a:avLst/>
          </a:prstGeom>
          <a:solidFill>
            <a:srgbClr val="E94B35">
              <a:alpha val="8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286107040" name="Shape 1"/>
          <p:cNvSpPr/>
          <p:nvPr/>
        </p:nvSpPr>
        <p:spPr bwMode="auto">
          <a:xfrm>
            <a:off x="822960" y="365760"/>
            <a:ext cx="137160" cy="137160"/>
          </a:xfrm>
          <a:prstGeom prst="ellipse">
            <a:avLst/>
          </a:prstGeom>
          <a:solidFill>
            <a:srgbClr val="E94B35">
              <a:alpha val="65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148176956" name="Shape 2"/>
          <p:cNvSpPr/>
          <p:nvPr/>
        </p:nvSpPr>
        <p:spPr bwMode="auto">
          <a:xfrm>
            <a:off x="1188720" y="365760"/>
            <a:ext cx="137160" cy="137160"/>
          </a:xfrm>
          <a:prstGeom prst="ellipse">
            <a:avLst/>
          </a:prstGeom>
          <a:solidFill>
            <a:srgbClr val="E94B35">
              <a:alpha val="5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924516060" name="Shape 3"/>
          <p:cNvSpPr/>
          <p:nvPr/>
        </p:nvSpPr>
        <p:spPr bwMode="auto">
          <a:xfrm>
            <a:off x="1554480" y="365760"/>
            <a:ext cx="137160" cy="137160"/>
          </a:xfrm>
          <a:prstGeom prst="ellipse">
            <a:avLst/>
          </a:prstGeom>
          <a:solidFill>
            <a:srgbClr val="E94B35">
              <a:alpha val="35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290482914" name="Shape 4"/>
          <p:cNvSpPr/>
          <p:nvPr/>
        </p:nvSpPr>
        <p:spPr bwMode="auto">
          <a:xfrm>
            <a:off x="1920240" y="365760"/>
            <a:ext cx="137160" cy="137160"/>
          </a:xfrm>
          <a:prstGeom prst="ellipse">
            <a:avLst/>
          </a:prstGeom>
          <a:solidFill>
            <a:srgbClr val="E94B35">
              <a:alpha val="20000"/>
            </a:srgbClr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1058965102" name="Text 5"/>
          <p:cNvSpPr/>
          <p:nvPr/>
        </p:nvSpPr>
        <p:spPr bwMode="auto">
          <a:xfrm>
            <a:off x="50292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Спасибо за внимание!</a:t>
            </a:r>
            <a:endParaRPr lang="en-US" sz="4400"/>
          </a:p>
        </p:txBody>
      </p:sp>
      <p:sp>
        <p:nvSpPr>
          <p:cNvPr id="1342946929" name="Shape 6"/>
          <p:cNvSpPr/>
          <p:nvPr/>
        </p:nvSpPr>
        <p:spPr bwMode="auto">
          <a:xfrm>
            <a:off x="4023360" y="2880360"/>
            <a:ext cx="1097280" cy="54864"/>
          </a:xfrm>
          <a:prstGeom prst="rect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</p:spPr>
      </p:sp>
      <p:sp>
        <p:nvSpPr>
          <p:cNvPr id="43612063" name="Shape 8"/>
          <p:cNvSpPr/>
          <p:nvPr/>
        </p:nvSpPr>
        <p:spPr bwMode="auto">
          <a:xfrm>
            <a:off x="4206240" y="3661456"/>
            <a:ext cx="731520" cy="731520"/>
          </a:xfrm>
          <a:prstGeom prst="ellipse">
            <a:avLst/>
          </a:prstGeom>
          <a:solidFill>
            <a:srgbClr val="E94B35"/>
          </a:solidFill>
          <a:ln w="12700">
            <a:solidFill>
              <a:srgbClr val="E94B35"/>
            </a:solidFill>
            <a:prstDash val="solid"/>
          </a:ln>
          <a:effectLst>
            <a:outerShdw blurRad="1524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2667524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382234" y="3844336"/>
            <a:ext cx="365760" cy="365760"/>
          </a:xfrm>
          <a:prstGeom prst="rect">
            <a:avLst/>
          </a:prstGeom>
        </p:spPr>
      </p:pic>
      <p:sp>
        <p:nvSpPr>
          <p:cNvPr id="248053199" name=""/>
          <p:cNvSpPr txBox="1"/>
          <p:nvPr/>
        </p:nvSpPr>
        <p:spPr bwMode="auto">
          <a:xfrm rot="0" flipH="0" flipV="0">
            <a:off x="181617" y="4137024"/>
            <a:ext cx="3614404" cy="838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en-US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Выполнил студент </a:t>
            </a:r>
            <a:r>
              <a:rPr lang="ru-RU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Моногаров М.А.</a:t>
            </a:r>
            <a:endParaRPr lang="en-US" sz="1300">
              <a:solidFill>
                <a:srgbClr val="C9D4E0"/>
              </a:solidFill>
              <a:latin typeface="Calibri"/>
              <a:ea typeface="Calibri"/>
              <a:cs typeface="Calibri"/>
            </a:endParaRPr>
          </a:p>
          <a:p>
            <a:pPr marL="0" indent="0" algn="l">
              <a:buNone/>
              <a:defRPr/>
            </a:pPr>
            <a:r>
              <a:rPr lang="en-US">
                <a:solidFill>
                  <a:srgbClr val="C9D4E0"/>
                </a:solidFill>
                <a:latin typeface="Calibri"/>
                <a:ea typeface="Calibri"/>
                <a:cs typeface="Calibri"/>
              </a:rPr>
              <a:t>группы 222СА</a:t>
            </a:r>
            <a:br>
              <a:rPr lang="en-US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</a:b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Мониторинг ЛВС</dc:title>
  <dc:subject>PptxGenJS Presentation</dc:subject>
  <dc:creator>Диплом 222СА</dc:creator>
  <cp:lastModifiedBy/>
  <cp:revision>88</cp:revision>
  <dcterms:created xsi:type="dcterms:W3CDTF">2026-05-15T06:17:00Z</dcterms:created>
  <dcterms:modified xsi:type="dcterms:W3CDTF">2026-06-09T13:44:18Z</dcterms:modified>
</cp:coreProperties>
</file>