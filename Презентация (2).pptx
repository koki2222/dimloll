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5BCC33-5E85-4544-A347-7BDAD86F7677}" v="97" dt="2026-05-28T02:45:49.401"/>
    <p1510:client id="{BA45E490-673E-4DF0-8E90-A85012F38A28}" v="1" dt="2026-05-28T02:31:13.2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Zabbix</c:v>
                </c:pt>
              </c:strCache>
            </c:strRef>
          </c:tx>
          <c:spPr>
            <a:solidFill>
              <a:srgbClr val="E94B35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Лицензия</c:v>
                </c:pt>
                <c:pt idx="1">
                  <c:v>Удобство</c:v>
                </c:pt>
                <c:pt idx="2">
                  <c:v>Гибкость</c:v>
                </c:pt>
                <c:pt idx="3">
                  <c:v>Сообщество</c:v>
                </c:pt>
                <c:pt idx="4">
                  <c:v>Импорто-замещение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4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38-47F1-81D0-4158901ECA6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Prometheus</c:v>
                </c:pt>
              </c:strCache>
            </c:strRef>
          </c:tx>
          <c:spPr>
            <a:solidFill>
              <a:srgbClr val="0E7C8A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Лицензия</c:v>
                </c:pt>
                <c:pt idx="1">
                  <c:v>Удобство</c:v>
                </c:pt>
                <c:pt idx="2">
                  <c:v>Гибкость</c:v>
                </c:pt>
                <c:pt idx="3">
                  <c:v>Сообщество</c:v>
                </c:pt>
                <c:pt idx="4">
                  <c:v>Импорто-замещение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</c:v>
                </c:pt>
                <c:pt idx="1">
                  <c:v>3</c:v>
                </c:pt>
                <c:pt idx="2">
                  <c:v>5</c:v>
                </c:pt>
                <c:pt idx="3">
                  <c:v>4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838-47F1-81D0-4158901ECA6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PRTG</c:v>
                </c:pt>
              </c:strCache>
            </c:strRef>
          </c:tx>
          <c:spPr>
            <a:solidFill>
              <a:srgbClr val="F39C12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Лицензия</c:v>
                </c:pt>
                <c:pt idx="1">
                  <c:v>Удобство</c:v>
                </c:pt>
                <c:pt idx="2">
                  <c:v>Гибкость</c:v>
                </c:pt>
                <c:pt idx="3">
                  <c:v>Сообщество</c:v>
                </c:pt>
                <c:pt idx="4">
                  <c:v>Импорто-замещение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3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838-47F1-81D0-4158901ECA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5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7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253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0D5EA2-B6E3-424F-B097-50F1946A4700}" type="datetimeFigureOut">
              <a:t>27.05.2026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C244E2-96F5-4FF2-9B4A-585178DCEEBE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6714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274320"/>
            <a:ext cx="164592" cy="164592"/>
          </a:xfrm>
          <a:prstGeom prst="ellipse">
            <a:avLst/>
          </a:prstGeom>
          <a:solidFill>
            <a:srgbClr val="E94B35">
              <a:alpha val="70000"/>
            </a:srgbClr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274320"/>
            <a:ext cx="164592" cy="164592"/>
          </a:xfrm>
          <a:prstGeom prst="ellipse">
            <a:avLst/>
          </a:prstGeom>
          <a:solidFill>
            <a:srgbClr val="E94B35">
              <a:alpha val="60000"/>
            </a:srgbClr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274320"/>
            <a:ext cx="164592" cy="164592"/>
          </a:xfrm>
          <a:prstGeom prst="ellipse">
            <a:avLst/>
          </a:prstGeom>
          <a:solidFill>
            <a:srgbClr val="E94B35">
              <a:alpha val="50000"/>
            </a:srgbClr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914400"/>
            <a:ext cx="164592" cy="164592"/>
          </a:xfrm>
          <a:prstGeom prst="ellipse">
            <a:avLst/>
          </a:prstGeom>
          <a:solidFill>
            <a:srgbClr val="E94B35">
              <a:alpha val="40000"/>
            </a:srgbClr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0" y="914400"/>
            <a:ext cx="164592" cy="164592"/>
          </a:xfrm>
          <a:prstGeom prst="ellipse">
            <a:avLst/>
          </a:prstGeom>
          <a:solidFill>
            <a:srgbClr val="E94B35">
              <a:alpha val="30000"/>
            </a:srgbClr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0" y="914400"/>
            <a:ext cx="164592" cy="164592"/>
          </a:xfrm>
          <a:prstGeom prst="ellipse">
            <a:avLst/>
          </a:prstGeom>
          <a:solidFill>
            <a:srgbClr val="E94B35">
              <a:alpha val="20000"/>
            </a:srgbClr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7496" y="356616"/>
            <a:ext cx="640080" cy="640080"/>
          </a:xfrm>
          <a:prstGeom prst="line">
            <a:avLst/>
          </a:prstGeom>
          <a:noFill/>
          <a:ln w="12700">
            <a:solidFill>
              <a:srgbClr val="E94B35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37576" y="356616"/>
            <a:ext cx="640080" cy="640080"/>
          </a:xfrm>
          <a:prstGeom prst="line">
            <a:avLst/>
          </a:prstGeom>
          <a:noFill/>
          <a:ln w="12700">
            <a:solidFill>
              <a:srgbClr val="E94B35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200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ГБПОУ НСО «Новосибирский политехнический колледж»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E94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ДИПЛОМНЫЙ ПРОЕКТ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1691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Мониторинг</a:t>
            </a:r>
            <a:endParaRPr lang="en-US" sz="5000" dirty="0"/>
          </a:p>
        </p:txBody>
      </p:sp>
      <p:sp>
        <p:nvSpPr>
          <p:cNvPr id="13" name="Text 11"/>
          <p:cNvSpPr/>
          <p:nvPr/>
        </p:nvSpPr>
        <p:spPr>
          <a:xfrm>
            <a:off x="502920" y="2514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локально-вычислительной сети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502920" y="3337560"/>
            <a:ext cx="731520" cy="36576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5204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 студент группы 222СА
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
</a:t>
            </a:r>
            <a:r>
              <a:rPr lang="en-US" sz="1100" i="1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Специальность 09.02.06 «Сетевое и системное администрирование»
</a:t>
            </a: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
</a:t>
            </a:r>
            <a:r>
              <a:rPr lang="en-US" sz="1200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Руководитель: Егорова А. А.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Новосибирск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Актуальность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мониторинг ЛВС критически важен сегодня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80160"/>
            <a:ext cx="4023360" cy="5486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4813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Рост сложности сетей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2240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Десятки серверов, сотни рабочих мест, гибридные среды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128016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280160"/>
            <a:ext cx="4023360" cy="54864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92040" y="1508760"/>
            <a:ext cx="640080" cy="640080"/>
          </a:xfrm>
          <a:prstGeom prst="ellipse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166878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23560" y="14813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Цена простоя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892040" y="2240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Любой сбой ЛВС останавливает бизнес-процессы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02920" y="306324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02920" y="3063240"/>
            <a:ext cx="4023360" cy="54864"/>
          </a:xfrm>
          <a:prstGeom prst="rect">
            <a:avLst/>
          </a:prstGeom>
          <a:solidFill>
            <a:srgbClr val="0E7C8A"/>
          </a:solidFill>
          <a:ln w="12700">
            <a:solidFill>
              <a:srgbClr val="0E7C8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291840"/>
            <a:ext cx="640080" cy="640080"/>
          </a:xfrm>
          <a:prstGeom prst="ellipse">
            <a:avLst/>
          </a:prstGeom>
          <a:solidFill>
            <a:srgbClr val="0E7C8A"/>
          </a:solidFill>
          <a:ln w="12700">
            <a:solidFill>
              <a:srgbClr val="0E7C8A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" y="345186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63040" y="326440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0F2A47"/>
                </a:solidFill>
                <a:latin typeface="Arial Black"/>
              </a:rPr>
              <a:t>Локальные</a:t>
            </a:r>
            <a:r>
              <a:rPr lang="en-US" sz="1400" b="1" dirty="0">
                <a:solidFill>
                  <a:srgbClr val="0F2A47"/>
                </a:solidFill>
                <a:latin typeface="Arial Black"/>
              </a:rPr>
              <a:t> </a:t>
            </a:r>
            <a:r>
              <a:rPr lang="en-US" sz="1400" b="1" dirty="0" err="1">
                <a:solidFill>
                  <a:srgbClr val="0F2A47"/>
                </a:solidFill>
                <a:latin typeface="Arial Black"/>
              </a:rPr>
              <a:t>решения</a:t>
            </a:r>
          </a:p>
        </p:txBody>
      </p:sp>
      <p:sp>
        <p:nvSpPr>
          <p:cNvPr id="22" name="Text 17"/>
          <p:cNvSpPr/>
          <p:nvPr/>
        </p:nvSpPr>
        <p:spPr>
          <a:xfrm>
            <a:off x="731520" y="4023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 на отечественные ОС из реестра Минцифры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663440" y="306324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663440" y="3063240"/>
            <a:ext cx="4023360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892040" y="3291840"/>
            <a:ext cx="640080" cy="6400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2060" y="3451860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623560" y="326440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Превентивный контроль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4892040" y="4023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Обнаружение проблем до их влияния на пользователей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Цель и задачи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предстояло сделать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8138160" cy="91440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002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ЦЕЛЬ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463040" y="164592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Сравнительный анализ систем мониторинга и практическое внедрение Zabbix на отечественной ОС Альт Сервер 10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E94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ЗАДАЧИ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2788920"/>
            <a:ext cx="502920" cy="502920"/>
          </a:xfrm>
          <a:prstGeom prst="ellipse">
            <a:avLst/>
          </a:prstGeom>
          <a:solidFill>
            <a:srgbClr val="0E7C8A"/>
          </a:solidFill>
          <a:ln w="12700">
            <a:solidFill>
              <a:srgbClr val="0E7C8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143000" y="27432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Изучить теоретические основы организации и мониторинга ЛВС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63440" y="2788920"/>
            <a:ext cx="502920" cy="502920"/>
          </a:xfrm>
          <a:prstGeom prst="ellipse">
            <a:avLst/>
          </a:prstGeom>
          <a:solidFill>
            <a:srgbClr val="0E7C8A"/>
          </a:solidFill>
          <a:ln w="12700">
            <a:solidFill>
              <a:srgbClr val="0E7C8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6344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303520" y="27432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Сравнить существующие системы мониторинга по 10 критериям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02920" y="3566160"/>
            <a:ext cx="502920" cy="502920"/>
          </a:xfrm>
          <a:prstGeom prst="ellipse">
            <a:avLst/>
          </a:prstGeom>
          <a:solidFill>
            <a:srgbClr val="0E7C8A"/>
          </a:solidFill>
          <a:ln w="12700">
            <a:solidFill>
              <a:srgbClr val="0E7C8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143000" y="35204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Обосновать выбор оптимальной системы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663440" y="3566160"/>
            <a:ext cx="502920" cy="502920"/>
          </a:xfrm>
          <a:prstGeom prst="ellipse">
            <a:avLst/>
          </a:prstGeom>
          <a:solidFill>
            <a:srgbClr val="0E7C8A"/>
          </a:solidFill>
          <a:ln w="12700">
            <a:solidFill>
              <a:srgbClr val="0E7C8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6344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303520" y="35204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Развернуть и настроить систему на тестовом стенде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02920" y="4343400"/>
            <a:ext cx="502920" cy="502920"/>
          </a:xfrm>
          <a:prstGeom prst="ellipse">
            <a:avLst/>
          </a:prstGeom>
          <a:solidFill>
            <a:srgbClr val="0E7C8A"/>
          </a:solidFill>
          <a:ln w="12700">
            <a:solidFill>
              <a:srgbClr val="0E7C8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143000" y="42976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Выполнить экономическое обоснование проекта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такое ЛВС и её мониторинг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понятия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38404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554480"/>
            <a:ext cx="640080" cy="64008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17145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600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ЛВС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77240" y="23317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 компьютеров и периферийного оборудования, объединённых в пределах ограниченной территории и использующих общие коммуникационные ресурсы.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" y="3520440"/>
            <a:ext cx="3291840" cy="0"/>
          </a:xfrm>
          <a:prstGeom prst="line">
            <a:avLst/>
          </a:prstGeom>
          <a:noFill/>
          <a:ln w="12700">
            <a:solidFill>
              <a:srgbClr val="D6DD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3703320"/>
            <a:ext cx="502920" cy="502920"/>
          </a:xfrm>
          <a:prstGeom prst="ellipse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970" y="382905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37033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 — непрерывное наблюдение за состоянием узлов, сервисов и каналов с автоматическим оповещением о проблемах.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663440" y="1280160"/>
            <a:ext cx="4023360" cy="34747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663440" y="1417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Объекты мониторинга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63640" y="2240280"/>
            <a:ext cx="822960" cy="822960"/>
          </a:xfrm>
          <a:prstGeom prst="ellipse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42316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943600" y="3108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Zabbix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937760" y="3383280"/>
            <a:ext cx="548640" cy="5486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349300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572000" y="39776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5852160" y="3840480"/>
            <a:ext cx="548640" cy="5486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1888" y="3950208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486400" y="44348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ПК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6949440" y="3840480"/>
            <a:ext cx="548640" cy="5486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9168" y="3950208"/>
            <a:ext cx="329184" cy="32918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583680" y="44348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Роутер</a:t>
            </a:r>
            <a:endParaRPr lang="en-US" sz="900" dirty="0"/>
          </a:p>
        </p:txBody>
      </p:sp>
      <p:sp>
        <p:nvSpPr>
          <p:cNvPr id="32" name="Shape 24"/>
          <p:cNvSpPr/>
          <p:nvPr/>
        </p:nvSpPr>
        <p:spPr>
          <a:xfrm>
            <a:off x="7863840" y="3383280"/>
            <a:ext cx="548640" cy="5486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3568" y="3493008"/>
            <a:ext cx="329184" cy="32918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498080" y="39776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Коммутатор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Обзор систем мониторинга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решения рассматривались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1874520" cy="1554480"/>
          </a:xfrm>
          <a:prstGeom prst="rect">
            <a:avLst/>
          </a:prstGeom>
          <a:solidFill>
            <a:srgbClr val="0F2A47"/>
          </a:solidFill>
          <a:ln w="25400">
            <a:solidFill>
              <a:srgbClr val="E94B35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20140" y="1417320"/>
            <a:ext cx="640080" cy="640080"/>
          </a:xfrm>
          <a:prstGeom prst="ellipse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5773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Zabbix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24688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Свободная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542032" y="1234440"/>
            <a:ext cx="18745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59252" y="1417320"/>
            <a:ext cx="640080" cy="64008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157734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33472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Nagios / Icinga 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633472" y="24688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Свободная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81144" y="1234440"/>
            <a:ext cx="18745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198364" y="1417320"/>
            <a:ext cx="640080" cy="640080"/>
          </a:xfrm>
          <a:prstGeom prst="ellipse">
            <a:avLst/>
          </a:prstGeom>
          <a:solidFill>
            <a:srgbClr val="0E7C8A"/>
          </a:solidFill>
          <a:ln w="12700">
            <a:solidFill>
              <a:srgbClr val="0E7C8A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8384" y="157734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672584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Prometheus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672584" y="24688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Свободная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620256" y="1234440"/>
            <a:ext cx="18745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237476" y="1417320"/>
            <a:ext cx="640080" cy="64008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7496" y="157734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711696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LibreNMS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711696" y="24688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Свободная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02920" y="2971800"/>
            <a:ext cx="18745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120140" y="3154680"/>
            <a:ext cx="640080" cy="6400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0160" y="331470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94360" y="3886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PRTG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594360" y="42062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Проприет.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2542032" y="2971800"/>
            <a:ext cx="18745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3159252" y="3154680"/>
            <a:ext cx="640080" cy="6400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19272" y="3314700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2633472" y="3886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SolarWinds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2633472" y="42062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Проприет.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4581144" y="2971800"/>
            <a:ext cx="18745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5198364" y="3154680"/>
            <a:ext cx="640080" cy="6400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58384" y="3314700"/>
            <a:ext cx="320040" cy="32004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4672584" y="3886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Checkmk</a:t>
            </a:r>
            <a:endParaRPr lang="en-US" sz="1300" dirty="0"/>
          </a:p>
        </p:txBody>
      </p:sp>
      <p:sp>
        <p:nvSpPr>
          <p:cNvPr id="39" name="Text 30"/>
          <p:cNvSpPr/>
          <p:nvPr/>
        </p:nvSpPr>
        <p:spPr>
          <a:xfrm>
            <a:off x="4672584" y="42062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Проприет.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6620256" y="2971800"/>
            <a:ext cx="18745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7237476" y="3154680"/>
            <a:ext cx="640080" cy="640080"/>
          </a:xfrm>
          <a:prstGeom prst="ellipse">
            <a:avLst/>
          </a:prstGeom>
          <a:solidFill>
            <a:srgbClr val="0E7C8A"/>
          </a:solidFill>
          <a:ln w="12700">
            <a:solidFill>
              <a:srgbClr val="0E7C8A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97496" y="3314700"/>
            <a:ext cx="320040" cy="32004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6711696" y="3886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Datadog</a:t>
            </a:r>
            <a:endParaRPr lang="en-US" sz="1300" dirty="0"/>
          </a:p>
        </p:txBody>
      </p:sp>
      <p:sp>
        <p:nvSpPr>
          <p:cNvPr id="44" name="Text 34"/>
          <p:cNvSpPr/>
          <p:nvPr/>
        </p:nvSpPr>
        <p:spPr>
          <a:xfrm>
            <a:off x="6711696" y="42062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Облачная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Сравнительный анализ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систем по ключевым критериям (5 — отлично)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234440"/>
          <a:ext cx="85039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846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E94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Победитель — Zabbix: максимум по лицензии, гибкости и поддержке отечественных платформ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Почему Zabbix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Аргументы в пользу выбора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80160"/>
            <a:ext cx="40233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4813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Свободная лицензия GPL v2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2240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владения — 0 ₽, нет ограничений на количество узлов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128016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280160"/>
            <a:ext cx="4023360" cy="5486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92040" y="1508760"/>
            <a:ext cx="640080" cy="64008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166878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23560" y="14813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Гибкая настройка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892040" y="2240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Шаблоны, триггеры, скрипты — поддержка любых сценариев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02920" y="306324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02920" y="3063240"/>
            <a:ext cx="4023360" cy="54864"/>
          </a:xfrm>
          <a:prstGeom prst="rect">
            <a:avLst/>
          </a:prstGeom>
          <a:solidFill>
            <a:srgbClr val="0E7C8A"/>
          </a:solidFill>
          <a:ln w="12700">
            <a:solidFill>
              <a:srgbClr val="0E7C8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291840"/>
            <a:ext cx="640080" cy="640080"/>
          </a:xfrm>
          <a:prstGeom prst="ellipse">
            <a:avLst/>
          </a:prstGeom>
          <a:solidFill>
            <a:srgbClr val="0E7C8A"/>
          </a:solidFill>
          <a:ln w="12700">
            <a:solidFill>
              <a:srgbClr val="0E7C8A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" y="345186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63040" y="326440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Все протоколы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731520" y="4023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Агент, SNMP, IPMI, JMX, ICMP — единая платформа для всего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663440" y="306324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663440" y="3063240"/>
            <a:ext cx="4023360" cy="54864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892040" y="3291840"/>
            <a:ext cx="640080" cy="640080"/>
          </a:xfrm>
          <a:prstGeom prst="ellipse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2060" y="3451860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623560" y="326440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Поддержка Альт Сервер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4892040" y="4023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Пакеты в официальном репозитории p10, не нужны сторонние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Технологический стек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Программные компоненты решения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7680960" cy="777240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463040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353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Zabbix Server 6.x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45920" y="1691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 мониторинга + веб-интерфейс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09360" y="1527048"/>
            <a:ext cx="1920240" cy="292608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09360" y="15270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GNU GPL v2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31520" y="2103120"/>
            <a:ext cx="768096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2286000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45920" y="21762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Apache HTTP Server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645920" y="2514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Веб-сервер (служба httpd2)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309360" y="2350008"/>
            <a:ext cx="1920240" cy="292608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309360" y="23500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31520" y="2926080"/>
            <a:ext cx="7680960" cy="777240"/>
          </a:xfrm>
          <a:prstGeom prst="rect">
            <a:avLst/>
          </a:prstGeom>
          <a:solidFill>
            <a:srgbClr val="0E7C8A"/>
          </a:solidFill>
          <a:ln w="12700">
            <a:solidFill>
              <a:srgbClr val="0E7C8A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3108960"/>
            <a:ext cx="420624" cy="4206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29992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645920" y="3337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СУБД для хранения метрик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309360" y="3172968"/>
            <a:ext cx="1920240" cy="292608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309360" y="31729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License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31520" y="3749040"/>
            <a:ext cx="7680960" cy="77724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" y="3931920"/>
            <a:ext cx="420624" cy="42062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45920" y="38221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Альт Сервер 10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1645920" y="4160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 от ООО «Базальт СПО», реестр Минцифры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309360" y="3995928"/>
            <a:ext cx="1920240" cy="292608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309360" y="39959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GNU GPL / свободное ПО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502920" y="47548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Весь стек — свободное и бесплатное ПО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Архитектура тестового стенда</a:t>
            </a:r>
            <a:endParaRPr lang="en-US" sz="2800" dirty="0"/>
          </a:p>
        </p:txBody>
      </p:sp>
      <p:sp>
        <p:nvSpPr>
          <p:cNvPr id="39" name="Text 32"/>
          <p:cNvSpPr/>
          <p:nvPr/>
        </p:nvSpPr>
        <p:spPr>
          <a:xfrm>
            <a:off x="502920" y="47548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 err="1">
                <a:solidFill>
                  <a:srgbClr val="6B7785"/>
                </a:solidFill>
                <a:latin typeface="Calibri"/>
                <a:ea typeface="Calibri"/>
                <a:cs typeface="Calibri"/>
              </a:rPr>
              <a:t>Виртуализация</a:t>
            </a:r>
            <a:r>
              <a:rPr lang="en-US" sz="1000" i="1" dirty="0">
                <a:solidFill>
                  <a:srgbClr val="6B7785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1000" i="1" dirty="0" err="1">
                <a:solidFill>
                  <a:srgbClr val="6B7785"/>
                </a:solidFill>
                <a:latin typeface="Calibri"/>
                <a:ea typeface="Calibri"/>
                <a:cs typeface="Calibri"/>
              </a:rPr>
              <a:t>VirtualBo</a:t>
            </a:r>
            <a:r>
              <a:rPr lang="en-US" sz="1000" i="1" dirty="0">
                <a:solidFill>
                  <a:srgbClr val="6B7785"/>
                </a:solidFill>
                <a:latin typeface="Calibri"/>
                <a:ea typeface="Calibri"/>
                <a:cs typeface="Calibri"/>
              </a:rPr>
              <a:t>x</a:t>
            </a:r>
            <a:endParaRPr lang="en-US" sz="1000" i="1" dirty="0">
              <a:solidFill>
                <a:srgbClr val="6B7785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Проверка работоспособности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сценариев тестирования — все пройдены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2606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13332" y="1399032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922" y="1547622"/>
            <a:ext cx="297180" cy="2971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1031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Сбор данных с агентов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24231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1A2533"/>
                </a:solidFill>
                <a:latin typeface="Calibri"/>
                <a:ea typeface="Calibri"/>
                <a:cs typeface="Calibri"/>
              </a:rPr>
              <a:t>Подключены</a:t>
            </a:r>
            <a:r>
              <a:rPr lang="en-US" sz="1000" dirty="0">
                <a:solidFill>
                  <a:srgbClr val="1A2533"/>
                </a:solidFill>
                <a:latin typeface="Calibri"/>
                <a:ea typeface="Calibri"/>
                <a:cs typeface="Calibri"/>
              </a:rPr>
              <a:t> Linux-</a:t>
            </a:r>
            <a:r>
              <a:rPr lang="en-US" sz="1000" dirty="0" err="1">
                <a:solidFill>
                  <a:srgbClr val="1A2533"/>
                </a:solidFill>
                <a:latin typeface="Calibri"/>
                <a:ea typeface="Calibri"/>
                <a:cs typeface="Calibri"/>
              </a:rPr>
              <a:t>узлы</a:t>
            </a:r>
            <a:endParaRPr lang="en-US" sz="1000" dirty="0" err="1"/>
          </a:p>
        </p:txBody>
      </p:sp>
      <p:sp>
        <p:nvSpPr>
          <p:cNvPr id="10" name="Shape 7"/>
          <p:cNvSpPr/>
          <p:nvPr/>
        </p:nvSpPr>
        <p:spPr>
          <a:xfrm>
            <a:off x="3273552" y="1234440"/>
            <a:ext cx="2606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83964" y="1399032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2554" y="1547622"/>
            <a:ext cx="297180" cy="2971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64992" y="21031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Имитация отказа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64992" y="24231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Триггер сработал, уведомление доставлено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44184" y="1234440"/>
            <a:ext cx="2606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054596" y="1399032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3186" y="1547622"/>
            <a:ext cx="297180" cy="2971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35624" y="21031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Стресс-тест CPU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135624" y="24231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Корректно зафиксированы пики нагрузки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1737360" y="2971800"/>
            <a:ext cx="2606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747772" y="3136392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6362" y="3284982"/>
            <a:ext cx="297180" cy="2971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828800" y="38404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SNMP-мониторинг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828800" y="41605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Сетевое оборудование под контролем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507992" y="2971800"/>
            <a:ext cx="26060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5518404" y="3136392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6994" y="3284982"/>
            <a:ext cx="297180" cy="2971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99432" y="38404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Дашборд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599432" y="41605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ключевые метрики на одном экране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502920" y="47548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Система функционирует в соответствии с проектными требованиями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Экономическое обоснование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Затраты на внедрение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5528" y="1273274"/>
            <a:ext cx="3128240" cy="329184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9848" y="1554479"/>
            <a:ext cx="571224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68" y="1714499"/>
            <a:ext cx="278727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17088" y="1547594"/>
            <a:ext cx="21303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Программное обеспечение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17088" y="1913354"/>
            <a:ext cx="21303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9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Альт Сервер · PostgreSQL · Apache · Zabbix — всё свободное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65528" y="2599154"/>
            <a:ext cx="3128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 ₽</a:t>
            </a:r>
            <a:endParaRPr lang="en-US" sz="9000" dirty="0"/>
          </a:p>
        </p:txBody>
      </p:sp>
      <p:sp>
        <p:nvSpPr>
          <p:cNvPr id="11" name="Text 8"/>
          <p:cNvSpPr/>
          <p:nvPr/>
        </p:nvSpPr>
        <p:spPr>
          <a:xfrm>
            <a:off x="165528" y="4016474"/>
            <a:ext cx="312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Лицензионных отчислений нет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97624" y="1259503"/>
            <a:ext cx="3050571" cy="327807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71944" y="1526938"/>
            <a:ext cx="640080" cy="640080"/>
          </a:xfrm>
          <a:prstGeom prst="ellipse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1964" y="1686958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49184" y="152693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Работы специалиста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349184" y="189269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B7785"/>
                </a:solidFill>
                <a:latin typeface="Calibri"/>
                <a:ea typeface="Calibri"/>
                <a:cs typeface="Calibri"/>
              </a:rPr>
              <a:t>20 </a:t>
            </a:r>
            <a:r>
              <a:rPr lang="en-US" sz="1000" i="1" dirty="0" err="1">
                <a:solidFill>
                  <a:srgbClr val="6B7785"/>
                </a:solidFill>
                <a:latin typeface="Calibri"/>
                <a:ea typeface="Calibri"/>
                <a:cs typeface="Calibri"/>
              </a:rPr>
              <a:t>человеко-часов</a:t>
            </a:r>
            <a:r>
              <a:rPr lang="en-US" sz="1000" i="1" dirty="0">
                <a:solidFill>
                  <a:srgbClr val="6B7785"/>
                </a:solidFill>
                <a:latin typeface="Calibri"/>
                <a:ea typeface="Calibri"/>
                <a:cs typeface="Calibri"/>
              </a:rPr>
              <a:t> × 1500 ₽/</a:t>
            </a:r>
            <a:r>
              <a:rPr lang="en-US" sz="1000" i="1" dirty="0" err="1">
                <a:solidFill>
                  <a:srgbClr val="6B7785"/>
                </a:solidFill>
                <a:latin typeface="Calibri"/>
                <a:ea typeface="Calibri"/>
                <a:cs typeface="Calibri"/>
              </a:rPr>
              <a:t>час</a:t>
            </a:r>
            <a:endParaRPr lang="en-US" sz="100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2856949" y="2454558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>
                <a:solidFill>
                  <a:srgbClr val="E94B35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30000 </a:t>
            </a:r>
            <a:r>
              <a:rPr lang="en-US" sz="5400" b="1" dirty="0">
                <a:solidFill>
                  <a:srgbClr val="E94B35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₽</a:t>
            </a:r>
            <a:endParaRPr lang="en-US" sz="5400" dirty="0">
              <a:latin typeface="Arial Black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2856949" y="39889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Единоразовые затраты на внедрение</a:t>
            </a:r>
            <a:endParaRPr lang="en-US" sz="1100" dirty="0"/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B9490A2C-021E-4ECF-D1A9-6D8917F096A1}"/>
              </a:ext>
            </a:extLst>
          </p:cNvPr>
          <p:cNvSpPr/>
          <p:nvPr/>
        </p:nvSpPr>
        <p:spPr>
          <a:xfrm>
            <a:off x="6348744" y="1273274"/>
            <a:ext cx="2797734" cy="329184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35182AFB-AA32-63E9-0EB1-DF962ACCA511}"/>
              </a:ext>
            </a:extLst>
          </p:cNvPr>
          <p:cNvSpPr/>
          <p:nvPr/>
        </p:nvSpPr>
        <p:spPr>
          <a:xfrm>
            <a:off x="6787491" y="1554479"/>
            <a:ext cx="21303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 err="1">
                <a:solidFill>
                  <a:srgbClr val="FFFFFF"/>
                </a:solidFill>
                <a:latin typeface="Arial Black"/>
              </a:rPr>
              <a:t>Стоимость</a:t>
            </a:r>
            <a:r>
              <a:rPr lang="en-US" sz="1300" b="1" dirty="0">
                <a:solidFill>
                  <a:srgbClr val="FFFFFF"/>
                </a:solidFill>
                <a:latin typeface="Arial Black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Arial Black"/>
              </a:rPr>
              <a:t>оборудования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613BF4-005B-FC06-2346-98F3BD04B9C4}"/>
              </a:ext>
            </a:extLst>
          </p:cNvPr>
          <p:cNvSpPr txBox="1"/>
          <p:nvPr/>
        </p:nvSpPr>
        <p:spPr>
          <a:xfrm>
            <a:off x="6431097" y="2688804"/>
            <a:ext cx="2630276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>
                <a:solidFill>
                  <a:srgbClr val="10B981"/>
                </a:solidFill>
                <a:latin typeface="Arial Black"/>
                <a:ea typeface="Arial Black"/>
                <a:cs typeface="Arial Black"/>
              </a:rPr>
              <a:t>30000</a:t>
            </a:r>
            <a:r>
              <a:rPr lang="en-US" sz="4400" b="1" i="0" u="none" strike="noStrike" baseline="0">
                <a:solidFill>
                  <a:srgbClr val="10B981"/>
                </a:solidFill>
                <a:latin typeface="Arial Black"/>
                <a:ea typeface="Arial Black"/>
                <a:cs typeface="Arial Black"/>
              </a:rPr>
              <a:t> ₽</a:t>
            </a:r>
            <a:endParaRPr lang="ru-RU" sz="4400"/>
          </a:p>
          <a:p>
            <a:pPr algn="ctr"/>
            <a:endParaRPr lang="ru-R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B5ABAC-C711-85FE-8834-E129CBE0A2C2}"/>
              </a:ext>
            </a:extLst>
          </p:cNvPr>
          <p:cNvSpPr txBox="1"/>
          <p:nvPr/>
        </p:nvSpPr>
        <p:spPr>
          <a:xfrm>
            <a:off x="6431096" y="4017714"/>
            <a:ext cx="2547651" cy="5386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="0" i="1" u="none" strike="noStrike" baseline="0">
                <a:solidFill>
                  <a:srgbClr val="ED7D31"/>
                </a:solidFill>
                <a:latin typeface="Calibri"/>
                <a:ea typeface="Calibri"/>
                <a:cs typeface="Calibri"/>
              </a:rPr>
              <a:t>Единоразовые затраты на внедрение</a:t>
            </a:r>
            <a:endParaRPr lang="ru-RU">
              <a:solidFill>
                <a:srgbClr val="ED7D31"/>
              </a:solidFill>
            </a:endParaRPr>
          </a:p>
          <a:p>
            <a:pPr algn="ctr"/>
            <a:endParaRPr lang="ru-RU">
              <a:solidFill>
                <a:srgbClr val="ED7D3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Выводы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 и задачи дипломного проекта выполнены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7512" y="150876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2" y="163449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371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Изучены теоретические основы организации и мониторинга ЛВС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28016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28032" y="150876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762" y="163449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371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Проведён сравнительный анализ 11 систем по 10 критериям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02920" y="242316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67512" y="265176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2" y="277749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2514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Обоснованно выбрана система Zabbix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663440" y="242316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828032" y="265176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762" y="2777490"/>
            <a:ext cx="251460" cy="2514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0" y="2514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Развёрнута и настроена на отечественной ОС Альт Сервер 10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02920" y="356616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67512" y="379476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2" y="3920490"/>
            <a:ext cx="251460" cy="2514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325880" y="3657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Подтверждена работоспособность на 5 сценариях тестирования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4663440" y="356616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828032" y="379476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762" y="3920490"/>
            <a:ext cx="251460" cy="2514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486400" y="3657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Выполнено экономическое обоснование внедрения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" cy="137160"/>
          </a:xfrm>
          <a:prstGeom prst="ellipse">
            <a:avLst/>
          </a:prstGeom>
          <a:solidFill>
            <a:srgbClr val="E94B35">
              <a:alpha val="80000"/>
            </a:srgbClr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365760"/>
            <a:ext cx="137160" cy="137160"/>
          </a:xfrm>
          <a:prstGeom prst="ellipse">
            <a:avLst/>
          </a:prstGeom>
          <a:solidFill>
            <a:srgbClr val="E94B35">
              <a:alpha val="65000"/>
            </a:srgbClr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365760"/>
            <a:ext cx="137160" cy="137160"/>
          </a:xfrm>
          <a:prstGeom prst="ellipse">
            <a:avLst/>
          </a:prstGeom>
          <a:solidFill>
            <a:srgbClr val="E94B35">
              <a:alpha val="50000"/>
            </a:srgbClr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365760"/>
            <a:ext cx="137160" cy="137160"/>
          </a:xfrm>
          <a:prstGeom prst="ellipse">
            <a:avLst/>
          </a:prstGeom>
          <a:solidFill>
            <a:srgbClr val="E94B35">
              <a:alpha val="35000"/>
            </a:srgbClr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365760"/>
            <a:ext cx="137160" cy="137160"/>
          </a:xfrm>
          <a:prstGeom prst="ellipse">
            <a:avLst/>
          </a:prstGeom>
          <a:solidFill>
            <a:srgbClr val="E94B35">
              <a:alpha val="20000"/>
            </a:srgbClr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Спасибо за внимание!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4023360" y="2880360"/>
            <a:ext cx="1097280" cy="54864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3661456"/>
            <a:ext cx="731520" cy="731520"/>
          </a:xfrm>
          <a:prstGeom prst="ellipse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2234" y="3844336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Экран (16:9)</PresentationFormat>
  <Paragraphs>0</Paragraphs>
  <Slides>13</Slides>
  <Notes>13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Мониторинг ЛВС</dc:title>
  <dc:subject>PptxGenJS Presentation</dc:subject>
  <dc:creator>Диплом 222СА</dc:creator>
  <cp:lastModifiedBy>Диплом 222СА</cp:lastModifiedBy>
  <cp:revision>84</cp:revision>
  <dcterms:created xsi:type="dcterms:W3CDTF">2026-05-15T06:17:00Z</dcterms:created>
  <dcterms:modified xsi:type="dcterms:W3CDTF">2026-05-28T02:46:25Z</dcterms:modified>
</cp:coreProperties>
</file>