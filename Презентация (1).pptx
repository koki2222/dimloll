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77664D-8B94-4B31-A49C-A95A278F6D17}" v="179" dt="2026-05-25T09:23:29.5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Zabbix</c:v>
                </c:pt>
              </c:strCache>
            </c:strRef>
          </c:tx>
          <c:spPr>
            <a:solidFill>
              <a:srgbClr val="E94B3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8-47F1-81D0-4158901ECA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Prometheus</c:v>
                </c:pt>
              </c:strCache>
            </c:strRef>
          </c:tx>
          <c:spPr>
            <a:solidFill>
              <a:srgbClr val="0E7C8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38-47F1-81D0-4158901ECA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PRTG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38-47F1-81D0-4158901EC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5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5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27782 12182 16383 0 0,'-2'2'0'0'0,"-2"1"0"0"0,-2 1 0 0 0,-2 3 0 0 0,-2 0 0 0 0,-1 1 0 0 0,1 0 0 0 0,-1 0 0 0 0,0 0 0 0 0,-2 2 0 0 0,0 0 0 0 0,-1 0 0 0 0,1 0 0 0 0,1-1 0 0 0,1 0 0 0 0,0-1 0 0 0,0 0 0 0 0,0 0 0 0 0,0 0 0 0 0,-1 2 0 0 0,-2 0 0 0 0,1 0 0 0 0,1 0 0 0 0,0-1 0 0 0,0-1 0 0 0,1 1 0 0 0,0-1 0 0 0,-2 2 0 0 0,-1 0 0 0 0,1 0 0 0 0,-1 1 0 0 0,-1 0 0 0 0,1 0 0 0 0,0-1 0 0 0,2-1 0 0 0,0 0 0 0 0,1 0 0 0 0,-1-1 0 0 0,2 0 0 0 0,-1 0 0 0 0,1 0 0 0 0,-1 0 0 0 0,0 0 0 0 0,0 0 0 0 0,0 1 0 0 0,0-1 0 0 0,0 1 0 0 0,0-1 0 0 0,-1 1 0 0 0,-2 1 0 0 0,1 0 0 0 0,1 0 0 0 0,-1-1 0 0 0,1 0 0 0 0,1 0 0 0 0,0-1 0 0 0,0 0 0 0 0,0 0 0 0 0,1 0 0 0 0,-3 2 0 0 0,-1 0 0 0 0,1 0 0 0 0,0-1 0 0 0,1 0 0 0 0,1 0 0 0 0,-1 0 0 0 0,1-1 0 0 0,0 0 0 0 0,1 0 0 0 0,-1 0 0 0 0,1 0 0 0 0,-1 0 0 0 0,0 0 0 0 0,0 1 0 0 0,0-1 0 0 0,0 0 0 0 0,1 0 0 0 0,-1 0 0 0 0,0 0 0 0 0,1 0 0 0 0,-3 2 0 0 0,-1 0 0 0 0,1 0 0 0 0,1 0 0 0 0,0-1 0 0 0,1-1 0 0 0,-1 0 0 0 0,1 1 0 0 0,0-1 0 0 0,0 0 0 0 0,1 0 0 0 0,-1 0 0 0 0,0 0 0 0 0,1 1 0 0 0,-3 0 0 0 0,-2 2 0 0 0,-1 1 0 0 0,1 0 0 0 0,1-2 0 0 0,2 0 0 0 0,-1-1 0 0 0,2-1 0 0 0,0 1 0 0 0,0-1 0 0 0,0 0 0 0 0,1 0 0 0 0,0-1 0 0 0,0 1 0 0 0,-3 1 0 0 0,1 1 0 0 0,-1 0 0 0 0,0-1 0 0 0,1 0 0 0 0,1 0 0 0 0,0-1 0 0 0,0 0 0 0 0,0 0 0 0 0,1 0 0 0 0,-1 0 0 0 0,0 0 0 0 0,1 0 0 0 0,0 0 0 0 0,-1 0 0 0 0,1-1 0 0 0,-1 2 0 0 0,0-1 0 0 0,0 0 0 0 0,0 0 0 0 0,1 0 0 0 0,-1 0 0 0 0,1 0 0 0 0,-1 0 0 0 0,1 0 0 0 0,-1 0 0 0 0,1 0 0 0 0,-1 0 0 0 0,0 0 0 0 0,0 0 0 0 0,1 0 0 0 0,-1 0 0 0 0,0 0 0 0 0,1 0 0 0 0,-1 0 0 0 0,0 1 0 0 0,0-1 0 0 0,0 0 0 0 0,1 0 0 0 0,-1 0 0 0 0,0 0 0 0 0,0 1 0 0 0,0-1 0 0 0,-2 2 0 0 0,0 0 0 0 0,-1 0 0 0 0,2-1 0 0 0,0 0 0 0 0,0 0 0 0 0,1-1 0 0 0,0 1 0 0 0,0-1 0 0 0,0 0 0 0 0,-1 2 0 0 0,-2 0 0 0 0,1 0 0 0 0,0-1 0 0 0,1 0 0 0 0,0 0 0 0 0,1 0 0 0 0,0-1 0 0 0,0 0 0 0 0,0 0 0 0 0,0 1 0 0 0,1-1 0 0 0,-1 0 0 0 0,0 0 0 0 0,0 0 0 0 0,0 1 0 0 0,0-1 0 0 0,0 0 0 0 0,1 0 0 0 0,-1 0 0 0 0,0 1 0 0 0,0-1 0 0 0,0 0 0 0 0,0 0 0 0 0,0 1 0 0 0,0-1 0 0 0,0 0 0 0 0,0 0 0 0 0,0 1 0 0 0,0-1 0 0 0,0 0 0 0 0,0 0 0 0 0,1 1 0 0 0,-1-1 0 0 0,0 0 0 0 0,0 0 0 0 0,0 0 0 0 0,0 0 0 0 0,0 1 0 0 0,0-1 0 0 0,0 1 0 0 0,0-1 0 0 0,0 0 0 0 0,1 0 0 0 0,-1 0 0 0 0,0 0 0 0 0,1 0 0 0 0,-2 0 0 0 0,2 1 0 0 0,-1-1 0 0 0,0 0 0 0 0,0 0 0 0 0,1 0 0 0 0,-1 0 0 0 0,0 1 0 0 0,0-1 0 0 0,0 0 0 0 0,0 0 0 0 0,0 0 0 0 0,0 1 0 0 0,0-1 0 0 0,1 0 0 0 0,-1 0 0 0 0,0 0 0 0 0,1 0 0 0 0,-1 0 0 0 0,0 1 0 0 0,0-1 0 0 0,0 0 0 0 0,0 0 0 0 0,0 0 0 0 0,0 0 0 0 0,1 0 0 0 0,-1 1 0 0 0,0-1 0 0 0,0 0 0 0 0,0 0 0 0 0,1 0 0 0 0,-3 2 0 0 0,0 0 0 0 0,0 0 0 0 0,0-1 0 0 0,-1 2 0 0 0,0-1 0 0 0,0 1 0 0 0,1-2 0 0 0,1 0 0 0 0,1 0 0 0 0,-1 0 0 0 0,1-1 0 0 0,0 0 0 0 0,1 0 0 0 0,-1 0 0 0 0,0 0 0 0 0,1 0 0 0 0,-1 0 0 0 0,0 1 0 0 0,0-1 0 0 0,0 0 0 0 0,0 0 0 0 0,0 1 0 0 0,1-1 0 0 0,-1-1 0 0 0,1 1 0 0 0,-1 0 0 0 0,0 1 0 0 0,0-1 0 0 0,1 0 0 0 0,-1 0 0 0 0,0 0 0 0 0,1 0 0 0 0,-1 0 0 0 0,1 0 0 0 0,-1 0 0 0 0,0 0 0 0 0,0 0 0 0 0,0 1 0 0 0,2-3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025" units="cm"/>
      <inkml:brushProperty name="height" value="0.025" units="cm"/>
      <inkml:brushProperty name="color" value="#F6630D"/>
    </inkml:brush>
  </inkml:definitions>
  <inkml:trace contextRef="#ctx0" brushRef="#br0">28791 12195 16383 0 0,'-1'3'0'0'0,"-1"5"0"0"0,-2 4 0 0 0,0 3 0 0 0,-1 2 0 0 0,0 1 0 0 0,0-1 0 0 0,1-2 0 0 0,-1 1 0 0 0,1 0 0 0 0,-1 1 0 0 0,0 1 0 0 0,0 0 0 0 0,-1 1 0 0 0,1-1 0 0 0,0-2 0 0 0,1 0 0 0 0,0-3 0 0 0,0 0 0 0 0,1 0 0 0 0,-2 2 0 0 0,1 1 0 0 0,-1 2 0 0 0,-1 0 0 0 0,1 1 0 0 0,-1 1 0 0 0,1-1 0 0 0,0-2 0 0 0,0-2 0 0 0,1 2 0 0 0,-1 0 0 0 0,0 1 0 0 0,-1 1 0 0 0,1 0 0 0 0,-1 1 0 0 0,1-3 0 0 0,0 1 0 0 0,0-1 0 0 0,0 1 0 0 0,0 0 0 0 0,0-2 0 0 0,1 0 0 0 0,-1 0 0 0 0,0 2 0 0 0,0 1 0 0 0,0-3 0 0 0,0 0 0 0 0,1-2 0 0 0,1-1 0 0 0,-1 1 0 0 0,0-2 0 0 0,0 1 0 0 0,1-1 0 0 0,0 0 0 0 0,-1-1 0 0 0,1 0 0 0 0,-1 3 0 0 0,0 1 0 0 0,-1 2 0 0 0,1-2 0 0 0,-1 1 0 0 0,1-3 0 0 0,0 1 0 0 0,0 0 0 0 0,1-2 0 0 0,-1 1 0 0 0,0 1 0 0 0,0 1 0 0 0,-1 2 0 0 0,0 1 0 0 0,0 0 0 0 0,0-1 0 0 0,0-2 0 0 0,1 1 0 0 0,0-2 0 0 0,0-1 0 0 0,0 1 0 0 0,0 1 0 0 0,0-1 0 0 0,0 0 0 0 0,0 0 0 0 0,-1 2 0 0 0,1 0 0 0 0,-1 2 0 0 0,-1 0 0 0 0,1 1 0 0 0,0-1 0 0 0,0-1 0 0 0,0-2 0 0 0,1 1 0 0 0,0-1 0 0 0,-1 1 0 0 0,0 1 0 0 0,1-2 0 0 0,0 0 0 0 0,-1 0 0 0 0,2-2 0 0 0,-1 0 0 0 0,0 1 0 0 0,-1 1 0 0 0,1 1 0 0 0,0-1 0 0 0,-1-1 0 0 0,1 1 0 0 0,0 1 0 0 0,-1 0 0 0 0,0 1 0 0 0,0 0 0 0 0,0 1 0 0 0,1-2 0 0 0,-1-1 0 0 0,1 0 0 0 0,0 0 0 0 0,-1 1 0 0 0,0 1 0 0 0,0 0 0 0 0,0 1 0 0 0,1-3 0 0 0,0 0 0 0 0,-1 0 0 0 0,1 1 0 0 0,-1 0 0 0 0,0 1 0 0 0,0 0 0 0 0,0 1 0 0 0,1-3 0 0 0,0 0 0 0 0,-1 0 0 0 0,1 1 0 0 0,-1 0 0 0 0,0 1 0 0 0,0 0 0 0 0,0 0 0 0 0,0 1 0 0 0,0 0 0 0 0,0 0 0 0 0,0-1 0 0 0,0 1 0 0 0,0 0 0 0 0,0 0 0 0 0,0-1 0 0 0,0 1 0 0 0,0 0 0 0 0,-1-1 0 0 0,1 1 0 0 0,0 0 0 0 0,0-1 0 0 0,0 1 0 0 0,0 0 0 0 0,0-1 0 0 0,0 1 0 0 0,0 0 0 0 0,0-1 0 0 0,0 1 0 0 0,0 0 0 0 0,1-4 0 0 0,0-2 0 0 0,1 1 0 0 0,-1 1 0 0 0,-1 0 0 0 0,1 2 0 0 0,-1 1 0 0 0,0 0 0 0 0,1-1 0 0 0,-1 1 0 0 0,0 0 0 0 0,0 0 0 0 0,0 1 0 0 0,0-2 0 0 0,0 1 0 0 0,1-1 0 0 0,-1 1 0 0 0,0 0 0 0 0,0 1 0 0 0,0-1 0 0 0,0 1 0 0 0,0 0 0 0 0,0-1 0 0 0,0 1 0 0 0,0 0 0 0 0,-1-1 0 0 0,1 1 0 0 0,0 0 0 0 0,0-1 0 0 0,0 1 0 0 0,0 0 0 0 0,0-1 0 0 0,0 1 0 0 0,0 0 0 0 0,0-1 0 0 0,0 1 0 0 0,0 0 0 0 0,0 0 0 0 0,0-1 0 0 0,-1 1 0 0 0,2-3 0 0 0,0 0 0 0 0,-1 0 0 0 0,1 1 0 0 0,0-2 0 0 0,0-1 0 0 0,0 2 0 0 0,0 0 0 0 0,0-1 0 0 0,0 0 0 0 0,-1 1 0 0 0,1 0 0 0 0,-1 1 0 0 0,0 1 0 0 0,0 0 0 0 0,0 1 0 0 0,0 0 0 0 0,1-2 0 0 0,0-1 0 0 0,-1 0 0 0 0,1 0 0 0 0,-1 1 0 0 0,0 1 0 0 0,0 0 0 0 0,0 1 0 0 0,0-1 0 0 0,0 1 0 0 0,1-2 0 0 0,-1-1 0 0 0,1 0 0 0 0,1-3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D5EA2-B6E3-424F-B097-50F1946A4700}" type="datetimeFigureOut">
              <a:t>5/25/2026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244E2-96F5-4FF2-9B4A-585178DCEEB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29D1-3E17-6369-D0B2-483C81F83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4A8FC-84CD-1D7A-C847-02473D454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6A3C0-5C0A-40AA-5FF9-82B855EAA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53BA1-528E-C3BA-2044-EB06F9A02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98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customXml" Target="../ink/ink2.xml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"/>
            <a:ext cx="164592" cy="164592"/>
          </a:xfrm>
          <a:prstGeom prst="ellipse">
            <a:avLst/>
          </a:prstGeom>
          <a:solidFill>
            <a:srgbClr val="E94B35">
              <a:alpha val="7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274320"/>
            <a:ext cx="164592" cy="164592"/>
          </a:xfrm>
          <a:prstGeom prst="ellipse">
            <a:avLst/>
          </a:prstGeom>
          <a:solidFill>
            <a:srgbClr val="E94B35">
              <a:alpha val="6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74320"/>
            <a:ext cx="164592" cy="164592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914400"/>
            <a:ext cx="164592" cy="164592"/>
          </a:xfrm>
          <a:prstGeom prst="ellipse">
            <a:avLst/>
          </a:prstGeom>
          <a:solidFill>
            <a:srgbClr val="E94B35">
              <a:alpha val="4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914400"/>
            <a:ext cx="164592" cy="164592"/>
          </a:xfrm>
          <a:prstGeom prst="ellipse">
            <a:avLst/>
          </a:prstGeom>
          <a:solidFill>
            <a:srgbClr val="E94B35">
              <a:alpha val="3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914400"/>
            <a:ext cx="164592" cy="164592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749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757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0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ГБПОУ НСО «Новосибирский политехнический колледж»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E94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ДИПЛОМНЫЙ ПРОЕКТ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Мониторинг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локально-вычислительной сети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731520" cy="36576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 студент группы 222СА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
</a:t>
            </a:r>
            <a:r>
              <a:rPr lang="en-US" sz="110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 09.02.06 «Сетевое и системное администрирование»
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r>
              <a:rPr lang="en-US" sz="12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Егорова А. А.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Новосибирск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Актуальность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мониторинг ЛВС критически важен сегодня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Рост сложности сетей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серверов, сотни рабочих мест, гибридные среды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Цена простоя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сбой ЛВС останавливает бизнес-процессы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0F2A47"/>
                </a:solidFill>
                <a:latin typeface="Arial Black"/>
              </a:rPr>
              <a:t>Локальные</a:t>
            </a:r>
            <a:r>
              <a:rPr lang="en-US" sz="1400" b="1" dirty="0">
                <a:solidFill>
                  <a:srgbClr val="0F2A47"/>
                </a:solidFill>
                <a:latin typeface="Arial Black"/>
              </a:rPr>
              <a:t> </a:t>
            </a:r>
            <a:r>
              <a:rPr lang="en-US" sz="1400" b="1" dirty="0" err="1">
                <a:solidFill>
                  <a:srgbClr val="0F2A47"/>
                </a:solidFill>
                <a:latin typeface="Arial Black"/>
              </a:rPr>
              <a:t>решения</a:t>
            </a:r>
          </a:p>
        </p:txBody>
      </p:sp>
      <p:sp>
        <p:nvSpPr>
          <p:cNvPr id="22" name="Text 17"/>
          <p:cNvSpPr/>
          <p:nvPr/>
        </p:nvSpPr>
        <p:spPr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отечественные ОС из реестра Минцифры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Превентивный контроль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проблем до их влияния на пользователей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предстояло сделать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9144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645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систем мониторинга и практическое внедрение Zabbix на отечественной ОС Альт Сервер 10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94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ЗАДАЧИ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организации и мониторинга ЛВС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0352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существующие системы мониторинга по 10 критериям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30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Обосновать выбор оптимальной системы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30352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Развернуть и настроить систему на тестовом стенде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434340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43000" y="4297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экономическое обоснование проекта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ЛВС и её мониторинг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понятия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ЛВС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компьютеров и периферийного оборудования, объединённых в пределах ограниченной территории и использующих общие коммуникационные ресурсы.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520440"/>
            <a:ext cx="3291840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38290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— непрерывное наблюдение за состоянием узлов, сервисов и каналов с автоматическим оповещением о проблемах.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634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Объекты мониторинга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2240280"/>
            <a:ext cx="822960" cy="82296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23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675120" y="2743200"/>
            <a:ext cx="0" cy="9601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493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675120" y="2743200"/>
            <a:ext cx="0" cy="14173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5216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9502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6675120" y="2743200"/>
            <a:ext cx="548640" cy="14173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94944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3950208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5836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675120" y="2743200"/>
            <a:ext cx="1463040" cy="960120"/>
          </a:xfrm>
          <a:prstGeom prst="line">
            <a:avLst/>
          </a:prstGeom>
          <a:noFill/>
          <a:ln w="12700">
            <a:solidFill>
              <a:srgbClr val="F39C12">
                <a:alpha val="6000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86384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68" y="3493008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9808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Коммутатор</a:t>
            </a:r>
            <a:endParaRPr lang="en-US" sz="9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35BAC4-6EBB-DF7E-BB9B-5665F570E4CA}"/>
                  </a:ext>
                </a:extLst>
              </p14:cNvPr>
              <p14:cNvContentPartPr/>
              <p14:nvPr/>
            </p14:nvContentPartPr>
            <p14:xfrm>
              <a:off x="5317048" y="2750339"/>
              <a:ext cx="1131781" cy="852858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35BAC4-6EBB-DF7E-BB9B-5665F570E4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12730" y="2746021"/>
                <a:ext cx="1140418" cy="861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D72C7F7-46CE-97B9-2573-E59321C95D07}"/>
                  </a:ext>
                </a:extLst>
              </p14:cNvPr>
              <p14:cNvContentPartPr/>
              <p14:nvPr/>
            </p14:nvContentPartPr>
            <p14:xfrm>
              <a:off x="6126764" y="2753703"/>
              <a:ext cx="374927" cy="1307529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D72C7F7-46CE-97B9-2573-E59321C95D0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22446" y="2749384"/>
                <a:ext cx="383563" cy="131616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Обзор систем мониторинга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решения рассматривались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874520" cy="1554480"/>
          </a:xfrm>
          <a:prstGeom prst="rect">
            <a:avLst/>
          </a:prstGeom>
          <a:solidFill>
            <a:srgbClr val="0F2A47"/>
          </a:solidFill>
          <a:ln w="254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0140" y="141732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773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42032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9252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Nagios / Icinga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33472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81144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98364" y="141732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7258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72584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620256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237476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15773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1169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LibreNMS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711696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02920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120140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33147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PRTG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94360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542032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59252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33147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33472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SolarWinds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2633472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581144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198364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384" y="331470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72584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Checkmk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4672584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620256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237476" y="315468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7496" y="3314700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711696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Datadog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711696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Сравнительный анализ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систем по ключевым критериям (5 — отлично)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8503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46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94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Победитель — Zabbix: максимум по лицензии, гибкости и поддержке отечественных платформ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Zabbix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 в пользу выбора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Свободная лицензия GPL v2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владения — 0 ₽, нет ограничений на количество узлов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Гибкая настройка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Шаблоны, триггеры, скрипты — поддержка любых сценариев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Все протоколы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Агент, SNMP, IPMI, JMX, ICMP — единая платформа для всего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Поддержка Альт Сервер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в официальном репозитории p10, не нужны сторонние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Программные компоненты решения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46304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 Server 6.x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мониторинга + веб-интерфейс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52704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1527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GPL v2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28600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 HTTP Server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Веб-сервер (служба httpd2)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35000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23500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10896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4592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 для хранения метрик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317296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0936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License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931920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Альт Сервер 10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64592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 от ООО «Базальт СПО», реестр Минцифры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09360" y="399592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09360" y="3995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GPL / свободное ПО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Весь стек — свободное и бесплатное ПО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тестового стенда</a:t>
            </a:r>
            <a:endParaRPr lang="en-US" sz="2800" dirty="0"/>
          </a:p>
        </p:txBody>
      </p:sp>
      <p:sp>
        <p:nvSpPr>
          <p:cNvPr id="39" name="Text 32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Виртуализация</a:t>
            </a: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VirtualBo</a:t>
            </a: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x</a:t>
            </a:r>
            <a:endParaRPr lang="en-US" sz="1000" i="1" dirty="0">
              <a:solidFill>
                <a:srgbClr val="6B778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Проверка работоспособности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сценариев тестирования — все пройдены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3332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922" y="1547622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 данных с агентов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Подключены</a:t>
            </a:r>
            <a:r>
              <a:rPr lang="en-US" sz="1000" dirty="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 Linux-</a:t>
            </a:r>
            <a:r>
              <a:rPr lang="en-US" sz="1000" dirty="0" err="1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узлы</a:t>
            </a:r>
            <a:endParaRPr lang="en-US" sz="1000" dirty="0" err="1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3964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554" y="1547622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Имитация отказа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сработал, уведомление доставлено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44184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54596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186" y="1547622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35624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Стресс-тест CPU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35624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 зафиксированы пики нагрузки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737360" y="29718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7772" y="313639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362" y="3284982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SNMP-мониторинг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82880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Сетевое оборудование под контролем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07992" y="29718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18404" y="313639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994" y="3284982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Дашборд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99432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метрики на одном экране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Система функционирует в соответствии с проектными требованиями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Экономическое обоснование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на внедрение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Программное обеспечение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 Сервер · PostgreSQL · Apache · Zabbix — всё свободное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₽</a:t>
            </a:r>
            <a:endParaRPr lang="en-US" sz="9000" dirty="0"/>
          </a:p>
        </p:txBody>
      </p:sp>
      <p:sp>
        <p:nvSpPr>
          <p:cNvPr id="11" name="Text 8"/>
          <p:cNvSpPr/>
          <p:nvPr/>
        </p:nvSpPr>
        <p:spPr>
          <a:xfrm>
            <a:off x="50292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Лицензионных отчислений нет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280160"/>
            <a:ext cx="3931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83480" y="155448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7145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Работы специалиста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7607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20 </a:t>
            </a: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человеко-часов</a:t>
            </a: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 × 1500 ₽/</a:t>
            </a: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час</a:t>
            </a:r>
            <a:endParaRPr lang="en-US" sz="1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709160" y="26060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0" b="1">
                <a:solidFill>
                  <a:srgbClr val="E94B35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30000 </a:t>
            </a:r>
            <a:r>
              <a:rPr lang="en-US" sz="7000" b="1" dirty="0">
                <a:solidFill>
                  <a:srgbClr val="E94B35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₽</a:t>
            </a:r>
            <a:endParaRPr lang="en-US" sz="7000" dirty="0">
              <a:latin typeface="Arial Black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0916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Единоразовые затраты на внедрение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B41C0-F941-C6DB-EE56-8B119154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16B26D-D171-A28E-6771-8ECFF15E93B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04EBB09-3314-9633-2B33-BA82A8E4B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146064"/>
              </p:ext>
            </p:extLst>
          </p:nvPr>
        </p:nvGraphicFramePr>
        <p:xfrm>
          <a:off x="165252" y="0"/>
          <a:ext cx="8980810" cy="8707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7072">
                  <a:extLst>
                    <a:ext uri="{9D8B030D-6E8A-4147-A177-3AD203B41FA5}">
                      <a16:colId xmlns:a16="http://schemas.microsoft.com/office/drawing/2014/main" val="2858319182"/>
                    </a:ext>
                  </a:extLst>
                </a:gridCol>
                <a:gridCol w="1753401">
                  <a:extLst>
                    <a:ext uri="{9D8B030D-6E8A-4147-A177-3AD203B41FA5}">
                      <a16:colId xmlns:a16="http://schemas.microsoft.com/office/drawing/2014/main" val="2411749385"/>
                    </a:ext>
                  </a:extLst>
                </a:gridCol>
                <a:gridCol w="1565018">
                  <a:extLst>
                    <a:ext uri="{9D8B030D-6E8A-4147-A177-3AD203B41FA5}">
                      <a16:colId xmlns:a16="http://schemas.microsoft.com/office/drawing/2014/main" val="3404736497"/>
                    </a:ext>
                  </a:extLst>
                </a:gridCol>
                <a:gridCol w="1289688">
                  <a:extLst>
                    <a:ext uri="{9D8B030D-6E8A-4147-A177-3AD203B41FA5}">
                      <a16:colId xmlns:a16="http://schemas.microsoft.com/office/drawing/2014/main" val="3950438463"/>
                    </a:ext>
                  </a:extLst>
                </a:gridCol>
                <a:gridCol w="1811364">
                  <a:extLst>
                    <a:ext uri="{9D8B030D-6E8A-4147-A177-3AD203B41FA5}">
                      <a16:colId xmlns:a16="http://schemas.microsoft.com/office/drawing/2014/main" val="2706727298"/>
                    </a:ext>
                  </a:extLst>
                </a:gridCol>
                <a:gridCol w="753528">
                  <a:extLst>
                    <a:ext uri="{9D8B030D-6E8A-4147-A177-3AD203B41FA5}">
                      <a16:colId xmlns:a16="http://schemas.microsoft.com/office/drawing/2014/main" val="675884059"/>
                    </a:ext>
                  </a:extLst>
                </a:gridCol>
                <a:gridCol w="1270739">
                  <a:extLst>
                    <a:ext uri="{9D8B030D-6E8A-4147-A177-3AD203B41FA5}">
                      <a16:colId xmlns:a16="http://schemas.microsoft.com/office/drawing/2014/main" val="3050868599"/>
                    </a:ext>
                  </a:extLst>
                </a:gridCol>
              </a:tblGrid>
              <a:tr h="432313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/>
                        </a:rPr>
                        <a:t>№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/>
                        </a:rPr>
                        <a:t>Наименование узла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/>
                        </a:rPr>
                        <a:t>Назначение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/>
                        </a:rPr>
                        <a:t>Операционная система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/>
                        </a:rPr>
                        <a:t>Технические характеристики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/>
                        </a:rPr>
                        <a:t>Количество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/>
                        </a:rPr>
                        <a:t>Примерная стоимость, ₽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903938"/>
                  </a:ext>
                </a:extLst>
              </a:tr>
              <a:tr h="432313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/>
                        </a:rPr>
                        <a:t>1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/>
                        </a:rPr>
                        <a:t>srv-zabbix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/>
                        </a:rPr>
                        <a:t>Сервер мониторинга Zabbix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/>
                        </a:rPr>
                        <a:t>Альт Сервер 10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/>
                        </a:rPr>
                        <a:t>2 vCPU, 4 ГБ ОЗУ, HDD 100 ГБ, IP: 192.168.100.1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/>
                        </a:rPr>
                        <a:t>1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376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/>
                        </a:rPr>
                        <a:t>30 000</a:t>
                      </a:r>
                      <a:r>
                        <a:rPr lang="en-US" sz="1100" b="0" i="0" dirty="0">
                          <a:effectLst/>
                          <a:latin typeface="Times New Roman"/>
                        </a:rPr>
                        <a:t> </a:t>
                      </a:r>
                      <a:endParaRPr lang="en-US" b="0" i="0" dirty="0">
                        <a:effectLst/>
                        <a:latin typeface="Times New Roman"/>
                      </a:endParaRPr>
                    </a:p>
                  </a:txBody>
                  <a:tcPr marL="66675" marR="6667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80146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C8B6996-DC6C-8426-3805-AC61FF9CE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530513"/>
              </p:ext>
            </p:extLst>
          </p:nvPr>
        </p:nvGraphicFramePr>
        <p:xfrm>
          <a:off x="165252" y="881349"/>
          <a:ext cx="8993981" cy="44545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0186">
                  <a:extLst>
                    <a:ext uri="{9D8B030D-6E8A-4147-A177-3AD203B41FA5}">
                      <a16:colId xmlns:a16="http://schemas.microsoft.com/office/drawing/2014/main" val="2672662039"/>
                    </a:ext>
                  </a:extLst>
                </a:gridCol>
                <a:gridCol w="4100216">
                  <a:extLst>
                    <a:ext uri="{9D8B030D-6E8A-4147-A177-3AD203B41FA5}">
                      <a16:colId xmlns:a16="http://schemas.microsoft.com/office/drawing/2014/main" val="1662563629"/>
                    </a:ext>
                  </a:extLst>
                </a:gridCol>
                <a:gridCol w="1434351">
                  <a:extLst>
                    <a:ext uri="{9D8B030D-6E8A-4147-A177-3AD203B41FA5}">
                      <a16:colId xmlns:a16="http://schemas.microsoft.com/office/drawing/2014/main" val="3340965149"/>
                    </a:ext>
                  </a:extLst>
                </a:gridCol>
                <a:gridCol w="1448837">
                  <a:extLst>
                    <a:ext uri="{9D8B030D-6E8A-4147-A177-3AD203B41FA5}">
                      <a16:colId xmlns:a16="http://schemas.microsoft.com/office/drawing/2014/main" val="215805809"/>
                    </a:ext>
                  </a:extLst>
                </a:gridCol>
                <a:gridCol w="1480391">
                  <a:extLst>
                    <a:ext uri="{9D8B030D-6E8A-4147-A177-3AD203B41FA5}">
                      <a16:colId xmlns:a16="http://schemas.microsoft.com/office/drawing/2014/main" val="2814089242"/>
                    </a:ext>
                  </a:extLst>
                </a:gridCol>
              </a:tblGrid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 panose="02020603050405020304" pitchFamily="18" charset="0"/>
                        </a:rPr>
                        <a:t>№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 panose="02020603050405020304" pitchFamily="18" charset="0"/>
                        </a:rPr>
                        <a:t>Статья затрат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 panose="02020603050405020304" pitchFamily="18" charset="0"/>
                        </a:rPr>
                        <a:t>Стоимость, руб.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 panose="02020603050405020304" pitchFamily="18" charset="0"/>
                        </a:rPr>
                        <a:t>Часы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 panose="02020603050405020304" pitchFamily="18" charset="0"/>
                        </a:rPr>
                        <a:t>Итого, руб.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56626"/>
                  </a:ext>
                </a:extLst>
              </a:tr>
              <a:tr h="18199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ОС Альт Сервер 10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140114"/>
                  </a:ext>
                </a:extLst>
              </a:tr>
              <a:tr h="18199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СУБД PostgreSQL 14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511094"/>
                  </a:ext>
                </a:extLst>
              </a:tr>
              <a:tr h="18199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Веб-сервер Apache2 + PHP 8.1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33221"/>
                  </a:ext>
                </a:extLst>
              </a:tr>
              <a:tr h="18199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Zabbix Server 6.4 (GPL)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178623"/>
                  </a:ext>
                </a:extLst>
              </a:tr>
              <a:tr h="18199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Zabbix Agent (GPL)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6610213"/>
                  </a:ext>
                </a:extLst>
              </a:tr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Работа специалиста: установка ОС и базовая настройка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1500 / час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4500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291472"/>
                  </a:ext>
                </a:extLst>
              </a:tr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Работа специалиста: установка и настройка СУБД, импорт схемы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1500/ час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3000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98117"/>
                  </a:ext>
                </a:extLst>
              </a:tr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Работа специалиста: установка и настройка Zabbix Server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1500 / час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4500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161248"/>
                  </a:ext>
                </a:extLst>
              </a:tr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Работа специалиста: установка агентов на контролируемые узлы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1500 / час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3000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549599"/>
                  </a:ext>
                </a:extLst>
              </a:tr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Работа специалиста: настройка SNMP-мониторинга сетевого оборудования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1500 / час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4500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695547"/>
                  </a:ext>
                </a:extLst>
              </a:tr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Работа специалиста: настройка триггеров, оповещений, дашбордов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1500/ час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6000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966552"/>
                  </a:ext>
                </a:extLst>
              </a:tr>
              <a:tr h="293219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Работа специалиста: тестирование, оформление документации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1500 / час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4500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346453"/>
                  </a:ext>
                </a:extLst>
              </a:tr>
              <a:tr h="410307"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 panose="02020603050405020304" pitchFamily="18" charset="0"/>
                        </a:rPr>
                        <a:t>ИТОГО (стоимость вместе с оборудованием)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275"/>
                        </a:lnSpc>
                        <a:buNone/>
                      </a:pPr>
                      <a:r>
                        <a:rPr lang="ru-RU" sz="1100" b="1" i="0">
                          <a:effectLst/>
                          <a:latin typeface="Times New Roman" panose="02020603050405020304" pitchFamily="18" charset="0"/>
                        </a:rPr>
                        <a:t>—</a:t>
                      </a:r>
                      <a:r>
                        <a:rPr lang="en-US" sz="11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ru-RU" sz="14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1781"/>
                        </a:lnSpc>
                        <a:buNone/>
                      </a:pPr>
                      <a:r>
                        <a:rPr lang="ru-RU" sz="1400" b="0" i="0">
                          <a:effectLst/>
                          <a:latin typeface="Times New Roman" panose="02020603050405020304" pitchFamily="18" charset="0"/>
                        </a:rPr>
                        <a:t>60000</a:t>
                      </a:r>
                      <a:r>
                        <a:rPr lang="en-US" sz="1400" b="0" i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marL="76200" marR="76200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3700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823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 дипломного проекта выполнены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508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" y="16344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организации и мониторинга ЛВС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508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762" y="16344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сравнительный анализ 11 систем по 10 критериям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751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" y="27774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 выбрана система Zabbix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2803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762" y="277749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Развёрнута и настроена на отечественной ОС Альт Сервер 10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" y="392049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работоспособность на 5 сценариях тестирования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66344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2803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762" y="392049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 экономическое обоснование внедрения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E94B35">
              <a:alpha val="8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365760"/>
            <a:ext cx="137160" cy="137160"/>
          </a:xfrm>
          <a:prstGeom prst="ellipse">
            <a:avLst/>
          </a:prstGeom>
          <a:solidFill>
            <a:srgbClr val="E94B35">
              <a:alpha val="6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365760"/>
            <a:ext cx="137160" cy="137160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365760"/>
            <a:ext cx="137160" cy="137160"/>
          </a:xfrm>
          <a:prstGeom prst="ellipse">
            <a:avLst/>
          </a:prstGeom>
          <a:solidFill>
            <a:srgbClr val="E94B35">
              <a:alpha val="3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65760"/>
            <a:ext cx="137160" cy="137160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023360" y="2880360"/>
            <a:ext cx="109728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3661456"/>
            <a:ext cx="731520" cy="7315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234" y="384433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ЛВС</dc:title>
  <dc:subject>PptxGenJS Presentation</dc:subject>
  <dc:creator>Диплом 222СА</dc:creator>
  <cp:lastModifiedBy>Диплом 222СА</cp:lastModifiedBy>
  <cp:revision>55</cp:revision>
  <dcterms:created xsi:type="dcterms:W3CDTF">2026-05-15T06:17:00Z</dcterms:created>
  <dcterms:modified xsi:type="dcterms:W3CDTF">2026-05-25T09:24:35Z</dcterms:modified>
</cp:coreProperties>
</file>