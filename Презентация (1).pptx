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6.png" ContentType="image/png"/>
  <Override PartName="/ppt/media/image15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6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Для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пер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ем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ещ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ени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я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стр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ани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цы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щё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лкн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ите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мы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шь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ю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Дл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я 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р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а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в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к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и 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ф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о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р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м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а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т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а 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р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и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м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е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ч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а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н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и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й 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щ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ё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л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к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н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и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т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е 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м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ы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ь</a:t>
            </a: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ю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BED32D2-A16D-464E-8C4F-531F46652783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4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78662F-2B9F-4154-A2AA-4D4A95CDB8F9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5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CCC32C-BC9B-457F-998E-FBCCBF7E7314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6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C0F8CD-D4DB-4C86-97AE-F74DAF608383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7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4BFB2D-B0B9-4A40-A53A-2D9DD1BB8AC8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8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967E95-A871-4B96-B877-7883C2C1B2A4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9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C66464-0C41-4069-8D25-C099AAF6190B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0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2686E9-4962-4B0F-81AE-FA312CAE5847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1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29E0C3-39F2-442F-A209-6CA5F2510689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2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289D7D-3F26-4FBC-9F39-2E46A413222E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13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28368C-C6C1-4BB1-9242-710BBDC0D3AB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4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20C84C-8C34-4B8A-B491-BF6C29617C6B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5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9DF9EB-2E11-4B5D-96C8-3540D373A940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Для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пра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вки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тек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ста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заг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лав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ия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щё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лкн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ите 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мы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шь</a:t>
            </a: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ю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3.png"/><Relationship Id="rId4" Type="http://schemas.openxmlformats.org/officeDocument/2006/relationships/image" Target="../media/image23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3.png"/><Relationship Id="rId4" Type="http://schemas.openxmlformats.org/officeDocument/2006/relationships/image" Target="../media/image23.png"/><Relationship Id="rId5" Type="http://schemas.openxmlformats.org/officeDocument/2006/relationships/image" Target="../media/image23.png"/><Relationship Id="rId6" Type="http://schemas.openxmlformats.org/officeDocument/2006/relationships/image" Target="../media/image2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7315200" y="274320"/>
            <a:ext cx="164160" cy="164160"/>
          </a:xfrm>
          <a:prstGeom prst="ellipse">
            <a:avLst/>
          </a:prstGeom>
          <a:solidFill>
            <a:srgbClr val="e94b35">
              <a:alpha val="7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955280" y="274320"/>
            <a:ext cx="164160" cy="164160"/>
          </a:xfrm>
          <a:prstGeom prst="ellipse">
            <a:avLst/>
          </a:prstGeom>
          <a:solidFill>
            <a:srgbClr val="e94b35">
              <a:alpha val="6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8595360" y="274320"/>
            <a:ext cx="164160" cy="164160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7315200" y="914400"/>
            <a:ext cx="164160" cy="164160"/>
          </a:xfrm>
          <a:prstGeom prst="ellipse">
            <a:avLst/>
          </a:prstGeom>
          <a:solidFill>
            <a:srgbClr val="e94b35">
              <a:alpha val="4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7955280" y="914400"/>
            <a:ext cx="164160" cy="164160"/>
          </a:xfrm>
          <a:prstGeom prst="ellipse">
            <a:avLst/>
          </a:prstGeom>
          <a:solidFill>
            <a:srgbClr val="e94b35">
              <a:alpha val="3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8595360" y="914400"/>
            <a:ext cx="164160" cy="164160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7397280" y="356400"/>
            <a:ext cx="640080" cy="640080"/>
          </a:xfrm>
          <a:prstGeom prst="line">
            <a:avLst/>
          </a:prstGeom>
          <a:ln w="12700">
            <a:solidFill>
              <a:srgbClr val="e94b35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8037360" y="356400"/>
            <a:ext cx="640080" cy="640080"/>
          </a:xfrm>
          <a:prstGeom prst="line">
            <a:avLst/>
          </a:prstGeom>
          <a:ln w="12700">
            <a:solidFill>
              <a:srgbClr val="e94b35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502920" y="320040"/>
            <a:ext cx="676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ГБПОУ НСО «Новосибирский политехнический колледж»</a:t>
            </a:r>
            <a:endParaRPr b="0" lang="ru-RU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502920" y="13716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799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ДИПЛОМНЫЙ ПРОЕКТ</a:t>
            </a:r>
            <a:endParaRPr b="0" lang="ru-RU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502920" y="1691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Мониторинг</a:t>
            </a:r>
            <a:endParaRPr b="0" lang="ru-RU" sz="5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502920" y="25146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f39c12"/>
                </a:solidFill>
                <a:uFillTx/>
                <a:latin typeface="Arial Black"/>
                <a:ea typeface="Arial Black"/>
              </a:rPr>
              <a:t>локально-вычислительной сети</a:t>
            </a: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502920" y="3337560"/>
            <a:ext cx="731160" cy="36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502920" y="3520440"/>
            <a:ext cx="8229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0" lang="en-US" sz="13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Выполнил студент группы 222СА</a:t>
            </a:r>
            <a:endParaRPr b="0" lang="ru-RU" sz="1300" strike="noStrike" u="none">
              <a:solidFill>
                <a:srgbClr val="ffffff"/>
              </a:solidFill>
              <a:uFillTx/>
              <a:latin typeface="Arial"/>
            </a:endParaRPr>
          </a:p>
          <a:p>
            <a:r>
              <a:rPr b="1" lang="en-US" sz="14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_________________________</a:t>
            </a:r>
            <a:endParaRPr b="0" lang="ru-RU" sz="1400" strike="noStrike" u="none">
              <a:solidFill>
                <a:srgbClr val="ffffff"/>
              </a:solidFill>
              <a:uFillTx/>
              <a:latin typeface="Arial"/>
            </a:endParaRPr>
          </a:p>
          <a:p>
            <a:r>
              <a:rPr b="0" i="1" lang="en-US" sz="11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Специальность 09.02.06 «Сетевое и системное администрирование»</a:t>
            </a:r>
            <a:endParaRPr b="0" lang="ru-RU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r>
              <a:rPr b="0" lang="en-US" sz="600" strike="noStrike" u="none">
                <a:solidFill>
                  <a:srgbClr val="000000"/>
                </a:solidFill>
                <a:uFillTx/>
                <a:latin typeface="Calibri"/>
                <a:ea typeface="Calibri"/>
              </a:rPr>
              <a:t> </a:t>
            </a:r>
            <a:endParaRPr b="0" lang="ru-RU" sz="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Руководитель: Егорова А. А.</a:t>
            </a:r>
            <a:endParaRPr b="0" lang="ru-RU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502920" y="47548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Новосибирск 2026</a:t>
            </a:r>
            <a:endParaRPr b="0" lang="ru-RU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Актуальность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Почему мониторинг ЛВС критически важен сегодня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0292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02920" y="1280160"/>
            <a:ext cx="4023000" cy="5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731520" y="150876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9" name="Image 0" descr="preencoded.png"/>
          <p:cNvPicPr/>
          <p:nvPr/>
        </p:nvPicPr>
        <p:blipFill>
          <a:blip r:embed="rId1"/>
          <a:stretch/>
        </p:blipFill>
        <p:spPr>
          <a:xfrm>
            <a:off x="89172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6"/>
          <p:cNvSpPr/>
          <p:nvPr/>
        </p:nvSpPr>
        <p:spPr>
          <a:xfrm>
            <a:off x="146304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Рост сложности сетей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3152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Десятки серверов, сотни рабочих мест, гибридные среды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466344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" name="Shape 9"/>
          <p:cNvSpPr/>
          <p:nvPr/>
        </p:nvSpPr>
        <p:spPr>
          <a:xfrm>
            <a:off x="4663440" y="1280160"/>
            <a:ext cx="4023000" cy="54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4" name="Shape 10"/>
          <p:cNvSpPr/>
          <p:nvPr/>
        </p:nvSpPr>
        <p:spPr>
          <a:xfrm>
            <a:off x="4892040" y="150876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35" name="Image 1" descr="preencoded.png"/>
          <p:cNvPicPr/>
          <p:nvPr/>
        </p:nvPicPr>
        <p:blipFill>
          <a:blip r:embed="rId2"/>
          <a:stretch/>
        </p:blipFill>
        <p:spPr>
          <a:xfrm>
            <a:off x="505224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11"/>
          <p:cNvSpPr/>
          <p:nvPr/>
        </p:nvSpPr>
        <p:spPr>
          <a:xfrm>
            <a:off x="562356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Цена простоя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" name="Text 12"/>
          <p:cNvSpPr/>
          <p:nvPr/>
        </p:nvSpPr>
        <p:spPr>
          <a:xfrm>
            <a:off x="489204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Любой сбой ЛВС останавливает бизнес-процессы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Shape 13"/>
          <p:cNvSpPr/>
          <p:nvPr/>
        </p:nvSpPr>
        <p:spPr>
          <a:xfrm>
            <a:off x="50292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02920" y="3063240"/>
            <a:ext cx="4023000" cy="5436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0" name="Shape 15"/>
          <p:cNvSpPr/>
          <p:nvPr/>
        </p:nvSpPr>
        <p:spPr>
          <a:xfrm>
            <a:off x="731520" y="329184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41" name="Image 2" descr="preencoded.png"/>
          <p:cNvPicPr/>
          <p:nvPr/>
        </p:nvPicPr>
        <p:blipFill>
          <a:blip r:embed="rId3"/>
          <a:stretch/>
        </p:blipFill>
        <p:spPr>
          <a:xfrm>
            <a:off x="89172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 16"/>
          <p:cNvSpPr/>
          <p:nvPr/>
        </p:nvSpPr>
        <p:spPr>
          <a:xfrm>
            <a:off x="146304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</a:rPr>
              <a:t>Локальные решения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73152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Переход на отечественные ОС из реестра Минцифры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466344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" name="Shape 19"/>
          <p:cNvSpPr/>
          <p:nvPr/>
        </p:nvSpPr>
        <p:spPr>
          <a:xfrm>
            <a:off x="4663440" y="3063240"/>
            <a:ext cx="4023000" cy="543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Shape 20"/>
          <p:cNvSpPr/>
          <p:nvPr/>
        </p:nvSpPr>
        <p:spPr>
          <a:xfrm>
            <a:off x="4892040" y="329184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7" name="Image 3" descr="preencoded.png"/>
          <p:cNvPicPr/>
          <p:nvPr/>
        </p:nvPicPr>
        <p:blipFill>
          <a:blip r:embed="rId4"/>
          <a:stretch/>
        </p:blipFill>
        <p:spPr>
          <a:xfrm>
            <a:off x="505224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21"/>
          <p:cNvSpPr/>
          <p:nvPr/>
        </p:nvSpPr>
        <p:spPr>
          <a:xfrm>
            <a:off x="562356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Превентивный контроль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489204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Обнаружение проблем до их влияния на пользователей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Цель и задачи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Что предстояло сделать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502920" y="1280160"/>
            <a:ext cx="8137800" cy="9140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731520" y="1463040"/>
            <a:ext cx="548280" cy="5482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55" name="Image 0" descr="preencoded.png"/>
          <p:cNvPicPr/>
          <p:nvPr/>
        </p:nvPicPr>
        <p:blipFill>
          <a:blip r:embed="rId1"/>
          <a:stretch/>
        </p:blipFill>
        <p:spPr>
          <a:xfrm>
            <a:off x="868680" y="160020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5"/>
          <p:cNvSpPr/>
          <p:nvPr/>
        </p:nvSpPr>
        <p:spPr>
          <a:xfrm>
            <a:off x="1463040" y="137160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601" strike="noStrike" u="none">
                <a:solidFill>
                  <a:srgbClr val="f39c12"/>
                </a:solidFill>
                <a:uFillTx/>
                <a:latin typeface="Arial Black"/>
                <a:ea typeface="Arial Black"/>
              </a:rPr>
              <a:t>ЦЕЛЬ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1463040" y="1645920"/>
            <a:ext cx="7040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Сравнительный анализ систем мониторинга и практическое внедрение Zabbix на отечественной ОС Альт Сервер 10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Text 7"/>
          <p:cNvSpPr/>
          <p:nvPr/>
        </p:nvSpPr>
        <p:spPr>
          <a:xfrm>
            <a:off x="502920" y="242316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601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ЗАДАЧИ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" name="Shape 8"/>
          <p:cNvSpPr/>
          <p:nvPr/>
        </p:nvSpPr>
        <p:spPr>
          <a:xfrm>
            <a:off x="502920" y="278892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0" name="Text 9"/>
          <p:cNvSpPr/>
          <p:nvPr/>
        </p:nvSpPr>
        <p:spPr>
          <a:xfrm>
            <a:off x="502920" y="27889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1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" name="Text 10"/>
          <p:cNvSpPr/>
          <p:nvPr/>
        </p:nvSpPr>
        <p:spPr>
          <a:xfrm>
            <a:off x="1143000" y="27432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Изучить теоретические основы организации и мониторинга ЛВС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" name="Shape 11"/>
          <p:cNvSpPr/>
          <p:nvPr/>
        </p:nvSpPr>
        <p:spPr>
          <a:xfrm>
            <a:off x="4663440" y="278892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3" name="Text 12"/>
          <p:cNvSpPr/>
          <p:nvPr/>
        </p:nvSpPr>
        <p:spPr>
          <a:xfrm>
            <a:off x="4663440" y="27889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2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" name="Text 13"/>
          <p:cNvSpPr/>
          <p:nvPr/>
        </p:nvSpPr>
        <p:spPr>
          <a:xfrm>
            <a:off x="5303520" y="27432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Сравнить существующие системы мониторинга по 10 критериям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" name="Shape 14"/>
          <p:cNvSpPr/>
          <p:nvPr/>
        </p:nvSpPr>
        <p:spPr>
          <a:xfrm>
            <a:off x="502920" y="356616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6" name="Text 15"/>
          <p:cNvSpPr/>
          <p:nvPr/>
        </p:nvSpPr>
        <p:spPr>
          <a:xfrm>
            <a:off x="502920" y="3566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3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Text 16"/>
          <p:cNvSpPr/>
          <p:nvPr/>
        </p:nvSpPr>
        <p:spPr>
          <a:xfrm>
            <a:off x="1143000" y="352044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Обосновать выбор оптимальной системы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Shape 17"/>
          <p:cNvSpPr/>
          <p:nvPr/>
        </p:nvSpPr>
        <p:spPr>
          <a:xfrm>
            <a:off x="4663440" y="356616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9" name="Text 18"/>
          <p:cNvSpPr/>
          <p:nvPr/>
        </p:nvSpPr>
        <p:spPr>
          <a:xfrm>
            <a:off x="4663440" y="3566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4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Text 19"/>
          <p:cNvSpPr/>
          <p:nvPr/>
        </p:nvSpPr>
        <p:spPr>
          <a:xfrm>
            <a:off x="5303520" y="352044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Развернуть и настроить систему на тестовом стенде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" name="Shape 20"/>
          <p:cNvSpPr/>
          <p:nvPr/>
        </p:nvSpPr>
        <p:spPr>
          <a:xfrm>
            <a:off x="502920" y="434340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2" name="Text 21"/>
          <p:cNvSpPr/>
          <p:nvPr/>
        </p:nvSpPr>
        <p:spPr>
          <a:xfrm>
            <a:off x="502920" y="4343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5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Text 22"/>
          <p:cNvSpPr/>
          <p:nvPr/>
        </p:nvSpPr>
        <p:spPr>
          <a:xfrm>
            <a:off x="1143000" y="429768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Выполнить экономическое обоснование проекта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Что такое ЛВС и её мониторинг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Ключевые понятия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502920" y="1280160"/>
            <a:ext cx="3840120" cy="347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777240" y="155448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1"/>
          <a:stretch/>
        </p:blipFill>
        <p:spPr>
          <a:xfrm>
            <a:off x="937440" y="17146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5"/>
          <p:cNvSpPr/>
          <p:nvPr/>
        </p:nvSpPr>
        <p:spPr>
          <a:xfrm>
            <a:off x="1554480" y="1600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ЛВС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777240" y="2331720"/>
            <a:ext cx="3291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Группа компьютеров и периферийного оборудования, объединённых в пределах ограниченной территории и использующих общие коммуникационные ресурсы.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" name="Shape 7"/>
          <p:cNvSpPr/>
          <p:nvPr/>
        </p:nvSpPr>
        <p:spPr>
          <a:xfrm>
            <a:off x="777240" y="3520440"/>
            <a:ext cx="3291840" cy="360"/>
          </a:xfrm>
          <a:prstGeom prst="line">
            <a:avLst/>
          </a:prstGeom>
          <a:ln w="12700">
            <a:solidFill>
              <a:srgbClr val="d6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" name="Shape 8"/>
          <p:cNvSpPr/>
          <p:nvPr/>
        </p:nvSpPr>
        <p:spPr>
          <a:xfrm>
            <a:off x="777240" y="3703320"/>
            <a:ext cx="502560" cy="50256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84" name="Image 1" descr="preencoded.png"/>
          <p:cNvPicPr/>
          <p:nvPr/>
        </p:nvPicPr>
        <p:blipFill>
          <a:blip r:embed="rId2"/>
          <a:stretch/>
        </p:blipFill>
        <p:spPr>
          <a:xfrm>
            <a:off x="902880" y="382896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9"/>
          <p:cNvSpPr/>
          <p:nvPr/>
        </p:nvSpPr>
        <p:spPr>
          <a:xfrm>
            <a:off x="1417320" y="3703320"/>
            <a:ext cx="2742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Мониторинг — непрерывное наблюдение за состоянием узлов, сервисов и каналов с автоматическим оповещением о проблемах.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Shape 10"/>
          <p:cNvSpPr/>
          <p:nvPr/>
        </p:nvSpPr>
        <p:spPr>
          <a:xfrm>
            <a:off x="4663440" y="1280160"/>
            <a:ext cx="4023000" cy="347436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4663440" y="141732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39c12"/>
                </a:solidFill>
                <a:uFillTx/>
                <a:latin typeface="Arial Black"/>
                <a:ea typeface="Arial Black"/>
              </a:rPr>
              <a:t>Объекты мониторинга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" name="Shape 12"/>
          <p:cNvSpPr/>
          <p:nvPr/>
        </p:nvSpPr>
        <p:spPr>
          <a:xfrm>
            <a:off x="6263640" y="2240280"/>
            <a:ext cx="822600" cy="82260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89" name="Image 2" descr="preencoded.png"/>
          <p:cNvPicPr/>
          <p:nvPr/>
        </p:nvPicPr>
        <p:blipFill>
          <a:blip r:embed="rId3"/>
          <a:stretch/>
        </p:blipFill>
        <p:spPr>
          <a:xfrm>
            <a:off x="6446520" y="24231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3"/>
          <p:cNvSpPr/>
          <p:nvPr/>
        </p:nvSpPr>
        <p:spPr>
          <a:xfrm>
            <a:off x="5943600" y="310896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Zabbix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" name="Shape 14"/>
          <p:cNvSpPr/>
          <p:nvPr/>
        </p:nvSpPr>
        <p:spPr>
          <a:xfrm>
            <a:off x="6675120" y="2743200"/>
            <a:ext cx="360" cy="960120"/>
          </a:xfrm>
          <a:prstGeom prst="line">
            <a:avLst/>
          </a:prstGeom>
          <a:ln w="12700">
            <a:solidFill>
              <a:srgbClr val="f39c12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Shape 15"/>
          <p:cNvSpPr/>
          <p:nvPr/>
        </p:nvSpPr>
        <p:spPr>
          <a:xfrm>
            <a:off x="4937760" y="33832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93" name="Image 3" descr="preencoded.png"/>
          <p:cNvPicPr/>
          <p:nvPr/>
        </p:nvPicPr>
        <p:blipFill>
          <a:blip r:embed="rId4"/>
          <a:stretch/>
        </p:blipFill>
        <p:spPr>
          <a:xfrm>
            <a:off x="5047560" y="34930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 16"/>
          <p:cNvSpPr/>
          <p:nvPr/>
        </p:nvSpPr>
        <p:spPr>
          <a:xfrm>
            <a:off x="4572000" y="39776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Сервер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Shape 17"/>
          <p:cNvSpPr/>
          <p:nvPr/>
        </p:nvSpPr>
        <p:spPr>
          <a:xfrm>
            <a:off x="6675120" y="2743200"/>
            <a:ext cx="360" cy="1417320"/>
          </a:xfrm>
          <a:prstGeom prst="line">
            <a:avLst/>
          </a:prstGeom>
          <a:ln w="12700">
            <a:solidFill>
              <a:srgbClr val="f39c12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" name="Shape 18"/>
          <p:cNvSpPr/>
          <p:nvPr/>
        </p:nvSpPr>
        <p:spPr>
          <a:xfrm>
            <a:off x="5852160" y="38404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97" name="Image 4" descr="preencoded.png"/>
          <p:cNvPicPr/>
          <p:nvPr/>
        </p:nvPicPr>
        <p:blipFill>
          <a:blip r:embed="rId5"/>
          <a:stretch/>
        </p:blipFill>
        <p:spPr>
          <a:xfrm>
            <a:off x="5961960" y="39502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ext 19"/>
          <p:cNvSpPr/>
          <p:nvPr/>
        </p:nvSpPr>
        <p:spPr>
          <a:xfrm>
            <a:off x="5486400" y="44348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ПК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Shape 20"/>
          <p:cNvSpPr/>
          <p:nvPr/>
        </p:nvSpPr>
        <p:spPr>
          <a:xfrm>
            <a:off x="6675120" y="2743200"/>
            <a:ext cx="548640" cy="1417320"/>
          </a:xfrm>
          <a:prstGeom prst="line">
            <a:avLst/>
          </a:prstGeom>
          <a:ln w="12700">
            <a:solidFill>
              <a:srgbClr val="f39c12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Shape 21"/>
          <p:cNvSpPr/>
          <p:nvPr/>
        </p:nvSpPr>
        <p:spPr>
          <a:xfrm>
            <a:off x="6949440" y="38404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01" name="Image 5" descr="preencoded.png"/>
          <p:cNvPicPr/>
          <p:nvPr/>
        </p:nvPicPr>
        <p:blipFill>
          <a:blip r:embed="rId6"/>
          <a:stretch/>
        </p:blipFill>
        <p:spPr>
          <a:xfrm>
            <a:off x="7059240" y="39502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 22"/>
          <p:cNvSpPr/>
          <p:nvPr/>
        </p:nvSpPr>
        <p:spPr>
          <a:xfrm>
            <a:off x="6583680" y="44348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Роутер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Shape 23"/>
          <p:cNvSpPr/>
          <p:nvPr/>
        </p:nvSpPr>
        <p:spPr>
          <a:xfrm>
            <a:off x="6675120" y="2743200"/>
            <a:ext cx="1463040" cy="960120"/>
          </a:xfrm>
          <a:prstGeom prst="line">
            <a:avLst/>
          </a:prstGeom>
          <a:ln w="12700">
            <a:solidFill>
              <a:srgbClr val="f39c12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" name="Shape 24"/>
          <p:cNvSpPr/>
          <p:nvPr/>
        </p:nvSpPr>
        <p:spPr>
          <a:xfrm>
            <a:off x="7863840" y="33832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05" name="Image 6" descr="preencoded.png"/>
          <p:cNvPicPr/>
          <p:nvPr/>
        </p:nvPicPr>
        <p:blipFill>
          <a:blip r:embed="rId7"/>
          <a:stretch/>
        </p:blipFill>
        <p:spPr>
          <a:xfrm>
            <a:off x="7973640" y="34930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5"/>
          <p:cNvSpPr/>
          <p:nvPr/>
        </p:nvSpPr>
        <p:spPr>
          <a:xfrm>
            <a:off x="7498080" y="39776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Коммутатор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Обзор систем мониторинга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Какие решения рассматривались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Shape 3"/>
          <p:cNvSpPr/>
          <p:nvPr/>
        </p:nvSpPr>
        <p:spPr>
          <a:xfrm>
            <a:off x="502920" y="1234440"/>
            <a:ext cx="1874160" cy="1554120"/>
          </a:xfrm>
          <a:prstGeom prst="rect">
            <a:avLst/>
          </a:prstGeom>
          <a:solidFill>
            <a:srgbClr val="0f2a47"/>
          </a:solidFill>
          <a:ln w="254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1120320" y="141732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12" name="Image 0" descr="preencoded.png"/>
          <p:cNvPicPr/>
          <p:nvPr/>
        </p:nvPicPr>
        <p:blipFill>
          <a:blip r:embed="rId1"/>
          <a:stretch/>
        </p:blipFill>
        <p:spPr>
          <a:xfrm>
            <a:off x="128016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5"/>
          <p:cNvSpPr/>
          <p:nvPr/>
        </p:nvSpPr>
        <p:spPr>
          <a:xfrm>
            <a:off x="59436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Zabbix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Text 6"/>
          <p:cNvSpPr/>
          <p:nvPr/>
        </p:nvSpPr>
        <p:spPr>
          <a:xfrm>
            <a:off x="59436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f39c12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Shape 7"/>
          <p:cNvSpPr/>
          <p:nvPr/>
        </p:nvSpPr>
        <p:spPr>
          <a:xfrm>
            <a:off x="2541960" y="123444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Shape 8"/>
          <p:cNvSpPr/>
          <p:nvPr/>
        </p:nvSpPr>
        <p:spPr>
          <a:xfrm>
            <a:off x="3159360" y="141732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17" name="Image 1" descr="preencoded.png"/>
          <p:cNvPicPr/>
          <p:nvPr/>
        </p:nvPicPr>
        <p:blipFill>
          <a:blip r:embed="rId2"/>
          <a:stretch/>
        </p:blipFill>
        <p:spPr>
          <a:xfrm>
            <a:off x="331920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 9"/>
          <p:cNvSpPr/>
          <p:nvPr/>
        </p:nvSpPr>
        <p:spPr>
          <a:xfrm>
            <a:off x="263340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Nagios / Icinga 2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" name="Text 10"/>
          <p:cNvSpPr/>
          <p:nvPr/>
        </p:nvSpPr>
        <p:spPr>
          <a:xfrm>
            <a:off x="263340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Shape 11"/>
          <p:cNvSpPr/>
          <p:nvPr/>
        </p:nvSpPr>
        <p:spPr>
          <a:xfrm>
            <a:off x="4581000" y="123444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" name="Shape 12"/>
          <p:cNvSpPr/>
          <p:nvPr/>
        </p:nvSpPr>
        <p:spPr>
          <a:xfrm>
            <a:off x="5198400" y="141732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22" name="Image 2" descr="preencoded.png"/>
          <p:cNvPicPr/>
          <p:nvPr/>
        </p:nvPicPr>
        <p:blipFill>
          <a:blip r:embed="rId3"/>
          <a:stretch/>
        </p:blipFill>
        <p:spPr>
          <a:xfrm>
            <a:off x="535824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 13"/>
          <p:cNvSpPr/>
          <p:nvPr/>
        </p:nvSpPr>
        <p:spPr>
          <a:xfrm>
            <a:off x="467244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Prometheus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467244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" name="Shape 15"/>
          <p:cNvSpPr/>
          <p:nvPr/>
        </p:nvSpPr>
        <p:spPr>
          <a:xfrm>
            <a:off x="6620400" y="123444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7237440" y="141732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27" name="Image 3" descr="preencoded.png"/>
          <p:cNvPicPr/>
          <p:nvPr/>
        </p:nvPicPr>
        <p:blipFill>
          <a:blip r:embed="rId4"/>
          <a:stretch/>
        </p:blipFill>
        <p:spPr>
          <a:xfrm>
            <a:off x="739764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7"/>
          <p:cNvSpPr/>
          <p:nvPr/>
        </p:nvSpPr>
        <p:spPr>
          <a:xfrm>
            <a:off x="671184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LibreNMS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671184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Shape 19"/>
          <p:cNvSpPr/>
          <p:nvPr/>
        </p:nvSpPr>
        <p:spPr>
          <a:xfrm>
            <a:off x="50292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Shape 20"/>
          <p:cNvSpPr/>
          <p:nvPr/>
        </p:nvSpPr>
        <p:spPr>
          <a:xfrm>
            <a:off x="1120320" y="315468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2" name="Image 4" descr="preencoded.png"/>
          <p:cNvPicPr/>
          <p:nvPr/>
        </p:nvPicPr>
        <p:blipFill>
          <a:blip r:embed="rId5"/>
          <a:stretch/>
        </p:blipFill>
        <p:spPr>
          <a:xfrm>
            <a:off x="128016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xt 21"/>
          <p:cNvSpPr/>
          <p:nvPr/>
        </p:nvSpPr>
        <p:spPr>
          <a:xfrm>
            <a:off x="59436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PRTG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Text 22"/>
          <p:cNvSpPr/>
          <p:nvPr/>
        </p:nvSpPr>
        <p:spPr>
          <a:xfrm>
            <a:off x="59436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Проприет.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Shape 23"/>
          <p:cNvSpPr/>
          <p:nvPr/>
        </p:nvSpPr>
        <p:spPr>
          <a:xfrm>
            <a:off x="254196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Shape 24"/>
          <p:cNvSpPr/>
          <p:nvPr/>
        </p:nvSpPr>
        <p:spPr>
          <a:xfrm>
            <a:off x="3159360" y="315468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7" name="Image 5" descr="preencoded.png"/>
          <p:cNvPicPr/>
          <p:nvPr/>
        </p:nvPicPr>
        <p:blipFill>
          <a:blip r:embed="rId6"/>
          <a:stretch/>
        </p:blipFill>
        <p:spPr>
          <a:xfrm>
            <a:off x="331920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 25"/>
          <p:cNvSpPr/>
          <p:nvPr/>
        </p:nvSpPr>
        <p:spPr>
          <a:xfrm>
            <a:off x="263340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SolarWinds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9" name="Text 26"/>
          <p:cNvSpPr/>
          <p:nvPr/>
        </p:nvSpPr>
        <p:spPr>
          <a:xfrm>
            <a:off x="263340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Проприет.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0" name="Shape 27"/>
          <p:cNvSpPr/>
          <p:nvPr/>
        </p:nvSpPr>
        <p:spPr>
          <a:xfrm>
            <a:off x="458100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Shape 28"/>
          <p:cNvSpPr/>
          <p:nvPr/>
        </p:nvSpPr>
        <p:spPr>
          <a:xfrm>
            <a:off x="5198400" y="315468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42" name="Image 6" descr="preencoded.png"/>
          <p:cNvPicPr/>
          <p:nvPr/>
        </p:nvPicPr>
        <p:blipFill>
          <a:blip r:embed="rId7"/>
          <a:stretch/>
        </p:blipFill>
        <p:spPr>
          <a:xfrm>
            <a:off x="535824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 29"/>
          <p:cNvSpPr/>
          <p:nvPr/>
        </p:nvSpPr>
        <p:spPr>
          <a:xfrm>
            <a:off x="467244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Checkmk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Text 30"/>
          <p:cNvSpPr/>
          <p:nvPr/>
        </p:nvSpPr>
        <p:spPr>
          <a:xfrm>
            <a:off x="467244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Проприет.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Shape 31"/>
          <p:cNvSpPr/>
          <p:nvPr/>
        </p:nvSpPr>
        <p:spPr>
          <a:xfrm>
            <a:off x="662040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Shape 32"/>
          <p:cNvSpPr/>
          <p:nvPr/>
        </p:nvSpPr>
        <p:spPr>
          <a:xfrm>
            <a:off x="7237440" y="315468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47" name="Image 7" descr="preencoded.png"/>
          <p:cNvPicPr/>
          <p:nvPr/>
        </p:nvPicPr>
        <p:blipFill>
          <a:blip r:embed="rId8"/>
          <a:stretch/>
        </p:blipFill>
        <p:spPr>
          <a:xfrm>
            <a:off x="739764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 33"/>
          <p:cNvSpPr/>
          <p:nvPr/>
        </p:nvSpPr>
        <p:spPr>
          <a:xfrm>
            <a:off x="671184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Datadog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9" name="Text 34"/>
          <p:cNvSpPr/>
          <p:nvPr/>
        </p:nvSpPr>
        <p:spPr>
          <a:xfrm>
            <a:off x="671184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Облачная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Почему Zabbix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Аргументы в пользу выбора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50292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4" name="Shape 4"/>
          <p:cNvSpPr/>
          <p:nvPr/>
        </p:nvSpPr>
        <p:spPr>
          <a:xfrm>
            <a:off x="502920" y="1280160"/>
            <a:ext cx="4023000" cy="5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5" name="Shape 5"/>
          <p:cNvSpPr/>
          <p:nvPr/>
        </p:nvSpPr>
        <p:spPr>
          <a:xfrm>
            <a:off x="731520" y="1508760"/>
            <a:ext cx="639720" cy="6397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56" name="Image 0" descr="preencoded.png"/>
          <p:cNvPicPr/>
          <p:nvPr/>
        </p:nvPicPr>
        <p:blipFill>
          <a:blip r:embed="rId1"/>
          <a:stretch/>
        </p:blipFill>
        <p:spPr>
          <a:xfrm>
            <a:off x="89172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 6"/>
          <p:cNvSpPr/>
          <p:nvPr/>
        </p:nvSpPr>
        <p:spPr>
          <a:xfrm>
            <a:off x="146304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Свободная лицензия GPL v2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Text 7"/>
          <p:cNvSpPr/>
          <p:nvPr/>
        </p:nvSpPr>
        <p:spPr>
          <a:xfrm>
            <a:off x="73152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Стоимость владения — 0 ₽, нет ограничений на количество узлов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9" name="Shape 8"/>
          <p:cNvSpPr/>
          <p:nvPr/>
        </p:nvSpPr>
        <p:spPr>
          <a:xfrm>
            <a:off x="466344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" name="Shape 9"/>
          <p:cNvSpPr/>
          <p:nvPr/>
        </p:nvSpPr>
        <p:spPr>
          <a:xfrm>
            <a:off x="4663440" y="1280160"/>
            <a:ext cx="4023000" cy="5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1" name="Shape 10"/>
          <p:cNvSpPr/>
          <p:nvPr/>
        </p:nvSpPr>
        <p:spPr>
          <a:xfrm>
            <a:off x="4892040" y="150876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62" name="Image 1" descr="preencoded.png"/>
          <p:cNvPicPr/>
          <p:nvPr/>
        </p:nvPicPr>
        <p:blipFill>
          <a:blip r:embed="rId2"/>
          <a:stretch/>
        </p:blipFill>
        <p:spPr>
          <a:xfrm>
            <a:off x="505224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11"/>
          <p:cNvSpPr/>
          <p:nvPr/>
        </p:nvSpPr>
        <p:spPr>
          <a:xfrm>
            <a:off x="562356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Гибкая настройка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Text 12"/>
          <p:cNvSpPr/>
          <p:nvPr/>
        </p:nvSpPr>
        <p:spPr>
          <a:xfrm>
            <a:off x="489204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Шаблоны, триггеры, скрипты — поддержка любых сценариев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5" name="Shape 13"/>
          <p:cNvSpPr/>
          <p:nvPr/>
        </p:nvSpPr>
        <p:spPr>
          <a:xfrm>
            <a:off x="50292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6" name="Shape 14"/>
          <p:cNvSpPr/>
          <p:nvPr/>
        </p:nvSpPr>
        <p:spPr>
          <a:xfrm>
            <a:off x="502920" y="3063240"/>
            <a:ext cx="4023000" cy="5436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7" name="Shape 15"/>
          <p:cNvSpPr/>
          <p:nvPr/>
        </p:nvSpPr>
        <p:spPr>
          <a:xfrm>
            <a:off x="731520" y="329184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68" name="Image 2" descr="preencoded.png"/>
          <p:cNvPicPr/>
          <p:nvPr/>
        </p:nvPicPr>
        <p:blipFill>
          <a:blip r:embed="rId3"/>
          <a:stretch/>
        </p:blipFill>
        <p:spPr>
          <a:xfrm>
            <a:off x="89172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Text 16"/>
          <p:cNvSpPr/>
          <p:nvPr/>
        </p:nvSpPr>
        <p:spPr>
          <a:xfrm>
            <a:off x="146304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Все протоколы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0" name="Text 17"/>
          <p:cNvSpPr/>
          <p:nvPr/>
        </p:nvSpPr>
        <p:spPr>
          <a:xfrm>
            <a:off x="73152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Агент, SNMP, IPMI, JMX, ICMP — единая платформа для всего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1" name="Shape 18"/>
          <p:cNvSpPr/>
          <p:nvPr/>
        </p:nvSpPr>
        <p:spPr>
          <a:xfrm>
            <a:off x="466344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Shape 19"/>
          <p:cNvSpPr/>
          <p:nvPr/>
        </p:nvSpPr>
        <p:spPr>
          <a:xfrm>
            <a:off x="4663440" y="3063240"/>
            <a:ext cx="4023000" cy="54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3" name="Shape 20"/>
          <p:cNvSpPr/>
          <p:nvPr/>
        </p:nvSpPr>
        <p:spPr>
          <a:xfrm>
            <a:off x="4892040" y="329184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74" name="Image 3" descr="preencoded.png"/>
          <p:cNvPicPr/>
          <p:nvPr/>
        </p:nvPicPr>
        <p:blipFill>
          <a:blip r:embed="rId4"/>
          <a:stretch/>
        </p:blipFill>
        <p:spPr>
          <a:xfrm>
            <a:off x="505224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 21"/>
          <p:cNvSpPr/>
          <p:nvPr/>
        </p:nvSpPr>
        <p:spPr>
          <a:xfrm>
            <a:off x="562356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Поддержка Альт Сервер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6" name="Text 22"/>
          <p:cNvSpPr/>
          <p:nvPr/>
        </p:nvSpPr>
        <p:spPr>
          <a:xfrm>
            <a:off x="489204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Пакеты в официальном репозитории p10, не нужны сторонние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Технологический стек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Программные компоненты решения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0" name="Shape 3"/>
          <p:cNvSpPr/>
          <p:nvPr/>
        </p:nvSpPr>
        <p:spPr>
          <a:xfrm>
            <a:off x="731520" y="1280160"/>
            <a:ext cx="7680600" cy="77688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81" name="Image 0" descr="preencoded.png"/>
          <p:cNvPicPr/>
          <p:nvPr/>
        </p:nvPicPr>
        <p:blipFill>
          <a:blip r:embed="rId1"/>
          <a:stretch/>
        </p:blipFill>
        <p:spPr>
          <a:xfrm>
            <a:off x="987480" y="146304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 4"/>
          <p:cNvSpPr/>
          <p:nvPr/>
        </p:nvSpPr>
        <p:spPr>
          <a:xfrm>
            <a:off x="1645920" y="1353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Zabbix Server 6.x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1645920" y="169164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Сервер мониторинга + веб-интерфейс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4" name="Shape 6"/>
          <p:cNvSpPr/>
          <p:nvPr/>
        </p:nvSpPr>
        <p:spPr>
          <a:xfrm>
            <a:off x="6309360" y="152712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5" name="Text 7"/>
          <p:cNvSpPr/>
          <p:nvPr/>
        </p:nvSpPr>
        <p:spPr>
          <a:xfrm>
            <a:off x="6309360" y="152712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GNU GPL v2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6" name="Shape 8"/>
          <p:cNvSpPr/>
          <p:nvPr/>
        </p:nvSpPr>
        <p:spPr>
          <a:xfrm>
            <a:off x="731520" y="2103120"/>
            <a:ext cx="7680600" cy="77688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87" name="Image 1" descr="preencoded.png"/>
          <p:cNvPicPr/>
          <p:nvPr/>
        </p:nvPicPr>
        <p:blipFill>
          <a:blip r:embed="rId2"/>
          <a:stretch/>
        </p:blipFill>
        <p:spPr>
          <a:xfrm>
            <a:off x="987480" y="228600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9"/>
          <p:cNvSpPr/>
          <p:nvPr/>
        </p:nvSpPr>
        <p:spPr>
          <a:xfrm>
            <a:off x="1645920" y="21762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Apache HTTP Server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1645920" y="25146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Веб-сервер (служба httpd2)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0" name="Shape 11"/>
          <p:cNvSpPr/>
          <p:nvPr/>
        </p:nvSpPr>
        <p:spPr>
          <a:xfrm>
            <a:off x="6309360" y="235008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1" name="Text 12"/>
          <p:cNvSpPr/>
          <p:nvPr/>
        </p:nvSpPr>
        <p:spPr>
          <a:xfrm>
            <a:off x="6309360" y="235008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Apache 2.0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2" name="Shape 13"/>
          <p:cNvSpPr/>
          <p:nvPr/>
        </p:nvSpPr>
        <p:spPr>
          <a:xfrm>
            <a:off x="731520" y="2926080"/>
            <a:ext cx="7680600" cy="77688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93" name="Image 2" descr="preencoded.png"/>
          <p:cNvPicPr/>
          <p:nvPr/>
        </p:nvPicPr>
        <p:blipFill>
          <a:blip r:embed="rId3"/>
          <a:stretch/>
        </p:blipFill>
        <p:spPr>
          <a:xfrm>
            <a:off x="987480" y="310896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14"/>
          <p:cNvSpPr/>
          <p:nvPr/>
        </p:nvSpPr>
        <p:spPr>
          <a:xfrm>
            <a:off x="1645920" y="29991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PostgreSQL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5" name="Text 15"/>
          <p:cNvSpPr/>
          <p:nvPr/>
        </p:nvSpPr>
        <p:spPr>
          <a:xfrm>
            <a:off x="1645920" y="33375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СУБД для хранения метрик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Shape 16"/>
          <p:cNvSpPr/>
          <p:nvPr/>
        </p:nvSpPr>
        <p:spPr>
          <a:xfrm>
            <a:off x="6309360" y="317304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7" name="Text 17"/>
          <p:cNvSpPr/>
          <p:nvPr/>
        </p:nvSpPr>
        <p:spPr>
          <a:xfrm>
            <a:off x="6309360" y="317304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PostgreSQL License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8" name="Shape 18"/>
          <p:cNvSpPr/>
          <p:nvPr/>
        </p:nvSpPr>
        <p:spPr>
          <a:xfrm>
            <a:off x="731520" y="3749040"/>
            <a:ext cx="7680600" cy="77688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99" name="Image 3" descr="preencoded.png"/>
          <p:cNvPicPr/>
          <p:nvPr/>
        </p:nvPicPr>
        <p:blipFill>
          <a:blip r:embed="rId4"/>
          <a:stretch/>
        </p:blipFill>
        <p:spPr>
          <a:xfrm>
            <a:off x="987480" y="393192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Text 19"/>
          <p:cNvSpPr/>
          <p:nvPr/>
        </p:nvSpPr>
        <p:spPr>
          <a:xfrm>
            <a:off x="1645920" y="38221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Альт Сервер 10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Text 20"/>
          <p:cNvSpPr/>
          <p:nvPr/>
        </p:nvSpPr>
        <p:spPr>
          <a:xfrm>
            <a:off x="1645920" y="41605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ОС от ООО «Базальт СПО», реестр Минцифры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2" name="Shape 21"/>
          <p:cNvSpPr/>
          <p:nvPr/>
        </p:nvSpPr>
        <p:spPr>
          <a:xfrm>
            <a:off x="6309360" y="399600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Text 22"/>
          <p:cNvSpPr/>
          <p:nvPr/>
        </p:nvSpPr>
        <p:spPr>
          <a:xfrm>
            <a:off x="6309360" y="399600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GNU GPL / свободное ПО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4" name="Text 23"/>
          <p:cNvSpPr/>
          <p:nvPr/>
        </p:nvSpPr>
        <p:spPr>
          <a:xfrm>
            <a:off x="502920" y="475488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Весь стек — свободное и бесплатное ПО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Архитектура тестового стенда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Text 32"/>
          <p:cNvSpPr/>
          <p:nvPr/>
        </p:nvSpPr>
        <p:spPr>
          <a:xfrm>
            <a:off x="502920" y="475488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Виртуализация: VirtualBox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08" name="Групповой объект 1"/>
          <p:cNvGrpSpPr/>
          <p:nvPr/>
        </p:nvGrpSpPr>
        <p:grpSpPr>
          <a:xfrm>
            <a:off x="3501360" y="2273400"/>
            <a:ext cx="2325240" cy="2695320"/>
            <a:chOff x="3501360" y="2273400"/>
            <a:chExt cx="2325240" cy="2695320"/>
          </a:xfrm>
        </p:grpSpPr>
        <p:pic>
          <p:nvPicPr>
            <p:cNvPr id="209" name="" descr=""/>
            <p:cNvPicPr/>
            <p:nvPr/>
          </p:nvPicPr>
          <p:blipFill>
            <a:blip r:embed="rId1"/>
            <a:stretch/>
          </p:blipFill>
          <p:spPr>
            <a:xfrm>
              <a:off x="3501360" y="3593160"/>
              <a:ext cx="626760" cy="509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0" name="" descr=""/>
            <p:cNvPicPr/>
            <p:nvPr/>
          </p:nvPicPr>
          <p:blipFill>
            <a:blip r:embed="rId2"/>
            <a:stretch/>
          </p:blipFill>
          <p:spPr>
            <a:xfrm>
              <a:off x="4291560" y="2273400"/>
              <a:ext cx="568800" cy="460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1" name="" descr=""/>
            <p:cNvPicPr/>
            <p:nvPr/>
          </p:nvPicPr>
          <p:blipFill>
            <a:blip r:embed="rId3"/>
            <a:stretch/>
          </p:blipFill>
          <p:spPr>
            <a:xfrm>
              <a:off x="5060160" y="3575160"/>
              <a:ext cx="626760" cy="5090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12" name=""/>
            <p:cNvSpPr/>
            <p:nvPr/>
          </p:nvSpPr>
          <p:spPr>
            <a:xfrm rot="5400000">
              <a:off x="3764520" y="2783160"/>
              <a:ext cx="858600" cy="761040"/>
            </a:xfrm>
            <a:prstGeom prst="bentConnector3">
              <a:avLst>
                <a:gd name="adj1" fmla="val 50000"/>
              </a:avLst>
            </a:pr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endParaRPr b="0" lang="ru-RU" sz="1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213" name=""/>
            <p:cNvSpPr/>
            <p:nvPr/>
          </p:nvSpPr>
          <p:spPr>
            <a:xfrm flipV="1" rot="16200000">
              <a:off x="4554000" y="2754000"/>
              <a:ext cx="841320" cy="797760"/>
            </a:xfrm>
            <a:prstGeom prst="bentConnector3">
              <a:avLst>
                <a:gd name="adj1" fmla="val 49983"/>
              </a:avLst>
            </a:pr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endParaRPr b="0" lang="ru-RU" sz="1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214" name=""/>
            <p:cNvSpPr/>
            <p:nvPr/>
          </p:nvSpPr>
          <p:spPr>
            <a:xfrm>
              <a:off x="3501360" y="4159440"/>
              <a:ext cx="650520" cy="80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ru-RU" sz="1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215" name=""/>
            <p:cNvSpPr/>
            <p:nvPr/>
          </p:nvSpPr>
          <p:spPr>
            <a:xfrm>
              <a:off x="5129280" y="4159440"/>
              <a:ext cx="697320" cy="61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ru-RU" sz="1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216" name=""/>
            <p:cNvSpPr/>
            <p:nvPr/>
          </p:nvSpPr>
          <p:spPr>
            <a:xfrm>
              <a:off x="4012560" y="2839320"/>
              <a:ext cx="1116720" cy="43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ru-RU" sz="1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pic>
        <p:nvPicPr>
          <p:cNvPr id="217" name="" descr=""/>
          <p:cNvPicPr/>
          <p:nvPr/>
        </p:nvPicPr>
        <p:blipFill>
          <a:blip r:embed="rId4"/>
          <a:stretch/>
        </p:blipFill>
        <p:spPr>
          <a:xfrm>
            <a:off x="4251600" y="804240"/>
            <a:ext cx="628200" cy="6282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18" name=""/>
          <p:cNvCxnSpPr>
            <a:stCxn id="217" idx="2"/>
            <a:endCxn id="208" idx="0"/>
          </p:cNvCxnSpPr>
          <p:nvPr/>
        </p:nvCxnSpPr>
        <p:spPr>
          <a:xfrm flipH="1" rot="16200000">
            <a:off x="4194000" y="1803600"/>
            <a:ext cx="841320" cy="98640"/>
          </a:xfrm>
          <a:prstGeom prst="bentConnector3">
            <a:avLst>
              <a:gd name="adj1" fmla="val 50000"/>
            </a:avLst>
          </a:prstGeom>
          <a:ln w="0">
            <a:solidFill>
              <a:srgbClr val="3465a4"/>
            </a:solidFill>
          </a:ln>
        </p:spPr>
      </p:cxnSp>
      <p:sp>
        <p:nvSpPr>
          <p:cNvPr id="219" name=""/>
          <p:cNvSpPr txBox="1"/>
          <p:nvPr/>
        </p:nvSpPr>
        <p:spPr>
          <a:xfrm>
            <a:off x="4042440" y="2759040"/>
            <a:ext cx="1116720" cy="6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Мар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шрут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изато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р(SN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MP,I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CMP)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344040" y="4155120"/>
            <a:ext cx="907560" cy="75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Серв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ер 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Zabbi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x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192.1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68.10</a:t>
            </a:r>
            <a:r>
              <a:rPr b="0" lang="ru-RU" sz="11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0.1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949640" y="4155120"/>
            <a:ext cx="90756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12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Клие</a:t>
            </a:r>
            <a:r>
              <a:rPr b="0" lang="ru-RU" sz="12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нт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2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192.</a:t>
            </a:r>
            <a:r>
              <a:rPr b="0" lang="ru-RU" sz="12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168.</a:t>
            </a:r>
            <a:r>
              <a:rPr b="0" lang="ru-RU" sz="12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100.</a:t>
            </a:r>
            <a:r>
              <a:rPr b="0" lang="ru-RU" sz="1200" strike="noStrike" u="none">
                <a:solidFill>
                  <a:srgbClr val="000000"/>
                </a:solidFill>
                <a:uFillTx/>
                <a:latin typeface="Liberation Sans;Arial"/>
                <a:ea typeface="LXGW WenKai"/>
              </a:rPr>
              <a:t>2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929560" y="881640"/>
            <a:ext cx="190440" cy="4503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929560" y="881640"/>
            <a:ext cx="190440" cy="4503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112280" y="1432440"/>
            <a:ext cx="97704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Инт</a:t>
            </a: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ерн</a:t>
            </a: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ет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Проверка работоспособности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5 сценариев тестирования — все пройдены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502920" y="1234440"/>
            <a:ext cx="260568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Shape 4"/>
          <p:cNvSpPr/>
          <p:nvPr/>
        </p:nvSpPr>
        <p:spPr>
          <a:xfrm>
            <a:off x="1513440" y="1398960"/>
            <a:ext cx="594000" cy="5940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30" name="Image 0" descr="preencoded.png"/>
          <p:cNvPicPr/>
          <p:nvPr/>
        </p:nvPicPr>
        <p:blipFill>
          <a:blip r:embed="rId1"/>
          <a:stretch/>
        </p:blipFill>
        <p:spPr>
          <a:xfrm>
            <a:off x="1661760" y="154764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5"/>
          <p:cNvSpPr/>
          <p:nvPr/>
        </p:nvSpPr>
        <p:spPr>
          <a:xfrm>
            <a:off x="594360" y="210312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Сбор данных с агентов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594360" y="242316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Подключены Linux-узлы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3" name="Shape 7"/>
          <p:cNvSpPr/>
          <p:nvPr/>
        </p:nvSpPr>
        <p:spPr>
          <a:xfrm>
            <a:off x="3273480" y="1234440"/>
            <a:ext cx="260568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4" name="Shape 8"/>
          <p:cNvSpPr/>
          <p:nvPr/>
        </p:nvSpPr>
        <p:spPr>
          <a:xfrm>
            <a:off x="4284000" y="1398960"/>
            <a:ext cx="594000" cy="5940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35" name="Image 1" descr="preencoded.png"/>
          <p:cNvPicPr/>
          <p:nvPr/>
        </p:nvPicPr>
        <p:blipFill>
          <a:blip r:embed="rId2"/>
          <a:stretch/>
        </p:blipFill>
        <p:spPr>
          <a:xfrm>
            <a:off x="4432680" y="154764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9"/>
          <p:cNvSpPr/>
          <p:nvPr/>
        </p:nvSpPr>
        <p:spPr>
          <a:xfrm>
            <a:off x="3364920" y="210312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Имитация отказа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7" name="Text 10"/>
          <p:cNvSpPr/>
          <p:nvPr/>
        </p:nvSpPr>
        <p:spPr>
          <a:xfrm>
            <a:off x="3364920" y="242316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Триггер сработал, уведомление доставлено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8" name="Shape 11"/>
          <p:cNvSpPr/>
          <p:nvPr/>
        </p:nvSpPr>
        <p:spPr>
          <a:xfrm>
            <a:off x="6044040" y="1234440"/>
            <a:ext cx="260568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7054560" y="1398960"/>
            <a:ext cx="594000" cy="5940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40" name="Image 2" descr="preencoded.png"/>
          <p:cNvPicPr/>
          <p:nvPr/>
        </p:nvPicPr>
        <p:blipFill>
          <a:blip r:embed="rId3"/>
          <a:stretch/>
        </p:blipFill>
        <p:spPr>
          <a:xfrm>
            <a:off x="7203240" y="154764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13"/>
          <p:cNvSpPr/>
          <p:nvPr/>
        </p:nvSpPr>
        <p:spPr>
          <a:xfrm>
            <a:off x="6135480" y="210312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Стресс-тест CPU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2" name="Text 14"/>
          <p:cNvSpPr/>
          <p:nvPr/>
        </p:nvSpPr>
        <p:spPr>
          <a:xfrm>
            <a:off x="6135480" y="242316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Корректно зафиксированы пики нагрузки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3" name="Shape 15"/>
          <p:cNvSpPr/>
          <p:nvPr/>
        </p:nvSpPr>
        <p:spPr>
          <a:xfrm>
            <a:off x="1737360" y="2971800"/>
            <a:ext cx="260568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4" name="Shape 16"/>
          <p:cNvSpPr/>
          <p:nvPr/>
        </p:nvSpPr>
        <p:spPr>
          <a:xfrm>
            <a:off x="2747880" y="3136320"/>
            <a:ext cx="594000" cy="5940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45" name="Image 3" descr="preencoded.png"/>
          <p:cNvPicPr/>
          <p:nvPr/>
        </p:nvPicPr>
        <p:blipFill>
          <a:blip r:embed="rId4"/>
          <a:stretch/>
        </p:blipFill>
        <p:spPr>
          <a:xfrm>
            <a:off x="2896200" y="32850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 17"/>
          <p:cNvSpPr/>
          <p:nvPr/>
        </p:nvSpPr>
        <p:spPr>
          <a:xfrm>
            <a:off x="1828800" y="384048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SNMP-мониторинг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7" name="Text 18"/>
          <p:cNvSpPr/>
          <p:nvPr/>
        </p:nvSpPr>
        <p:spPr>
          <a:xfrm>
            <a:off x="1828800" y="416052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Сетевое оборудование под контролем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8" name="Shape 19"/>
          <p:cNvSpPr/>
          <p:nvPr/>
        </p:nvSpPr>
        <p:spPr>
          <a:xfrm>
            <a:off x="4507920" y="2971800"/>
            <a:ext cx="260568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Shape 20"/>
          <p:cNvSpPr/>
          <p:nvPr/>
        </p:nvSpPr>
        <p:spPr>
          <a:xfrm>
            <a:off x="5518440" y="3136320"/>
            <a:ext cx="594000" cy="5940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50" name="Image 4" descr="preencoded.png"/>
          <p:cNvPicPr/>
          <p:nvPr/>
        </p:nvPicPr>
        <p:blipFill>
          <a:blip r:embed="rId5"/>
          <a:stretch/>
        </p:blipFill>
        <p:spPr>
          <a:xfrm>
            <a:off x="5667120" y="3285000"/>
            <a:ext cx="297000" cy="29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Text 21"/>
          <p:cNvSpPr/>
          <p:nvPr/>
        </p:nvSpPr>
        <p:spPr>
          <a:xfrm>
            <a:off x="4599360" y="384048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Дашборд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2" name="Text 22"/>
          <p:cNvSpPr/>
          <p:nvPr/>
        </p:nvSpPr>
        <p:spPr>
          <a:xfrm>
            <a:off x="4599360" y="416052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Все ключевые метрики на одном экране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3" name="Text 23"/>
          <p:cNvSpPr/>
          <p:nvPr/>
        </p:nvSpPr>
        <p:spPr>
          <a:xfrm>
            <a:off x="502920" y="475488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Система функционирует в соответствии с проектными требованиями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55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Экономическое обоснование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6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Затраты на внедрение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7" name="Shape 3"/>
          <p:cNvSpPr/>
          <p:nvPr/>
        </p:nvSpPr>
        <p:spPr>
          <a:xfrm>
            <a:off x="502920" y="1280160"/>
            <a:ext cx="4023000" cy="329148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777240" y="1554480"/>
            <a:ext cx="639720" cy="6397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59" name="Image 0" descr="preencoded.png"/>
          <p:cNvPicPr/>
          <p:nvPr/>
        </p:nvPicPr>
        <p:blipFill>
          <a:blip r:embed="rId1"/>
          <a:stretch/>
        </p:blipFill>
        <p:spPr>
          <a:xfrm>
            <a:off x="937440" y="17146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Text 5"/>
          <p:cNvSpPr/>
          <p:nvPr/>
        </p:nvSpPr>
        <p:spPr>
          <a:xfrm>
            <a:off x="1554480" y="15544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Программное обеспечение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1554480" y="192024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Альт Сервер · PostgreSQL · Apache · Zabbix — всё свободное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2" name="Text 7"/>
          <p:cNvSpPr/>
          <p:nvPr/>
        </p:nvSpPr>
        <p:spPr>
          <a:xfrm>
            <a:off x="502920" y="2606040"/>
            <a:ext cx="40230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0 ₽</a:t>
            </a:r>
            <a:endParaRPr b="0" lang="ru-RU" sz="9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3" name="Text 8"/>
          <p:cNvSpPr/>
          <p:nvPr/>
        </p:nvSpPr>
        <p:spPr>
          <a:xfrm>
            <a:off x="502920" y="402336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39c12"/>
                </a:solidFill>
                <a:uFillTx/>
                <a:latin typeface="Calibri"/>
                <a:ea typeface="Calibri"/>
              </a:rPr>
              <a:t>Лицензионных отчислений нет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4" name="Shape 9"/>
          <p:cNvSpPr/>
          <p:nvPr/>
        </p:nvSpPr>
        <p:spPr>
          <a:xfrm>
            <a:off x="4709160" y="1280160"/>
            <a:ext cx="3931560" cy="329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5" name="Shape 10"/>
          <p:cNvSpPr/>
          <p:nvPr/>
        </p:nvSpPr>
        <p:spPr>
          <a:xfrm>
            <a:off x="4983480" y="155448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66" name="Image 1" descr="preencoded.png"/>
          <p:cNvPicPr/>
          <p:nvPr/>
        </p:nvPicPr>
        <p:blipFill>
          <a:blip r:embed="rId2"/>
          <a:stretch/>
        </p:blipFill>
        <p:spPr>
          <a:xfrm>
            <a:off x="5143680" y="17146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11"/>
          <p:cNvSpPr/>
          <p:nvPr/>
        </p:nvSpPr>
        <p:spPr>
          <a:xfrm>
            <a:off x="5760720" y="15544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Работы специалиста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5760720" y="192024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20 человеко-часов × 1500 ₽/час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4709160" y="2606040"/>
            <a:ext cx="39315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0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30000 ₽</a:t>
            </a:r>
            <a:endParaRPr b="0" lang="ru-RU" sz="7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Text 14"/>
          <p:cNvSpPr/>
          <p:nvPr/>
        </p:nvSpPr>
        <p:spPr>
          <a:xfrm>
            <a:off x="4709160" y="40233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Единоразовые затраты на внедрение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Выводы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3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Цели и задачи дипломного проекта выполнены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4" name="Shape 3"/>
          <p:cNvSpPr/>
          <p:nvPr/>
        </p:nvSpPr>
        <p:spPr>
          <a:xfrm>
            <a:off x="502920" y="1280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5" name="Shape 4"/>
          <p:cNvSpPr/>
          <p:nvPr/>
        </p:nvSpPr>
        <p:spPr>
          <a:xfrm>
            <a:off x="667440" y="1508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76" name="Image 0" descr="preencoded.png"/>
          <p:cNvPicPr/>
          <p:nvPr/>
        </p:nvPicPr>
        <p:blipFill>
          <a:blip r:embed="rId1"/>
          <a:stretch/>
        </p:blipFill>
        <p:spPr>
          <a:xfrm>
            <a:off x="793080" y="1634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Text 5"/>
          <p:cNvSpPr/>
          <p:nvPr/>
        </p:nvSpPr>
        <p:spPr>
          <a:xfrm>
            <a:off x="1325880" y="1371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Изучены теоретические основы организации и мониторинга ЛВС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8" name="Shape 6"/>
          <p:cNvSpPr/>
          <p:nvPr/>
        </p:nvSpPr>
        <p:spPr>
          <a:xfrm>
            <a:off x="4663440" y="1280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Shape 7"/>
          <p:cNvSpPr/>
          <p:nvPr/>
        </p:nvSpPr>
        <p:spPr>
          <a:xfrm>
            <a:off x="4827960" y="1508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80" name="Image 1" descr="preencoded.png"/>
          <p:cNvPicPr/>
          <p:nvPr/>
        </p:nvPicPr>
        <p:blipFill>
          <a:blip r:embed="rId2"/>
          <a:stretch/>
        </p:blipFill>
        <p:spPr>
          <a:xfrm>
            <a:off x="4953600" y="1634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8"/>
          <p:cNvSpPr/>
          <p:nvPr/>
        </p:nvSpPr>
        <p:spPr>
          <a:xfrm>
            <a:off x="5486400" y="1371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Проведён сравнительный анализ 11 систем по 10 критериям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Shape 9"/>
          <p:cNvSpPr/>
          <p:nvPr/>
        </p:nvSpPr>
        <p:spPr>
          <a:xfrm>
            <a:off x="502920" y="2423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Shape 10"/>
          <p:cNvSpPr/>
          <p:nvPr/>
        </p:nvSpPr>
        <p:spPr>
          <a:xfrm>
            <a:off x="667440" y="2651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84" name="Image 2" descr="preencoded.png"/>
          <p:cNvPicPr/>
          <p:nvPr/>
        </p:nvPicPr>
        <p:blipFill>
          <a:blip r:embed="rId3"/>
          <a:stretch/>
        </p:blipFill>
        <p:spPr>
          <a:xfrm>
            <a:off x="793080" y="2777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11"/>
          <p:cNvSpPr/>
          <p:nvPr/>
        </p:nvSpPr>
        <p:spPr>
          <a:xfrm>
            <a:off x="1325880" y="2514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Обоснованно выбрана система Zabbix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Shape 12"/>
          <p:cNvSpPr/>
          <p:nvPr/>
        </p:nvSpPr>
        <p:spPr>
          <a:xfrm>
            <a:off x="4663440" y="2423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7" name="Shape 13"/>
          <p:cNvSpPr/>
          <p:nvPr/>
        </p:nvSpPr>
        <p:spPr>
          <a:xfrm>
            <a:off x="4827960" y="2651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88" name="Image 3" descr="preencoded.png"/>
          <p:cNvPicPr/>
          <p:nvPr/>
        </p:nvPicPr>
        <p:blipFill>
          <a:blip r:embed="rId4"/>
          <a:stretch/>
        </p:blipFill>
        <p:spPr>
          <a:xfrm>
            <a:off x="4953600" y="2777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14"/>
          <p:cNvSpPr/>
          <p:nvPr/>
        </p:nvSpPr>
        <p:spPr>
          <a:xfrm>
            <a:off x="5486400" y="2514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Развёрнута и настроена на отечественной ОС Альт Сервер 10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Shape 15"/>
          <p:cNvSpPr/>
          <p:nvPr/>
        </p:nvSpPr>
        <p:spPr>
          <a:xfrm>
            <a:off x="502920" y="3566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1" name="Shape 16"/>
          <p:cNvSpPr/>
          <p:nvPr/>
        </p:nvSpPr>
        <p:spPr>
          <a:xfrm>
            <a:off x="667440" y="3794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92" name="Image 4" descr="preencoded.png"/>
          <p:cNvPicPr/>
          <p:nvPr/>
        </p:nvPicPr>
        <p:blipFill>
          <a:blip r:embed="rId5"/>
          <a:stretch/>
        </p:blipFill>
        <p:spPr>
          <a:xfrm>
            <a:off x="793080" y="3920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Text 17"/>
          <p:cNvSpPr/>
          <p:nvPr/>
        </p:nvSpPr>
        <p:spPr>
          <a:xfrm>
            <a:off x="1325880" y="3657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Подтверждена работоспособность на 5 сценариях тестирования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4" name="Shape 18"/>
          <p:cNvSpPr/>
          <p:nvPr/>
        </p:nvSpPr>
        <p:spPr>
          <a:xfrm>
            <a:off x="4663440" y="3566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5" name="Shape 19"/>
          <p:cNvSpPr/>
          <p:nvPr/>
        </p:nvSpPr>
        <p:spPr>
          <a:xfrm>
            <a:off x="4827960" y="3794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96" name="Image 5" descr="preencoded.png"/>
          <p:cNvPicPr/>
          <p:nvPr/>
        </p:nvPicPr>
        <p:blipFill>
          <a:blip r:embed="rId6"/>
          <a:stretch/>
        </p:blipFill>
        <p:spPr>
          <a:xfrm>
            <a:off x="4953600" y="3920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7" name="Text 20"/>
          <p:cNvSpPr/>
          <p:nvPr/>
        </p:nvSpPr>
        <p:spPr>
          <a:xfrm>
            <a:off x="5486400" y="3657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Выполнено экономическое обоснование внедрения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0"/>
          <p:cNvSpPr/>
          <p:nvPr/>
        </p:nvSpPr>
        <p:spPr>
          <a:xfrm>
            <a:off x="457200" y="365760"/>
            <a:ext cx="136800" cy="136800"/>
          </a:xfrm>
          <a:prstGeom prst="ellipse">
            <a:avLst/>
          </a:prstGeom>
          <a:solidFill>
            <a:srgbClr val="e94b35">
              <a:alpha val="8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99" name="Shape 1"/>
          <p:cNvSpPr/>
          <p:nvPr/>
        </p:nvSpPr>
        <p:spPr>
          <a:xfrm>
            <a:off x="822960" y="365760"/>
            <a:ext cx="136800" cy="136800"/>
          </a:xfrm>
          <a:prstGeom prst="ellipse">
            <a:avLst/>
          </a:prstGeom>
          <a:solidFill>
            <a:srgbClr val="e94b35">
              <a:alpha val="65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1188720" y="365760"/>
            <a:ext cx="136800" cy="136800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1" name="Shape 3"/>
          <p:cNvSpPr/>
          <p:nvPr/>
        </p:nvSpPr>
        <p:spPr>
          <a:xfrm>
            <a:off x="1554480" y="365760"/>
            <a:ext cx="136800" cy="136800"/>
          </a:xfrm>
          <a:prstGeom prst="ellipse">
            <a:avLst/>
          </a:prstGeom>
          <a:solidFill>
            <a:srgbClr val="e94b35">
              <a:alpha val="35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1920240" y="365760"/>
            <a:ext cx="136800" cy="136800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502920" y="18288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Спасибо за внимание!</a:t>
            </a: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4" name="Shape 6"/>
          <p:cNvSpPr/>
          <p:nvPr/>
        </p:nvSpPr>
        <p:spPr>
          <a:xfrm>
            <a:off x="4023360" y="2880360"/>
            <a:ext cx="1096920" cy="54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5" name="Shape 8"/>
          <p:cNvSpPr/>
          <p:nvPr/>
        </p:nvSpPr>
        <p:spPr>
          <a:xfrm>
            <a:off x="4206240" y="3661560"/>
            <a:ext cx="731160" cy="73116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306" name="Image 0" descr="preencoded.png"/>
          <p:cNvPicPr/>
          <p:nvPr/>
        </p:nvPicPr>
        <p:blipFill>
          <a:blip r:embed="rId1"/>
          <a:stretch/>
        </p:blipFill>
        <p:spPr>
          <a:xfrm>
            <a:off x="4382280" y="3844440"/>
            <a:ext cx="365400" cy="36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LibreOffice/24.8.7.2$Linux_X86_64 LibreOffice_project/480$Build-2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2026-05-15T06:17:00Z</dcterms:created>
  <dc:creator>Диплом 222СА</dc:creator>
  <dc:description/>
  <dc:language>ru-RU</dc:language>
  <cp:lastModifiedBy/>
  <dcterms:modified xsi:type="dcterms:W3CDTF">2026-05-26T10:09:42Z</dcterms:modified>
  <cp:revision>57</cp:revision>
  <dc:subject>PptxGenJS Presentation</dc:subject>
  <dc:title>Мониторинг ЛВС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